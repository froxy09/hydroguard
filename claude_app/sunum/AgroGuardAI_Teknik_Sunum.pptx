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2.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3.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Giriş" id="{814fed22-2a32-2432-2e4c-b64ffd3a456d}">
          <p14:sldIdLst>
            <p14:sldId id="256"/>
            <p14:sldId id="257"/>
            <p14:sldId id="258"/>
          </p14:sldIdLst>
        </p14:section>
        <p14:section name="Teknik Mimari" id="{3a261eef-992e-5657-3129-54c8bfe1ce8e}">
          <p14:sldIdLst>
            <p14:sldId id="259"/>
            <p14:sldId id="260"/>
            <p14:sldId id="261"/>
            <p14:sldId id="262"/>
          </p14:sldIdLst>
        </p14:section>
        <p14:section name="Sürdürülebilirlik" id="{6da2be9d-a9c9-a48d-ee28-98dd5e6a944f}">
          <p14:sldIdLst>
            <p14:sldId id="263"/>
            <p14:sldId id="264"/>
            <p14:sldId id="265"/>
            <p14:sldId id="266"/>
            <p14:sldId id="267"/>
          </p14:sldIdLst>
        </p14:section>
        <p14:section name="Ürün" id="{f2c30fed-f9fd-6c80-2986-2092870d2199}">
          <p14:sldIdLst>
            <p14:sldId id="268"/>
            <p14:sldId id="269"/>
            <p14:sldId id="270"/>
          </p14:sldIdLst>
        </p14:section>
        <p14:section name="Doğrulama ve Yol Haritası" id="{1ea82c88-e94d-7486-8784-6a3ca8c871b9}">
          <p14:sldIdLst>
            <p14:sldId id="271"/>
            <p14:sldId id="272"/>
          </p14:sldIdLst>
        </p14:section>
        <p14:section name="Kapanış" id="{87ffff26-67c4-d14c-2e85-782261607671}">
          <p14:sldIdLst>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6211D"/>
                </a:solidFill>
                <a:latin typeface="+mn-lt"/>
              </a:defRPr>
            </a:pPr>
            <a:r>
              <a:rPr sz="1400" b="0" i="0" u="none" strike="noStrike">
                <a:solidFill>
                  <a:srgbClr val="16211D"/>
                </a:solidFill>
                <a:latin typeface="+mn-lt"/>
              </a:rPr>
              <a:t>Örnek gün: Tmin 1,5°C · Tmax 28,5°C</a:t>
            </a:r>
          </a:p>
        </c:rich>
      </c:tx>
      <c:layout/>
      <c:overlay val="0"/>
    </c:title>
    <c:autoTitleDeleted val="0"/>
    <c:plotArea>
      <c:layout/>
      <c:lineChart>
        <c:varyColors val="0"/>
        <c:ser>
          <c:idx val="0"/>
          <c:order val="0"/>
          <c:tx>
            <c:strRef>
              <c:f>Sheet1!$B$1</c:f>
              <c:strCache>
                <c:ptCount val="1"/>
                <c:pt idx="0">
                  <c:v>Saatlik sıcaklık (°C)</c:v>
                </c:pt>
              </c:strCache>
            </c:strRef>
          </c:tx>
          <c:spPr>
            <a:solidFill>
              <a:srgbClr val="0A7A5C"/>
            </a:solidFill>
            <a:ln w="25400" cap="flat">
              <a:solidFill>
                <a:srgbClr val="0A7A5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A7A5C"/>
              </a:solidFill>
              <a:ln w="9525" cap="flat">
                <a:solidFill>
                  <a:srgbClr val="0A7A5C"/>
                </a:solidFill>
                <a:prstDash val="solid"/>
                <a:round/>
              </a:ln>
              <a:effectLst/>
            </c:spPr>
          </c:marker>
          <c:cat>
            <c:multiLvlStrRef>
              <c:f>Sheet1!$A$2:$A$25</c:f>
              <c:multiLvlStrCache>
                <c:ptCount val="24"/>
                <c:lvl>
                  <c:pt idx="0">
                    <c:v>00</c:v>
                  </c:pt>
                  <c:pt idx="1">
                    <c:v>01</c:v>
                  </c:pt>
                  <c:pt idx="2">
                    <c:v>02</c:v>
                  </c:pt>
                  <c:pt idx="3">
                    <c:v>03</c:v>
                  </c:pt>
                  <c:pt idx="4">
                    <c:v>04</c:v>
                  </c:pt>
                  <c:pt idx="5">
                    <c:v>05</c:v>
                  </c:pt>
                  <c:pt idx="6">
                    <c:v>06</c:v>
                  </c:pt>
                  <c:pt idx="7">
                    <c:v>07</c:v>
                  </c:pt>
                  <c:pt idx="8">
                    <c:v>08</c:v>
                  </c:pt>
                  <c:pt idx="9">
                    <c:v>09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lvl>
              </c:multiLvlStrCache>
            </c:multiLvlStrRef>
          </c:cat>
          <c:val>
            <c:numRef>
              <c:f>Sheet1!$B$2:$B$25</c:f>
              <c:numCache>
                <c:formatCode>General</c:formatCode>
                <c:ptCount val="24"/>
                <c:pt idx="0">
                  <c:v>1.5</c:v>
                </c:pt>
                <c:pt idx="1">
                  <c:v>1.5</c:v>
                </c:pt>
                <c:pt idx="2">
                  <c:v>1.5</c:v>
                </c:pt>
                <c:pt idx="3">
                  <c:v>1.5</c:v>
                </c:pt>
                <c:pt idx="4">
                  <c:v>1.5</c:v>
                </c:pt>
                <c:pt idx="5">
                  <c:v>4.2</c:v>
                </c:pt>
                <c:pt idx="6">
                  <c:v>6.9</c:v>
                </c:pt>
                <c:pt idx="7">
                  <c:v>9.6</c:v>
                </c:pt>
                <c:pt idx="8">
                  <c:v>12.3</c:v>
                </c:pt>
                <c:pt idx="9">
                  <c:v>15</c:v>
                </c:pt>
                <c:pt idx="10">
                  <c:v>17.7</c:v>
                </c:pt>
                <c:pt idx="11">
                  <c:v>20.4</c:v>
                </c:pt>
                <c:pt idx="12">
                  <c:v>23.1</c:v>
                </c:pt>
                <c:pt idx="13">
                  <c:v>25.8</c:v>
                </c:pt>
                <c:pt idx="14">
                  <c:v>28.5</c:v>
                </c:pt>
                <c:pt idx="15">
                  <c:v>25.8</c:v>
                </c:pt>
                <c:pt idx="16">
                  <c:v>23.1</c:v>
                </c:pt>
                <c:pt idx="17">
                  <c:v>20.4</c:v>
                </c:pt>
                <c:pt idx="18">
                  <c:v>17.7</c:v>
                </c:pt>
                <c:pt idx="19">
                  <c:v>15</c:v>
                </c:pt>
                <c:pt idx="20">
                  <c:v>12.3</c:v>
                </c:pt>
                <c:pt idx="21">
                  <c:v>9.6</c:v>
                </c:pt>
                <c:pt idx="22">
                  <c:v>6.9</c:v>
                </c:pt>
                <c:pt idx="23">
                  <c:v>4.2</c:v>
                </c:pt>
              </c:numCache>
            </c:numRef>
          </c:val>
          <c:smooth val="0"/>
        </c:ser>
        <c:ser>
          <c:idx val="1"/>
          <c:order val="1"/>
          <c:tx>
            <c:strRef>
              <c:f>Sheet1!$C$1</c:f>
              <c:strCache>
                <c:ptCount val="1"/>
                <c:pt idx="0">
                  <c:v>Don eşiği 2°C</c:v>
                </c:pt>
              </c:strCache>
            </c:strRef>
          </c:tx>
          <c:spPr>
            <a:solidFill>
              <a:srgbClr val="D9483B"/>
            </a:solidFill>
            <a:ln w="25400" cap="flat">
              <a:solidFill>
                <a:srgbClr val="D9483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D9483B"/>
              </a:solidFill>
              <a:ln w="9525" cap="flat">
                <a:solidFill>
                  <a:srgbClr val="D9483B"/>
                </a:solidFill>
                <a:prstDash val="solid"/>
                <a:round/>
              </a:ln>
              <a:effectLst/>
            </c:spPr>
          </c:marker>
          <c:cat>
            <c:multiLvlStrRef>
              <c:f>Sheet1!$A$2:$A$25</c:f>
              <c:multiLvlStrCache>
                <c:ptCount val="24"/>
                <c:lvl>
                  <c:pt idx="0">
                    <c:v>00</c:v>
                  </c:pt>
                  <c:pt idx="1">
                    <c:v>01</c:v>
                  </c:pt>
                  <c:pt idx="2">
                    <c:v>02</c:v>
                  </c:pt>
                  <c:pt idx="3">
                    <c:v>03</c:v>
                  </c:pt>
                  <c:pt idx="4">
                    <c:v>04</c:v>
                  </c:pt>
                  <c:pt idx="5">
                    <c:v>05</c:v>
                  </c:pt>
                  <c:pt idx="6">
                    <c:v>06</c:v>
                  </c:pt>
                  <c:pt idx="7">
                    <c:v>07</c:v>
                  </c:pt>
                  <c:pt idx="8">
                    <c:v>08</c:v>
                  </c:pt>
                  <c:pt idx="9">
                    <c:v>09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lvl>
              </c:multiLvlStrCache>
            </c:multiLvlStrRef>
          </c:cat>
          <c:val>
            <c:numRef>
              <c:f>Sheet1!$C$2:$C$25</c:f>
              <c:numCache>
                <c:formatCode>General</c:formatCode>
                <c:ptCount val="24"/>
                <c:pt idx="0">
                  <c:v>2</c:v>
                </c:pt>
                <c:pt idx="1">
                  <c:v>2</c:v>
                </c:pt>
                <c:pt idx="2">
                  <c:v>2</c:v>
                </c:pt>
                <c:pt idx="3">
                  <c:v>2</c:v>
                </c:pt>
                <c:pt idx="4">
                  <c:v>2</c:v>
                </c:pt>
                <c:pt idx="5">
                  <c:v>2</c:v>
                </c:pt>
                <c:pt idx="6">
                  <c:v>2</c:v>
                </c:pt>
                <c:pt idx="7">
                  <c:v>2</c:v>
                </c:pt>
                <c:pt idx="8">
                  <c:v>2</c:v>
                </c:pt>
                <c:pt idx="9">
                  <c:v>2</c:v>
                </c:pt>
                <c:pt idx="10">
                  <c:v>2</c:v>
                </c:pt>
                <c:pt idx="11">
                  <c:v>2</c:v>
                </c:pt>
                <c:pt idx="12">
                  <c:v>2</c:v>
                </c:pt>
                <c:pt idx="13">
                  <c:v>2</c:v>
                </c:pt>
                <c:pt idx="14">
                  <c:v>2</c:v>
                </c:pt>
                <c:pt idx="15">
                  <c:v>2</c:v>
                </c:pt>
                <c:pt idx="16">
                  <c:v>2</c:v>
                </c:pt>
                <c:pt idx="17">
                  <c:v>2</c:v>
                </c:pt>
                <c:pt idx="18">
                  <c:v>2</c:v>
                </c:pt>
                <c:pt idx="19">
                  <c:v>2</c:v>
                </c:pt>
                <c:pt idx="20">
                  <c:v>2</c:v>
                </c:pt>
                <c:pt idx="21">
                  <c:v>2</c:v>
                </c:pt>
                <c:pt idx="22">
                  <c:v>2</c:v>
                </c:pt>
                <c:pt idx="23">
                  <c:v>2</c:v>
                </c:pt>
              </c:numCache>
            </c:numRef>
          </c:val>
          <c:smooth val="0"/>
        </c:ser>
        <c:ser>
          <c:idx val="2"/>
          <c:order val="2"/>
          <c:tx>
            <c:strRef>
              <c:f>Sheet1!$D$1</c:f>
              <c:strCache>
                <c:ptCount val="1"/>
                <c:pt idx="0">
                  <c:v>ET eşiği 25°C</c:v>
                </c:pt>
              </c:strCache>
            </c:strRef>
          </c:tx>
          <c:spPr>
            <a:solidFill>
              <a:srgbClr val="E89B1C"/>
            </a:solidFill>
            <a:ln w="25400" cap="flat">
              <a:solidFill>
                <a:srgbClr val="E89B1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E89B1C"/>
              </a:solidFill>
              <a:ln w="9525" cap="flat">
                <a:solidFill>
                  <a:srgbClr val="E89B1C"/>
                </a:solidFill>
                <a:prstDash val="solid"/>
                <a:round/>
              </a:ln>
              <a:effectLst/>
            </c:spPr>
          </c:marker>
          <c:cat>
            <c:multiLvlStrRef>
              <c:f>Sheet1!$A$2:$A$25</c:f>
              <c:multiLvlStrCache>
                <c:ptCount val="24"/>
                <c:lvl>
                  <c:pt idx="0">
                    <c:v>00</c:v>
                  </c:pt>
                  <c:pt idx="1">
                    <c:v>01</c:v>
                  </c:pt>
                  <c:pt idx="2">
                    <c:v>02</c:v>
                  </c:pt>
                  <c:pt idx="3">
                    <c:v>03</c:v>
                  </c:pt>
                  <c:pt idx="4">
                    <c:v>04</c:v>
                  </c:pt>
                  <c:pt idx="5">
                    <c:v>05</c:v>
                  </c:pt>
                  <c:pt idx="6">
                    <c:v>06</c:v>
                  </c:pt>
                  <c:pt idx="7">
                    <c:v>07</c:v>
                  </c:pt>
                  <c:pt idx="8">
                    <c:v>08</c:v>
                  </c:pt>
                  <c:pt idx="9">
                    <c:v>09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lvl>
              </c:multiLvlStrCache>
            </c:multiLvlStrRef>
          </c:cat>
          <c:val>
            <c:numRef>
              <c:f>Sheet1!$D$2:$D$25</c:f>
              <c:numCache>
                <c:formatCode>General</c:formatCode>
                <c:ptCount val="24"/>
                <c:pt idx="0">
                  <c:v>25</c:v>
                </c:pt>
                <c:pt idx="1">
                  <c:v>25</c:v>
                </c:pt>
                <c:pt idx="2">
                  <c:v>25</c:v>
                </c:pt>
                <c:pt idx="3">
                  <c:v>25</c:v>
                </c:pt>
                <c:pt idx="4">
                  <c:v>25</c:v>
                </c:pt>
                <c:pt idx="5">
                  <c:v>25</c:v>
                </c:pt>
                <c:pt idx="6">
                  <c:v>25</c:v>
                </c:pt>
                <c:pt idx="7">
                  <c:v>25</c:v>
                </c:pt>
                <c:pt idx="8">
                  <c:v>25</c:v>
                </c:pt>
                <c:pt idx="9">
                  <c:v>25</c:v>
                </c:pt>
                <c:pt idx="10">
                  <c:v>25</c:v>
                </c:pt>
                <c:pt idx="11">
                  <c:v>25</c:v>
                </c:pt>
                <c:pt idx="12">
                  <c:v>25</c:v>
                </c:pt>
                <c:pt idx="13">
                  <c:v>25</c:v>
                </c:pt>
                <c:pt idx="14">
                  <c:v>25</c:v>
                </c:pt>
                <c:pt idx="15">
                  <c:v>25</c:v>
                </c:pt>
                <c:pt idx="16">
                  <c:v>25</c:v>
                </c:pt>
                <c:pt idx="17">
                  <c:v>25</c:v>
                </c:pt>
                <c:pt idx="18">
                  <c:v>25</c:v>
                </c:pt>
                <c:pt idx="19">
                  <c:v>25</c:v>
                </c:pt>
                <c:pt idx="20">
                  <c:v>25</c:v>
                </c:pt>
                <c:pt idx="21">
                  <c:v>25</c:v>
                </c:pt>
                <c:pt idx="22">
                  <c:v>25</c:v>
                </c:pt>
                <c:pt idx="23">
                  <c:v>25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5B6B65"/>
                    </a:solidFill>
                    <a:latin typeface="Arial"/>
                  </a:defRPr>
                </a:pPr>
                <a:r>
                  <a:rPr sz="1100" b="0" i="0" u="none" strike="noStrike">
                    <a:solidFill>
                      <a:srgbClr val="5B6B65"/>
                    </a:solidFill>
                    <a:latin typeface="Arial"/>
                  </a:rPr>
                  <a:t>Saat</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B65"/>
                </a:solidFill>
                <a:latin typeface="+mn-lt"/>
              </a:defRPr>
            </a:pPr>
            <a:endParaRPr lang="en-US"/>
          </a:p>
        </c:txPr>
        <c:crossAx val="2094734552"/>
        <c:crosses val="autoZero"/>
        <c:auto val="1"/>
        <c:lblAlgn val="ctr"/>
        <c:noMultiLvlLbl val="1"/>
        <c:tickLblSkip val="2"/>
      </c:catAx>
      <c:valAx>
        <c:axId val="2094734552"/>
        <c:scaling>
          <c:orientation val="minMax"/>
          <c:max val="30"/>
          <c:min val="0"/>
        </c:scaling>
        <c:delete val="0"/>
        <c:axPos val="l"/>
        <c:majorGridlines>
          <c:spPr>
            <a:ln w="9525" cap="flat">
              <a:solidFill>
                <a:srgbClr val="DCE5E1"/>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B65"/>
                </a:solidFill>
                <a:latin typeface="+mn-lt"/>
              </a:defRPr>
            </a:pPr>
            <a:endParaRPr lang="en-US"/>
          </a:p>
        </c:txPr>
        <c:crossAx val="2094734554"/>
        <c:crosses val="autoZero"/>
        <c:crossBetween val="between"/>
        <c:majorUnit val="5"/>
      </c:valAx>
      <c:spPr>
        <a:noFill/>
        <a:ln>
          <a:noFill/>
        </a:ln>
        <a:effectLst/>
      </c:spPr>
    </c:plotArea>
    <c:legend>
      <c:legendPos val="b"/>
      <c:overlay val="0"/>
      <c:txPr>
        <a:bodyPr/>
        <a:lstStyle/>
        <a:p>
          <a:pPr>
            <a:defRPr sz="1200">
              <a:solidFill>
                <a:srgbClr val="16211D"/>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6211D"/>
                </a:solidFill>
                <a:latin typeface="+mn-lt"/>
              </a:defRPr>
            </a:pPr>
            <a:r>
              <a:rPr sz="1400" b="0" i="0" u="none" strike="noStrike">
                <a:solidFill>
                  <a:srgbClr val="16211D"/>
                </a:solidFill>
                <a:latin typeface="+mn-lt"/>
              </a:rPr>
              <a:t>15 kW sondaj pompası, 2 saat çalışma (₺)</a:t>
            </a:r>
          </a:p>
        </c:rich>
      </c:tx>
      <c:layout/>
      <c:overlay val="0"/>
    </c:title>
    <c:autoTitleDeleted val="0"/>
    <c:plotArea>
      <c:layout/>
      <c:barChart>
        <c:barDir val="col"/>
        <c:grouping val="clustered"/>
        <c:varyColors val="0"/>
        <c:ser>
          <c:idx val="0"/>
          <c:order val="0"/>
          <c:tx>
            <c:strRef>
              <c:f>Sheet1!$B$1</c:f>
              <c:strCache>
                <c:ptCount val="1"/>
                <c:pt idx="0">
                  <c:v>2 saatlik sulama maliyeti</c:v>
                </c:pt>
              </c:strCache>
            </c:strRef>
          </c:tx>
          <c:spPr>
            <a:solidFill>
              <a:srgbClr val="20C997"/>
            </a:solidFill>
            <a:effectLst/>
          </c:spPr>
          <c:invertIfNegative val="0"/>
          <c:dLbls>
            <c:numFmt formatCode="#,##0&quot; ₺&quot;" sourceLinked="0"/>
            <c:txPr>
              <a:bodyPr/>
              <a:lstStyle/>
              <a:p>
                <a:pPr>
                  <a:defRPr b="1" i="0" strike="noStrike" sz="1400" u="none">
                    <a:solidFill>
                      <a:srgbClr val="16211D"/>
                    </a:solidFill>
                    <a:latin typeface="+mn-lt"/>
                  </a:defRPr>
                </a:pPr>
              </a:p>
            </c:txPr>
            <c:showLegendKey val="0"/>
            <c:showVal val="1"/>
            <c:showCatName val="0"/>
            <c:showSerName val="0"/>
            <c:showPercent val="0"/>
            <c:showBubbleSize val="0"/>
            <c:showLeaderLines val="0"/>
          </c:dLbls>
          <c:dPt>
            <c:idx val="0"/>
            <c:invertIfNegative val="0"/>
            <c:bubble3D val="0"/>
            <c:spPr>
              <a:solidFill>
                <a:srgbClr val="20C997"/>
              </a:solidFill>
              <a:effectLst/>
            </c:spPr>
          </c:dPt>
          <c:dPt>
            <c:idx val="1"/>
            <c:invertIfNegative val="0"/>
            <c:bubble3D val="0"/>
            <c:spPr>
              <a:solidFill>
                <a:srgbClr val="E89B1C"/>
              </a:solidFill>
              <a:effectLst/>
            </c:spPr>
          </c:dPt>
          <c:dPt>
            <c:idx val="2"/>
            <c:invertIfNegative val="0"/>
            <c:bubble3D val="0"/>
            <c:spPr>
              <a:solidFill>
                <a:srgbClr val="D9483B"/>
              </a:solidFill>
              <a:effectLst/>
            </c:spPr>
          </c:dPt>
          <c:cat>
            <c:multiLvlStrRef>
              <c:f>Sheet1!$A$2:$A$4</c:f>
              <c:multiLvlStrCache>
                <c:ptCount val="3"/>
                <c:lvl>
                  <c:pt idx="0">
                    <c:v>Gece</c:v>
                  </c:pt>
                  <c:pt idx="1">
                    <c:v>Gündüz</c:v>
                  </c:pt>
                  <c:pt idx="2">
                    <c:v>Puant</c:v>
                  </c:pt>
                </c:lvl>
              </c:multiLvlStrCache>
            </c:multiLvlStrRef>
          </c:cat>
          <c:val>
            <c:numRef>
              <c:f>Sheet1!$B$2:$B$4</c:f>
              <c:numCache>
                <c:formatCode>General</c:formatCode>
                <c:ptCount val="3"/>
                <c:pt idx="0">
                  <c:v>45</c:v>
                </c:pt>
                <c:pt idx="1">
                  <c:v>75</c:v>
                </c:pt>
                <c:pt idx="2">
                  <c:v>120</c:v>
                </c:pt>
              </c:numCache>
            </c:numRef>
          </c:val>
        </c:ser>
        <c:dLbls>
          <c:numFmt formatCode="#,##0&quot; ₺&quot;" sourceLinked="0"/>
          <c:txPr>
            <a:bodyPr/>
            <a:lstStyle/>
            <a:p>
              <a:pPr>
                <a:defRPr b="1" i="0" strike="noStrike" sz="1400" u="none">
                  <a:solidFill>
                    <a:srgbClr val="16211D"/>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6211D"/>
                </a:solidFill>
                <a:latin typeface="+mn-lt"/>
              </a:defRPr>
            </a:pPr>
            <a:endParaRPr lang="en-US"/>
          </a:p>
        </c:txPr>
        <c:crossAx val="2094734552"/>
        <c:crosses val="autoZero"/>
        <c:auto val="1"/>
        <c:lblAlgn val="ctr"/>
        <c:noMultiLvlLbl val="1"/>
      </c:catAx>
      <c:valAx>
        <c:axId val="2094734552"/>
        <c:scaling>
          <c:orientation val="minMax"/>
          <c:max val="14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Gider</c:v>
                </c:pt>
              </c:strCache>
            </c:strRef>
          </c:tx>
          <c:spPr>
            <a:solidFill>
              <a:schemeClr val="accent1"/>
            </a:solidFill>
            <a:ln w="9525" cap="flat">
              <a:solidFill>
                <a:srgbClr val="F9F9F9"/>
              </a:solidFill>
              <a:prstDash val="solid"/>
              <a:round/>
            </a:ln>
            <a:effectLst/>
          </c:spPr>
          <c:dPt>
            <c:idx val="0"/>
            <c:bubble3D val="0"/>
            <c:spPr>
              <a:solidFill>
                <a:srgbClr val="20C997"/>
              </a:solidFill>
              <a:effectLst/>
            </c:spPr>
          </c:dPt>
          <c:dPt>
            <c:idx val="1"/>
            <c:bubble3D val="0"/>
            <c:spPr>
              <a:solidFill>
                <a:srgbClr val="E89B1C"/>
              </a:solidFill>
              <a:effectLst/>
            </c:spPr>
          </c:dPt>
          <c:dPt>
            <c:idx val="2"/>
            <c:bubble3D val="0"/>
            <c:spPr>
              <a:solidFill>
                <a:srgbClr val="8A6A4A"/>
              </a:solidFill>
              <a:effectLst/>
            </c:spPr>
          </c:dPt>
          <c:dPt>
            <c:idx val="3"/>
            <c:bubble3D val="0"/>
            <c:spPr>
              <a:solidFill>
                <a:srgbClr val="9AA8A2"/>
              </a:solidFill>
              <a:effectLst/>
            </c:spPr>
          </c:dPt>
          <c:dPt>
            <c:idx val="4"/>
            <c:bubble3D val="0"/>
            <c:spPr>
              <a:solidFill>
                <a:srgbClr val="D9483B"/>
              </a:solidFill>
              <a:effectLst/>
            </c:spPr>
          </c:dPt>
          <c:dPt>
            <c:idx val="5"/>
            <c:bubble3D val="0"/>
            <c:spPr>
              <a:solidFill>
                <a:srgbClr val="2F80C8"/>
              </a:solidFill>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2"/>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3"/>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4"/>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5"/>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Sheet1!$A$2:$A$7</c:f>
              <c:strCache>
                <c:ptCount val="6"/>
                <c:pt idx="0">
                  <c:v>Tohum/Fide</c:v>
                </c:pt>
                <c:pt idx="1">
                  <c:v>Mazot/Yakıt</c:v>
                </c:pt>
                <c:pt idx="2">
                  <c:v>Gübre</c:v>
                </c:pt>
                <c:pt idx="3">
                  <c:v>Diğer</c:v>
                </c:pt>
                <c:pt idx="4">
                  <c:v>Zirai İlaç</c:v>
                </c:pt>
                <c:pt idx="5">
                  <c:v>Elektrik/Sondaj</c:v>
                </c:pt>
              </c:strCache>
            </c:strRef>
          </c:cat>
          <c:val>
            <c:numRef>
              <c:f>Sheet1!$B$2:$B$7</c:f>
              <c:numCache>
                <c:ptCount val="6"/>
                <c:pt idx="0">
                  <c:v>10000</c:v>
                </c:pt>
                <c:pt idx="1">
                  <c:v>4000</c:v>
                </c:pt>
                <c:pt idx="2">
                  <c:v>2500</c:v>
                </c:pt>
                <c:pt idx="3">
                  <c:v>1500</c:v>
                </c:pt>
                <c:pt idx="4">
                  <c:v>1200</c:v>
                </c:pt>
                <c:pt idx="5">
                  <c:v>120</c:v>
                </c:pt>
              </c:numCache>
            </c:numRef>
          </c:val>
        </c:ser>
        <c:firstSliceAng val="0"/>
        <c:holeSize val="58"/>
      </c:doughnutChart>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AgroGuard AI; hava tahmini, elektrik tarifesi ve tarla kayıtlarını birleştirerek sulama, don koruması, gübreleme zamanı ve çiftlik finansı için otomatik karar üreten bir sistem. Aynı Flask sunucusuna bağlı iki istemcisi var: masaüstü için web paneli ve tarlada kullanmak için Android uygulaması. Sunum boyunca her teknik kararı dört kaynak üzerinden anlatacağız: su, enerji, toprak ve çiftçinin kendisi.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Küresel tatlı su çekiminin yaklaşık yüzde yetmişi tarımda kullanılıyor (FAO AQUASTAT). Sorun sadece miktar değil, zamanlama. Öğle sıcağında sulama buharlaşmaya, puant saatte pompa yüksek faturaya, yağmurdan hemen önce gübre yıkanmaya ve yeraltı suyunda nitrat kirliliğine yol açıyor. İlaçlama riske göre değil takvime göre yapılıyor, gece donu fark edilmiyor ve masraflar dağınık tutulduğu için çiftçi dönüm başı maliyetini bilmiyor. AgroGuard bu altı kararı veriye bağlıyor.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Sistemin girdisi üç kaynak: Open-Meteo’dan 14 gün geçmiş ve 16 gün tahmin içeren hava verisi, üç zamanlı elektrik tarifesi ve çiftçinin girdiği ajanda ve muhasebe kayıtları. Bunların hepsi sunucudaki tek bir fonksiyonda, evaluate_system_logic içinde birleşiyor. Çıktı; pompanın açık mı kapalı mı olacağı ve nedeni, gübreleme kilidi, mantar riski ve dönüm başı finansal göstergeler. Web paneli ve Android uygulaması bu sonucu aynı REST uç noktasından okuyor.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Mimari üç katmanlı. Solda veri kaynakları: Open-Meteo’nun geocoding ve forecast servisleri; internet yoksa tarih ve şehirle tohumlanmış deterministik bir simülasyon devreye giriyor, böylece demo her seferinde aynı sonucu veriyor. Ortada Flask sunucusu: şehir bazlı önbellek, karar motoru, bellekteki sistem durumu ve kalıcı kayıtlar için db.json. Sağda iki istemci: Jinja2 ile render edilen web paneli ve REST API’yi kullanan React Native uygulaması. Tüm iş kuralları sunucuda olduğu için istemciler arasında tutarsızlık oluşmuyor.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Open-Meteo günlük minimum ve maksimum sıcaklık veriyor; karar motoru ise saat bazında çalışıyor. Bu yüzden sıcaklığı saat 04’te minimumdan 14’te maksimuma doğrusal çıkarıp sonra tekrar indiriyoruz. Grafikteki örnek günde gece 2 derecenin altında don riski, öğleden sonra ise 25 derecenin üstünde buharlaşma riski oluşuyor. Günlük yağış 0,5 mm’yi geçerse yağışlı sayılıyor. Toprak nemi sensör olmadığında sıcaklık ve yağıştan türetilen kaba bir vekil; bunu yol haritasında gerçek sensörle değiştireceğiz. Şehir başına tek API çağrısı yapılıp 30 günlük dizi önbelleğe alınıyor.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Karar motoru sabit bir öncelik sırası izliyor. Önce don: sıcaklık 2 derecenin altındaysa pompa her koşulda açılıyor. Don yoksa sulama ihtiyacına bakıyoruz: toprak nemi yüzde 40’ın altında ve yağış yoksa sulama gerekiyor. Gerekiyorsa üç filtre var: öğle saatlerinde 25 derecenin üstünde buharlaşma riski varsa geceye erteliyoruz; puant tarifedeysek erteliyoruz; gece tarifesindeysek optimum sulama yapıyoruz; gündüz tarifesinde nem kritikse mecburi sulama yapılıyor. Her çıktı action_type kodu ve tek cümlelik bir gerekçeyle geliyor; arayüzdeki renk ve açıklama buradan üretiliyor. Manuel mod tüm bu kararların üstünde. Fertigasyon kilidi ve mantar riski ise pompadan bağımsız, paralel hesaplanıyor.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Aynı tarlanın bir nisan gününü düşünelim: gece 1,5, öğleden sonra 28,5 derece, toprak nemi yüzde 35, yarın yağmur bekleniyor. Saat 3’te sıcaklık don eşiğinin altında, pompa don koruması için açılıyor. Saat 13’te toprak kuru ama buharlaşma riski yüksek, sulama geceye erteleniyor. Saat 18’de puant tarifesi var, yine erteleniyor. Saat 23’te gece tarifesine girince optimum sulama yapılıyor. Gün boyunca da yarınki yağış nedeniyle gübreleme kilitli. Gece yapılan iki saatlik sulama 45 lira, puantta yapılsaydı 120 lira olacaktı. Saat değerleri bir önceki slayttaki sıcaklık modelinden hesaplandı.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Sürdürülebilirliği soyut bir hedef olarak değil, her kaynak için koddaki somut bir kural olarak ele aldık. Su için eşik tabanlı sulama ve buharlaşma ertelemesi; enerji için tarife kaydırma; toprak ve yeraltı suyu için yağış öncesi gübre kilidi; bitki koruma için riske dayalı ilaçlama; ürün için don koruması; çiftçi için ise maliyetleri görünür kılan muhasebe modülü. Sonraki slaytlarda bunları tek tek açıyoruz.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 tarafında üç kural var. Birincisi eşik: toprak nemi yüzde 40’ın altına inmeden pompa çalışmıyor. İkincisi buharlaşma: öğle saatlerinde 25 derecenin üstündeyse sulama geceye kayıyor. Üçüncüsü yağış: yağmur yağıyorsa sulama yapılmıyor. Don korumasında ise suyu bilinçli olarak kullanıyoruz: su donarken kilogram başına 334 kilojoule gizli ısı açığa çıkarıyor ve bu ısı tomurcuğu sıfır derece civarında tutuyor. Sağdaki ekran, mobil uygulamadaki Su ve Don Kontrolü sekmesi.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Enerji tarafında model, üç zamanlı tarifenin saat dilimlerini kullanıyor. 15 kilovatlık bir sondaj pompasının iki saatlik çalışması gece 45, gündüz 75, puantta 120 lira tutuyor. Sulamayı puanttan geceye kaydırmak maliyeti yüzde 62,5, gündüzden geceye kaydırmak yüzde 40 azaltıyor. Bu sadece çiftçinin faturası için değil: puant saatleri şebekenin en yüklü olduğu saatler, yükü kaydırmak şebeke için de fayda sağlıyor. Ayrıca her pompa çalışması otomatik olarak muhasebeye gider olarak yazılıyor, böylece enerji maliyeti dönüm başı hesaba giriyor. Birim fiyatlar modeldeki örnek değerler.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Toprak ve yeraltı suyu için iki kural ve bir öneri var. Fertigasyon kilidi: bugün ya da yarın yağış bekleniyorsa gübre uygulaması kilitleniyor, çünkü yağmurdan hemen önce verilen azot yıkanıp nitrat olarak yeraltı suyuna geçebiliyor. Hastalık tahmini: sonraki üç günde yüksek nem ve 15–25 derece birlikte görülürse mildiyö riski bildiriliyor; ilaçlama takvime göre değil riske göre yapılıyor. Ekim nöbeti önerisi ise baklagillerin azot bağlama özelliğinden yararlanarak sentetik gübre ihtiyacını azaltmayı hedefliyor; bu öneri şu an kural tabanlı.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Sürdürülebilirliğin bir ayağı da çiftçinin kendisi: ekonomik olarak ayakta kalamayan işletme doğru uygulamaları da sürdüremez. Muhasebe modülü her tarlanın gelir ve giderini tutuyor, gider dağılımını gösteriyor ve dönüm başı maliyet ile kârı hesaplıyor. Demo verisinde 50 dönümlük tarlada dönüm başı maliyet 386 lira, kâr 54 lira, ROI yüzde 13,9. Sağda kullanıcı deneyimi ilkeleri var: her kararın gerekçesi açıkça yazılıyor, çiftçi pompayı tek dokunuşla manuel kontrol edebiliyor, işlemler tarla bazında kayıtlı ve bu veriler kredi başvurusu için banka raporunun temelini oluşturuyor.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 paneli Flask ve Jinja2 ile sunucu tarafında render ediliyor; arayüz Bootstrap 5 karanlık tema, gider grafiği Chart.js. Üst çubuktan tarla, şehir ve simülasyon zamanı değiştirilebiliyor; bu sayede jüri önünde farklı saatleri ve hava koşullarını canlı gösterebiliyoruz. Altı sayfa var: gösterge paneli, su ve don koruması, enerji optimizasyonu, zirai ajanda, ön muhasebe ve tarla önerileri.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Android uygulaması Expo SDK 58 ve React Native 0.88 ile yazıldı; yeni mimari ve Hermes motoru açık. Beş sekme var: ana ekran, su ve don, ajanda, finans ve öneriler. Global durum Zustand’da; veriler 15 saniyede bir yenileniyor, uygulama arka plana alınınca yenileme duruyor ve pil harcamıyor. Sunucu adresi uygulama içinden değiştirilebiliyor ve cihazda saklanıyor. Ekranlarda gördüğünüz ajanda takvimi her gün için hava ikonu ve toprak nemini gösteriyor; finans ekranı dönüm başı analizi ve ROI’yi hesaplıyor. APK 43,6 MB ve Android 7.0 ve üstünde çalışıyor.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REST API sekiz uç noktadan oluşuyor. Tek okuma uç noktası live-data: hava, tarife, pompa kararı, tahminler, takvimin ay görünümü ve muhasebe özetini tek çağrıda yaklaşık 6,8 KB JSON olarak döndürüyor; yerel ağda önbellek doluyken yaklaşık 25 milisaniyede yanıt veriyor. Diğer yedi uç nokta komut: simülasyon durumunu, pompa modunu değiştirmek, ajandaya ve muhasebeye kayıt eklemek ve silmek, pompa elektrik tüketimini gider olarak işlemek. Mobil uygulama her komuttan sonra live-data’yı yeniden çekiyor, böylece ekran her zaman sunucuyla aynı.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Doğrulamayı uçtan uca akışlar üzerinden yaptık. Mobil arayüzü gerçek Flask backend’inin bir kopyasına bağlayıp beş ekranın verisini, pompanın manuel açılmasını, ajandaya olay eklemeyi ve muhasebeye gider eklemeyi test ettik; örneğin 2.500 liralık gübre gideri toplam gideri 16.820’den 19.320’ye çıkardı ve grafik güncellendi. APK’nın paket adı, izinleri, imzası ve işlemci mimarileri doğrulandı. Henüz yapmadıklarımızı da açıkça söylüyoruz: gerçek cihazda saha testi, otomatik birim testleri ve yük testi bir sonraki adım.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Sistemin sınırlamalarını biliyoruz ve yol haritası doğrudan bunlardan çıkıyor. En önemlisi toprak nemi: şu an hava verisinden türetilen kaba bir vekil; gerçek kapasitif sensör ve LoRa ile tarladan ölçüm almak ilk adım. Buharlaşma kararını sabit eşik yerine FAO-56 Penman–Monteith referans evapotranspirasyonuyla bir su bütçesine çevireceğiz; Open-Meteo bu değeri zaten sağlıyor. Güvenlik açısından manuel kapatma şu an don korumasını da geçersiz kılabiliyor; buraya onay ve uyarı ekleyeceğiz. Ayrıca çok kullanıcılı veritabanı ve kimlik doğrulama, push bildirimleri ve gerçek PDF banka raporu planlıyoruz.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Özetle AgroGuard AI üç basit cümleyi yazılımla garanti etmeye çalışıyor: su doğru saatte verilir, pompa ucuz saatte çalışır ve yağmurdan önce gübre atılmaz. Bunu yaparken çiftçiye de maliyetini görünür kılan, kararlarını açıklayan ve kontrolü elinden almayan bir araç sunuyor. Teşekkür ederiz; sorularınızı bekliyoruz.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APAK">
    <p:bg>
      <p:bgPr>
        <a:solidFill>
          <a:srgbClr val="121A17"/>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7589520" cy="1188720"/>
          </a:xfrm>
          <a:prstGeom prst="rect">
            <a:avLst/>
          </a:prstGeom>
          <a:noFill/>
          <a:ln/>
        </p:spPr>
        <p:txBody>
          <a:bodyPr wrap="square" rtlCol="0"/>
          <a:lstStyle>
            <a:lvl1pPr algn="l" indent="0" marL="0">
              <a:buNone/>
              <a:defRPr lang="en-US" sz="6000" b="1" dirty="0">
                <a:solidFill>
                  <a:schemeClr val="bg1"/>
                </a:solidFill>
              </a:defRPr>
            </a:lvl1pPr>
          </a:lstStyle>
          <a:p>
            <a:pPr algn="l" indent="0" marL="0">
              <a:buNone/>
            </a:pPr>
            <a:endParaRPr lang="en-US" sz="6000" dirty="0"/>
          </a:p>
        </p:txBody>
      </p:sp>
      <p:sp>
        <p:nvSpPr>
          <p:cNvPr id="3" name="Text 0"/>
          <p:cNvSpPr/>
          <p:nvPr>
            <p:ph idx="101" type="body" hasCustomPrompt="1"/>
          </p:nvPr>
        </p:nvSpPr>
        <p:spPr>
          <a:xfrm>
            <a:off x="731520" y="3200400"/>
            <a:ext cx="7315200" cy="1188720"/>
          </a:xfrm>
          <a:prstGeom prst="rect">
            <a:avLst/>
          </a:prstGeom>
          <a:noFill/>
          <a:ln/>
        </p:spPr>
        <p:txBody>
          <a:bodyPr wrap="square" rtlCol="0"/>
          <a:lstStyle>
            <a:lvl1pPr algn="l" indent="0" marL="0">
              <a:buNone/>
              <a:defRPr lang="en-US" sz="2000" dirty="0">
                <a:solidFill>
                  <a:srgbClr val="A9C2B8"/>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APANIS">
    <p:bg>
      <p:bgPr>
        <a:solidFill>
          <a:srgbClr val="121A17"/>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371600"/>
            <a:ext cx="10698480" cy="173736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731520" y="3337560"/>
            <a:ext cx="10058400" cy="822960"/>
          </a:xfrm>
          <a:prstGeom prst="rect">
            <a:avLst/>
          </a:prstGeom>
          <a:noFill/>
          <a:ln/>
        </p:spPr>
        <p:txBody>
          <a:bodyPr wrap="square" rtlCol="0"/>
          <a:lstStyle>
            <a:lvl1pPr algn="l" indent="0" marL="0">
              <a:buNone/>
              <a:defRPr lang="en-US" sz="2200" dirty="0">
                <a:solidFill>
                  <a:srgbClr val="A9C2B8"/>
                </a:solidFill>
              </a:defRPr>
            </a:lvl1pPr>
          </a:lstStyle>
          <a:p>
            <a:pPr algn="l" indent="0" marL="0">
              <a:buNone/>
            </a:pPr>
            <a:endParaRPr lang="en-US" sz="22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ICERIK">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8229600" cy="274320"/>
          </a:xfrm>
          <a:prstGeom prst="rect">
            <a:avLst/>
          </a:prstGeom>
          <a:noFill/>
          <a:ln/>
        </p:spPr>
        <p:txBody>
          <a:bodyPr wrap="square" rtlCol="0"/>
          <a:lstStyle>
            <a:lvl1pPr indent="0" marL="0">
              <a:buNone/>
              <a:defRPr lang="en-US" sz="1200" b="1" spc="150" kern="0" dirty="0">
                <a:solidFill>
                  <a:schemeClr val="accent2"/>
                </a:solidFill>
              </a:defRPr>
            </a:lvl1pPr>
          </a:lstStyle>
          <a:p>
            <a:pPr indent="0" marL="0">
              <a:buNone/>
            </a:pPr>
            <a:endParaRPr lang="en-US" sz="1200" dirty="0"/>
          </a:p>
        </p:txBody>
      </p:sp>
      <p:sp>
        <p:nvSpPr>
          <p:cNvPr id="3" name="Text 0"/>
          <p:cNvSpPr/>
          <p:nvPr>
            <p:ph idx="101" type="title" hasCustomPrompt="1"/>
          </p:nvPr>
        </p:nvSpPr>
        <p:spPr>
          <a:xfrm>
            <a:off x="548640" y="621792"/>
            <a:ext cx="11091672" cy="73152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4" name="Text 0"/>
          <p:cNvSpPr/>
          <p:nvPr/>
        </p:nvSpPr>
        <p:spPr>
          <a:xfrm>
            <a:off x="548640" y="6400800"/>
            <a:ext cx="5486400" cy="274320"/>
          </a:xfrm>
          <a:prstGeom prst="rect">
            <a:avLst/>
          </a:prstGeom>
          <a:noFill/>
          <a:ln/>
        </p:spPr>
        <p:txBody>
          <a:bodyPr wrap="square" lIns="0" tIns="0" rIns="0" bIns="0" rtlCol="0" anchor="t"/>
          <a:lstStyle/>
          <a:p>
            <a:pPr indent="0" marL="0">
              <a:buNone/>
            </a:pPr>
            <a:r>
              <a:rPr lang="en-US" sz="1000" dirty="0">
                <a:solidFill>
                  <a:schemeClr val="tx2"/>
                </a:solidFill>
              </a:rPr>
              <a:t>AgroGuard AI · Teknik Sunum</a:t>
            </a:r>
            <a:endParaRPr lang="en-US" sz="1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B6B65"/>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B6B6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2.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4.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slideLayout" Target="../slideLayouts/slideLayout4.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4.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4.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4.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4.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4.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image" Target="../media/image-12-1.png"/><Relationship Id="rId3" Type="http://schemas.openxmlformats.org/officeDocument/2006/relationships/image" Target="../media/image-12-2.png"/><Relationship Id="rId4" Type="http://schemas.openxmlformats.org/officeDocument/2006/relationships/image" Target="../media/image-12-3.png"/><Relationship Id="rId5" Type="http://schemas.openxmlformats.org/officeDocument/2006/relationships/image" Target="../media/image-12-4.png"/><Relationship Id="rId6" Type="http://schemas.openxmlformats.org/officeDocument/2006/relationships/slideLayout" Target="../slideLayouts/slideLayout4.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slideLayout" Target="../slideLayouts/slideLayout4.xml"/><Relationship Id="rId9"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slideLayout" Target="../slideLayouts/slideLayout4.xml"/><Relationship Id="rId10"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slideLayout" Target="../slideLayouts/slideLayout4.xml"/><Relationship Id="rId9"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slideLayout" Target="../slideLayouts/slideLayout4.xml"/><Relationship Id="rId8"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slideLayout" Target="../slideLayouts/slideLayout3.xml"/><Relationship Id="rId6"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metin-1"/>
          <p:cNvSpPr txBox="1"/>
          <p:nvPr/>
        </p:nvSpPr>
        <p:spPr>
          <a:xfrm>
            <a:off x="731520" y="1325880"/>
            <a:ext cx="7589520" cy="320040"/>
          </a:xfrm>
          <a:prstGeom prst="rect">
            <a:avLst/>
          </a:prstGeom>
          <a:noFill/>
          <a:ln/>
        </p:spPr>
        <p:txBody>
          <a:bodyPr wrap="square" lIns="0" tIns="0" rIns="0" bIns="0" rtlCol="0" anchor="t"/>
          <a:lstStyle/>
          <a:p>
            <a:pPr indent="0" marL="0">
              <a:buNone/>
            </a:pPr>
            <a:r>
              <a:rPr lang="en-US" sz="1300" b="1" spc="200" kern="0" dirty="0">
                <a:solidFill>
                  <a:schemeClr val="accent1"/>
                </a:solidFill>
              </a:rPr>
              <a:t>TEKNİK SUNUM · WEB PANELİ + ANDROİD UYGULAMASI</a:t>
            </a:r>
            <a:endParaRPr lang="en-US" sz="1300" dirty="0"/>
          </a:p>
        </p:txBody>
      </p:sp>
      <p:sp>
        <p:nvSpPr>
          <p:cNvPr id="3" name="Text 0"/>
          <p:cNvSpPr/>
          <p:nvPr>
            <p:ph idx="100" type="title" hasCustomPrompt="1"/>
          </p:nvPr>
        </p:nvSpPr>
        <p:spPr>
          <a:xfrm>
            <a:off x="731520" y="1828800"/>
            <a:ext cx="7589520" cy="1188720"/>
          </a:xfrm>
          <a:prstGeom prst="rect">
            <a:avLst/>
          </a:prstGeom>
          <a:noFill/>
          <a:ln/>
        </p:spPr>
        <p:txBody>
          <a:bodyPr wrap="square" lIns="0" tIns="0" rIns="0" bIns="0" rtlCol="0" anchor="b"/>
          <a:lstStyle/>
          <a:p>
            <a:pPr algn="l" indent="0" marL="0">
              <a:buNone/>
            </a:pPr>
            <a:r>
              <a:rPr lang="en-US" sz="6000" b="1" dirty="0">
                <a:solidFill>
                  <a:schemeClr val="bg1"/>
                </a:solidFill>
              </a:rPr>
              <a:t>AgroGuard AI</a:t>
            </a:r>
            <a:endParaRPr lang="en-US" sz="6000" dirty="0"/>
          </a:p>
        </p:txBody>
      </p:sp>
      <p:sp>
        <p:nvSpPr>
          <p:cNvPr id="4" name="Text 0"/>
          <p:cNvSpPr/>
          <p:nvPr>
            <p:ph idx="101" type="body" hasCustomPrompt="1"/>
          </p:nvPr>
        </p:nvSpPr>
        <p:spPr>
          <a:xfrm>
            <a:off x="731520" y="3200400"/>
            <a:ext cx="7315200" cy="1188720"/>
          </a:xfrm>
          <a:prstGeom prst="rect">
            <a:avLst/>
          </a:prstGeom>
          <a:noFill/>
          <a:ln/>
        </p:spPr>
        <p:txBody>
          <a:bodyPr wrap="square" lIns="0" tIns="0" rIns="0" bIns="0" rtlCol="0" anchor="t"/>
          <a:lstStyle/>
          <a:p>
            <a:pPr algn="l" indent="0" marL="0">
              <a:buNone/>
            </a:pPr>
            <a:r>
              <a:rPr lang="en-US" sz="2000" dirty="0">
                <a:solidFill>
                  <a:srgbClr val="A9C2B8"/>
                </a:solidFill>
              </a:rPr>
              <a:t>Hava tahmini, elektrik tarifesi ve tarla kayıtlarından otonom sulama, don koruması ve çiftlik finansı kararları</a:t>
            </a:r>
            <a:endParaRPr lang="en-US" sz="2000" dirty="0"/>
          </a:p>
        </p:txBody>
      </p:sp>
      <p:sp>
        <p:nvSpPr>
          <p:cNvPr id="5" name="ikon-zemin-2"/>
          <p:cNvSpPr/>
          <p:nvPr/>
        </p:nvSpPr>
        <p:spPr>
          <a:xfrm>
            <a:off x="731520" y="4892040"/>
            <a:ext cx="566928" cy="566928"/>
          </a:xfrm>
          <a:prstGeom prst="ellipse">
            <a:avLst/>
          </a:prstGeom>
          <a:solidFill>
            <a:schemeClr val="accent4"/>
          </a:solidFill>
          <a:ln/>
        </p:spPr>
      </p:sp>
      <p:pic>
        <p:nvPicPr>
          <p:cNvPr id="6" name="ikon-3" descr="preencoded.png">    </p:cNvPr>
          <p:cNvPicPr>
            <a:picLocks noChangeAspect="1"/>
          </p:cNvPicPr>
          <p:nvPr/>
        </p:nvPicPr>
        <p:blipFill>
          <a:blip r:embed="rId1"/>
          <a:stretch>
            <a:fillRect/>
          </a:stretch>
        </p:blipFill>
        <p:spPr>
          <a:xfrm>
            <a:off x="856244" y="5016764"/>
            <a:ext cx="317480" cy="317480"/>
          </a:xfrm>
          <a:prstGeom prst="rect">
            <a:avLst/>
          </a:prstGeom>
        </p:spPr>
      </p:pic>
      <p:sp>
        <p:nvSpPr>
          <p:cNvPr id="7" name="metin-4"/>
          <p:cNvSpPr txBox="1"/>
          <p:nvPr/>
        </p:nvSpPr>
        <p:spPr>
          <a:xfrm>
            <a:off x="1417320" y="4892040"/>
            <a:ext cx="1005840" cy="566928"/>
          </a:xfrm>
          <a:prstGeom prst="rect">
            <a:avLst/>
          </a:prstGeom>
          <a:noFill/>
          <a:ln/>
        </p:spPr>
        <p:txBody>
          <a:bodyPr wrap="square" lIns="0" tIns="0" rIns="0" bIns="0" rtlCol="0" anchor="ctr"/>
          <a:lstStyle/>
          <a:p>
            <a:pPr indent="0" marL="0">
              <a:buNone/>
            </a:pPr>
            <a:r>
              <a:rPr lang="en-US" sz="1600" b="1" dirty="0">
                <a:solidFill>
                  <a:schemeClr val="bg1"/>
                </a:solidFill>
              </a:rPr>
              <a:t>Su</a:t>
            </a:r>
            <a:endParaRPr lang="en-US" sz="1600" dirty="0"/>
          </a:p>
        </p:txBody>
      </p:sp>
      <p:sp>
        <p:nvSpPr>
          <p:cNvPr id="8" name="ikon-zemin-5"/>
          <p:cNvSpPr/>
          <p:nvPr/>
        </p:nvSpPr>
        <p:spPr>
          <a:xfrm>
            <a:off x="2514600" y="4892040"/>
            <a:ext cx="566928" cy="566928"/>
          </a:xfrm>
          <a:prstGeom prst="ellipse">
            <a:avLst/>
          </a:prstGeom>
          <a:solidFill>
            <a:schemeClr val="accent3"/>
          </a:solidFill>
          <a:ln/>
        </p:spPr>
      </p:sp>
      <p:pic>
        <p:nvPicPr>
          <p:cNvPr id="9" name="ikon-6" descr="preencoded.png">    </p:cNvPr>
          <p:cNvPicPr>
            <a:picLocks noChangeAspect="1"/>
          </p:cNvPicPr>
          <p:nvPr/>
        </p:nvPicPr>
        <p:blipFill>
          <a:blip r:embed="rId2"/>
          <a:stretch>
            <a:fillRect/>
          </a:stretch>
        </p:blipFill>
        <p:spPr>
          <a:xfrm>
            <a:off x="2639324" y="5016764"/>
            <a:ext cx="317480" cy="317480"/>
          </a:xfrm>
          <a:prstGeom prst="rect">
            <a:avLst/>
          </a:prstGeom>
        </p:spPr>
      </p:pic>
      <p:sp>
        <p:nvSpPr>
          <p:cNvPr id="10" name="metin-7"/>
          <p:cNvSpPr txBox="1"/>
          <p:nvPr/>
        </p:nvSpPr>
        <p:spPr>
          <a:xfrm>
            <a:off x="3200400" y="4892040"/>
            <a:ext cx="1005840" cy="566928"/>
          </a:xfrm>
          <a:prstGeom prst="rect">
            <a:avLst/>
          </a:prstGeom>
          <a:noFill/>
          <a:ln/>
        </p:spPr>
        <p:txBody>
          <a:bodyPr wrap="square" lIns="0" tIns="0" rIns="0" bIns="0" rtlCol="0" anchor="ctr"/>
          <a:lstStyle/>
          <a:p>
            <a:pPr indent="0" marL="0">
              <a:buNone/>
            </a:pPr>
            <a:r>
              <a:rPr lang="en-US" sz="1600" b="1" dirty="0">
                <a:solidFill>
                  <a:schemeClr val="bg1"/>
                </a:solidFill>
              </a:rPr>
              <a:t>Enerji</a:t>
            </a:r>
            <a:endParaRPr lang="en-US" sz="1600" dirty="0"/>
          </a:p>
        </p:txBody>
      </p:sp>
      <p:sp>
        <p:nvSpPr>
          <p:cNvPr id="11" name="ikon-zemin-8"/>
          <p:cNvSpPr/>
          <p:nvPr/>
        </p:nvSpPr>
        <p:spPr>
          <a:xfrm>
            <a:off x="4297680" y="4892040"/>
            <a:ext cx="566928" cy="566928"/>
          </a:xfrm>
          <a:prstGeom prst="ellipse">
            <a:avLst/>
          </a:prstGeom>
          <a:solidFill>
            <a:schemeClr val="accent6"/>
          </a:solidFill>
          <a:ln/>
        </p:spPr>
      </p:sp>
      <p:pic>
        <p:nvPicPr>
          <p:cNvPr id="12" name="ikon-9" descr="preencoded.png">    </p:cNvPr>
          <p:cNvPicPr>
            <a:picLocks noChangeAspect="1"/>
          </p:cNvPicPr>
          <p:nvPr/>
        </p:nvPicPr>
        <p:blipFill>
          <a:blip r:embed="rId3"/>
          <a:stretch>
            <a:fillRect/>
          </a:stretch>
        </p:blipFill>
        <p:spPr>
          <a:xfrm>
            <a:off x="4422404" y="5016764"/>
            <a:ext cx="317480" cy="317480"/>
          </a:xfrm>
          <a:prstGeom prst="rect">
            <a:avLst/>
          </a:prstGeom>
        </p:spPr>
      </p:pic>
      <p:sp>
        <p:nvSpPr>
          <p:cNvPr id="13" name="metin-10"/>
          <p:cNvSpPr txBox="1"/>
          <p:nvPr/>
        </p:nvSpPr>
        <p:spPr>
          <a:xfrm>
            <a:off x="4983480" y="4892040"/>
            <a:ext cx="1005840" cy="566928"/>
          </a:xfrm>
          <a:prstGeom prst="rect">
            <a:avLst/>
          </a:prstGeom>
          <a:noFill/>
          <a:ln/>
        </p:spPr>
        <p:txBody>
          <a:bodyPr wrap="square" lIns="0" tIns="0" rIns="0" bIns="0" rtlCol="0" anchor="ctr"/>
          <a:lstStyle/>
          <a:p>
            <a:pPr indent="0" marL="0">
              <a:buNone/>
            </a:pPr>
            <a:r>
              <a:rPr lang="en-US" sz="1600" b="1" dirty="0">
                <a:solidFill>
                  <a:schemeClr val="bg1"/>
                </a:solidFill>
              </a:rPr>
              <a:t>Toprak</a:t>
            </a:r>
            <a:endParaRPr lang="en-US" sz="1600" dirty="0"/>
          </a:p>
        </p:txBody>
      </p:sp>
      <p:sp>
        <p:nvSpPr>
          <p:cNvPr id="14" name="ikon-zemin-11"/>
          <p:cNvSpPr/>
          <p:nvPr/>
        </p:nvSpPr>
        <p:spPr>
          <a:xfrm>
            <a:off x="6080760" y="4892040"/>
            <a:ext cx="566928" cy="566928"/>
          </a:xfrm>
          <a:prstGeom prst="ellipse">
            <a:avLst/>
          </a:prstGeom>
          <a:solidFill>
            <a:schemeClr val="accent2"/>
          </a:solidFill>
          <a:ln/>
        </p:spPr>
      </p:sp>
      <p:pic>
        <p:nvPicPr>
          <p:cNvPr id="15" name="ikon-12" descr="preencoded.png">    </p:cNvPr>
          <p:cNvPicPr>
            <a:picLocks noChangeAspect="1"/>
          </p:cNvPicPr>
          <p:nvPr/>
        </p:nvPicPr>
        <p:blipFill>
          <a:blip r:embed="rId4"/>
          <a:stretch>
            <a:fillRect/>
          </a:stretch>
        </p:blipFill>
        <p:spPr>
          <a:xfrm>
            <a:off x="6205484" y="5016764"/>
            <a:ext cx="317480" cy="317480"/>
          </a:xfrm>
          <a:prstGeom prst="rect">
            <a:avLst/>
          </a:prstGeom>
        </p:spPr>
      </p:pic>
      <p:sp>
        <p:nvSpPr>
          <p:cNvPr id="16" name="metin-13"/>
          <p:cNvSpPr txBox="1"/>
          <p:nvPr/>
        </p:nvSpPr>
        <p:spPr>
          <a:xfrm>
            <a:off x="6766560" y="4892040"/>
            <a:ext cx="1005840" cy="566928"/>
          </a:xfrm>
          <a:prstGeom prst="rect">
            <a:avLst/>
          </a:prstGeom>
          <a:noFill/>
          <a:ln/>
        </p:spPr>
        <p:txBody>
          <a:bodyPr wrap="square" lIns="0" tIns="0" rIns="0" bIns="0" rtlCol="0" anchor="ctr"/>
          <a:lstStyle/>
          <a:p>
            <a:pPr indent="0" marL="0">
              <a:buNone/>
            </a:pPr>
            <a:r>
              <a:rPr lang="en-US" sz="1600" b="1" dirty="0">
                <a:solidFill>
                  <a:schemeClr val="bg1"/>
                </a:solidFill>
              </a:rPr>
              <a:t>Çiftçi</a:t>
            </a:r>
            <a:endParaRPr lang="en-US" sz="1600" dirty="0"/>
          </a:p>
        </p:txBody>
      </p:sp>
      <p:sp>
        <p:nvSpPr>
          <p:cNvPr id="17" name="telefon-cerceve-14"/>
          <p:cNvSpPr/>
          <p:nvPr/>
        </p:nvSpPr>
        <p:spPr>
          <a:xfrm>
            <a:off x="8860536" y="585216"/>
            <a:ext cx="2687166" cy="5687568"/>
          </a:xfrm>
          <a:prstGeom prst="roundRect">
            <a:avLst>
              <a:gd name="adj" fmla="val 8167"/>
            </a:avLst>
          </a:prstGeom>
          <a:solidFill>
            <a:srgbClr val="000000"/>
          </a:solidFill>
          <a:ln w="12700">
            <a:solidFill>
              <a:srgbClr val="34423C"/>
            </a:solidFill>
            <a:prstDash val="solid"/>
          </a:ln>
          <a:effectLst>
            <a:outerShdw sx="100000" sy="100000" kx="0" ky="0" algn="bl" rotWithShape="0" blurRad="127000" dist="38100" dir="5400000">
              <a:srgbClr val="000000">
                <a:alpha val="22000"/>
              </a:srgbClr>
            </a:outerShdw>
          </a:effectLst>
        </p:spPr>
      </p:sp>
      <p:pic>
        <p:nvPicPr>
          <p:cNvPr id="18" name="ekran-goruntusu-15" descr="AgroGuard AI mobil uygulama ekran görüntüsü">    </p:cNvPr>
          <p:cNvPicPr>
            <a:picLocks noChangeAspect="1"/>
          </p:cNvPicPr>
          <p:nvPr/>
        </p:nvPicPr>
        <p:blipFill>
          <a:blip r:embed="rId5"/>
          <a:stretch>
            <a:fillRect/>
          </a:stretch>
        </p:blipFill>
        <p:spPr>
          <a:xfrm>
            <a:off x="8915400" y="640080"/>
            <a:ext cx="2577438" cy="55778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8229600" cy="274320"/>
          </a:xfrm>
          <a:prstGeom prst="rect">
            <a:avLst/>
          </a:prstGeom>
          <a:noFill/>
          <a:ln/>
        </p:spPr>
        <p:txBody>
          <a:bodyPr wrap="square" lIns="0" tIns="0" rIns="0" bIns="0" rtlCol="0" anchor="t"/>
          <a:lstStyle/>
          <a:p>
            <a:pPr indent="0" marL="0">
              <a:buNone/>
            </a:pPr>
            <a:r>
              <a:rPr lang="en-US" sz="1200" b="1" spc="150" kern="0" dirty="0">
                <a:solidFill>
                  <a:schemeClr val="accent2"/>
                </a:solidFill>
              </a:rPr>
              <a:t>PROBLEM</a:t>
            </a:r>
            <a:endParaRPr lang="en-US" sz="1200" dirty="0"/>
          </a:p>
        </p:txBody>
      </p:sp>
      <p:sp>
        <p:nvSpPr>
          <p:cNvPr id="3" name="Text 0"/>
          <p:cNvSpPr/>
          <p:nvPr>
            <p:ph idx="101" type="title" hasCustomPrompt="1"/>
          </p:nvPr>
        </p:nvSpPr>
        <p:spPr>
          <a:xfrm>
            <a:off x="548640" y="621792"/>
            <a:ext cx="11091672" cy="731520"/>
          </a:xfrm>
          <a:prstGeom prst="rect">
            <a:avLst/>
          </a:prstGeom>
          <a:noFill/>
          <a:ln/>
        </p:spPr>
        <p:txBody>
          <a:bodyPr wrap="square" lIns="0" tIns="0" rIns="0" bIns="0" rtlCol="0" anchor="t"/>
          <a:lstStyle/>
          <a:p>
            <a:pPr algn="l" indent="0" marL="0">
              <a:buNone/>
            </a:pPr>
            <a:r>
              <a:rPr lang="en-US" sz="3000" b="1" dirty="0">
                <a:solidFill>
                  <a:schemeClr val="tx1"/>
                </a:solidFill>
              </a:rPr>
              <a:t>Tarladaki kararlar çoğu zaman veriye değil alışkanlığa dayanıyor</a:t>
            </a:r>
            <a:endParaRPr lang="en-US" sz="3000" dirty="0"/>
          </a:p>
        </p:txBody>
      </p:sp>
      <p:sp>
        <p:nvSpPr>
          <p:cNvPr id="4" name="kart-16"/>
          <p:cNvSpPr/>
          <p:nvPr/>
        </p:nvSpPr>
        <p:spPr>
          <a:xfrm>
            <a:off x="548640" y="1600200"/>
            <a:ext cx="3200400" cy="4526280"/>
          </a:xfrm>
          <a:prstGeom prst="roundRect">
            <a:avLst>
              <a:gd name="adj" fmla="val 3429"/>
            </a:avLst>
          </a:prstGeom>
          <a:solidFill>
            <a:schemeClr val="tx1"/>
          </a:solidFill>
          <a:ln/>
        </p:spPr>
      </p:sp>
      <p:sp>
        <p:nvSpPr>
          <p:cNvPr id="5" name="metin-17"/>
          <p:cNvSpPr txBox="1"/>
          <p:nvPr/>
        </p:nvSpPr>
        <p:spPr>
          <a:xfrm>
            <a:off x="822960" y="1828800"/>
            <a:ext cx="2743200" cy="1005840"/>
          </a:xfrm>
          <a:prstGeom prst="rect">
            <a:avLst/>
          </a:prstGeom>
          <a:noFill/>
          <a:ln/>
        </p:spPr>
        <p:txBody>
          <a:bodyPr wrap="square" lIns="0" tIns="0" rIns="0" bIns="0" rtlCol="0" anchor="t"/>
          <a:lstStyle/>
          <a:p>
            <a:pPr indent="0" marL="0">
              <a:buNone/>
            </a:pPr>
            <a:r>
              <a:rPr lang="en-US" sz="6600" b="1" dirty="0">
                <a:solidFill>
                  <a:schemeClr val="accent1"/>
                </a:solidFill>
              </a:rPr>
              <a:t>%70</a:t>
            </a:r>
            <a:endParaRPr lang="en-US" sz="6600" dirty="0"/>
          </a:p>
        </p:txBody>
      </p:sp>
      <p:sp>
        <p:nvSpPr>
          <p:cNvPr id="6" name="metin-18"/>
          <p:cNvSpPr txBox="1"/>
          <p:nvPr/>
        </p:nvSpPr>
        <p:spPr>
          <a:xfrm>
            <a:off x="822960" y="2880360"/>
            <a:ext cx="2697480" cy="914400"/>
          </a:xfrm>
          <a:prstGeom prst="rect">
            <a:avLst/>
          </a:prstGeom>
          <a:noFill/>
          <a:ln/>
        </p:spPr>
        <p:txBody>
          <a:bodyPr wrap="square" lIns="0" tIns="0" rIns="0" bIns="0" rtlCol="0" anchor="t"/>
          <a:lstStyle/>
          <a:p>
            <a:pPr indent="0" marL="0">
              <a:buNone/>
            </a:pPr>
            <a:r>
              <a:rPr lang="en-US" sz="1600" dirty="0">
                <a:solidFill>
                  <a:schemeClr val="bg1"/>
                </a:solidFill>
              </a:rPr>
              <a:t>Dünyadaki tatlı su çekiminin yaklaşık %70’i tarıma gidiyor</a:t>
            </a:r>
            <a:endParaRPr lang="en-US" sz="1600" dirty="0"/>
          </a:p>
        </p:txBody>
      </p:sp>
      <p:sp>
        <p:nvSpPr>
          <p:cNvPr id="7" name="metin-19"/>
          <p:cNvSpPr txBox="1"/>
          <p:nvPr/>
        </p:nvSpPr>
        <p:spPr>
          <a:xfrm>
            <a:off x="822960" y="3794760"/>
            <a:ext cx="2697480" cy="274320"/>
          </a:xfrm>
          <a:prstGeom prst="rect">
            <a:avLst/>
          </a:prstGeom>
          <a:noFill/>
          <a:ln/>
        </p:spPr>
        <p:txBody>
          <a:bodyPr wrap="square" lIns="0" tIns="0" rIns="0" bIns="0" rtlCol="0" anchor="t"/>
          <a:lstStyle/>
          <a:p>
            <a:pPr indent="0" marL="0">
              <a:buNone/>
            </a:pPr>
            <a:r>
              <a:rPr lang="en-US" sz="1100" dirty="0">
                <a:solidFill>
                  <a:srgbClr val="A9C2B8"/>
                </a:solidFill>
              </a:rPr>
              <a:t>Kaynak: FAO AQUASTAT</a:t>
            </a:r>
            <a:endParaRPr lang="en-US" sz="1100" dirty="0"/>
          </a:p>
        </p:txBody>
      </p:sp>
      <p:sp>
        <p:nvSpPr>
          <p:cNvPr id="8" name="metin-20"/>
          <p:cNvSpPr txBox="1"/>
          <p:nvPr/>
        </p:nvSpPr>
        <p:spPr>
          <a:xfrm>
            <a:off x="822960" y="4434840"/>
            <a:ext cx="2697480" cy="1371600"/>
          </a:xfrm>
          <a:prstGeom prst="rect">
            <a:avLst/>
          </a:prstGeom>
          <a:noFill/>
          <a:ln/>
        </p:spPr>
        <p:txBody>
          <a:bodyPr wrap="square" lIns="0" tIns="0" rIns="0" bIns="0" rtlCol="0" anchor="t"/>
          <a:lstStyle/>
          <a:p>
            <a:pPr indent="0" marL="0">
              <a:buNone/>
            </a:pPr>
            <a:r>
              <a:rPr lang="en-US" sz="1400" dirty="0">
                <a:solidFill>
                  <a:schemeClr val="bg1"/>
                </a:solidFill>
              </a:rPr>
              <a:t>Bu suyu ne zaman ve ne kadar kullandığımız, tarımın sürdürülebilirliğinde en büyük kaldıraç.</a:t>
            </a:r>
            <a:endParaRPr lang="en-US" sz="1400" dirty="0"/>
          </a:p>
        </p:txBody>
      </p:sp>
      <p:sp>
        <p:nvSpPr>
          <p:cNvPr id="9" name="kart-21"/>
          <p:cNvSpPr/>
          <p:nvPr/>
        </p:nvSpPr>
        <p:spPr>
          <a:xfrm>
            <a:off x="4023360" y="1600200"/>
            <a:ext cx="2386584" cy="2148840"/>
          </a:xfrm>
          <a:prstGeom prst="roundRect">
            <a:avLst>
              <a:gd name="adj" fmla="val 5106"/>
            </a:avLst>
          </a:prstGeom>
          <a:solidFill>
            <a:schemeClr val="bg2"/>
          </a:solidFill>
          <a:ln/>
        </p:spPr>
      </p:sp>
      <p:sp>
        <p:nvSpPr>
          <p:cNvPr id="10" name="ikon-zemin-22"/>
          <p:cNvSpPr/>
          <p:nvPr/>
        </p:nvSpPr>
        <p:spPr>
          <a:xfrm>
            <a:off x="4251960" y="1828800"/>
            <a:ext cx="502920" cy="502920"/>
          </a:xfrm>
          <a:prstGeom prst="ellipse">
            <a:avLst/>
          </a:prstGeom>
          <a:solidFill>
            <a:schemeClr val="accent3"/>
          </a:solidFill>
          <a:ln/>
        </p:spPr>
      </p:sp>
      <p:pic>
        <p:nvPicPr>
          <p:cNvPr id="11" name="ikon-23" descr="preencoded.png">    </p:cNvPr>
          <p:cNvPicPr>
            <a:picLocks noChangeAspect="1"/>
          </p:cNvPicPr>
          <p:nvPr/>
        </p:nvPicPr>
        <p:blipFill>
          <a:blip r:embed="rId1"/>
          <a:stretch>
            <a:fillRect/>
          </a:stretch>
        </p:blipFill>
        <p:spPr>
          <a:xfrm>
            <a:off x="4362602" y="1939442"/>
            <a:ext cx="281635" cy="281635"/>
          </a:xfrm>
          <a:prstGeom prst="rect">
            <a:avLst/>
          </a:prstGeom>
        </p:spPr>
      </p:pic>
      <p:sp>
        <p:nvSpPr>
          <p:cNvPr id="12" name="metin-24"/>
          <p:cNvSpPr txBox="1"/>
          <p:nvPr/>
        </p:nvSpPr>
        <p:spPr>
          <a:xfrm>
            <a:off x="4251960" y="2468880"/>
            <a:ext cx="1929384" cy="320040"/>
          </a:xfrm>
          <a:prstGeom prst="rect">
            <a:avLst/>
          </a:prstGeom>
          <a:noFill/>
          <a:ln/>
        </p:spPr>
        <p:txBody>
          <a:bodyPr wrap="square" lIns="0" tIns="0" rIns="0" bIns="0" rtlCol="0" anchor="t"/>
          <a:lstStyle/>
          <a:p>
            <a:pPr indent="0" marL="0">
              <a:buNone/>
            </a:pPr>
            <a:r>
              <a:rPr lang="en-US" sz="1600" b="1" dirty="0">
                <a:solidFill>
                  <a:schemeClr val="tx1"/>
                </a:solidFill>
              </a:rPr>
              <a:t>Öğle sulaması</a:t>
            </a:r>
            <a:endParaRPr lang="en-US" sz="1600" dirty="0"/>
          </a:p>
        </p:txBody>
      </p:sp>
      <p:sp>
        <p:nvSpPr>
          <p:cNvPr id="13" name="metin-25"/>
          <p:cNvSpPr txBox="1"/>
          <p:nvPr/>
        </p:nvSpPr>
        <p:spPr>
          <a:xfrm>
            <a:off x="4251960" y="2834640"/>
            <a:ext cx="1929384" cy="822960"/>
          </a:xfrm>
          <a:prstGeom prst="rect">
            <a:avLst/>
          </a:prstGeom>
          <a:noFill/>
          <a:ln/>
        </p:spPr>
        <p:txBody>
          <a:bodyPr wrap="square" lIns="0" tIns="0" rIns="0" bIns="0" rtlCol="0" anchor="t"/>
          <a:lstStyle/>
          <a:p>
            <a:pPr indent="0" marL="0">
              <a:buNone/>
            </a:pPr>
            <a:r>
              <a:rPr lang="en-US" sz="1400" dirty="0">
                <a:solidFill>
                  <a:schemeClr val="tx2"/>
                </a:solidFill>
              </a:rPr>
              <a:t>Sıcakta verilen suyun bir kısmı köke ulaşmadan buharlaşır</a:t>
            </a:r>
            <a:endParaRPr lang="en-US" sz="1400" dirty="0"/>
          </a:p>
        </p:txBody>
      </p:sp>
      <p:sp>
        <p:nvSpPr>
          <p:cNvPr id="14" name="kart-26"/>
          <p:cNvSpPr/>
          <p:nvPr/>
        </p:nvSpPr>
        <p:spPr>
          <a:xfrm>
            <a:off x="6638544" y="1600200"/>
            <a:ext cx="2386584" cy="2148840"/>
          </a:xfrm>
          <a:prstGeom prst="roundRect">
            <a:avLst>
              <a:gd name="adj" fmla="val 5106"/>
            </a:avLst>
          </a:prstGeom>
          <a:solidFill>
            <a:schemeClr val="bg2"/>
          </a:solidFill>
          <a:ln/>
        </p:spPr>
      </p:sp>
      <p:sp>
        <p:nvSpPr>
          <p:cNvPr id="15" name="ikon-zemin-27"/>
          <p:cNvSpPr/>
          <p:nvPr/>
        </p:nvSpPr>
        <p:spPr>
          <a:xfrm>
            <a:off x="6867144" y="1828800"/>
            <a:ext cx="502920" cy="502920"/>
          </a:xfrm>
          <a:prstGeom prst="ellipse">
            <a:avLst/>
          </a:prstGeom>
          <a:solidFill>
            <a:schemeClr val="accent3"/>
          </a:solidFill>
          <a:ln/>
        </p:spPr>
      </p:sp>
      <p:pic>
        <p:nvPicPr>
          <p:cNvPr id="16" name="ikon-28" descr="preencoded.png">    </p:cNvPr>
          <p:cNvPicPr>
            <a:picLocks noChangeAspect="1"/>
          </p:cNvPicPr>
          <p:nvPr/>
        </p:nvPicPr>
        <p:blipFill>
          <a:blip r:embed="rId2"/>
          <a:stretch>
            <a:fillRect/>
          </a:stretch>
        </p:blipFill>
        <p:spPr>
          <a:xfrm>
            <a:off x="6977786" y="1939442"/>
            <a:ext cx="281635" cy="281635"/>
          </a:xfrm>
          <a:prstGeom prst="rect">
            <a:avLst/>
          </a:prstGeom>
        </p:spPr>
      </p:pic>
      <p:sp>
        <p:nvSpPr>
          <p:cNvPr id="17" name="metin-29"/>
          <p:cNvSpPr txBox="1"/>
          <p:nvPr/>
        </p:nvSpPr>
        <p:spPr>
          <a:xfrm>
            <a:off x="6867144" y="2468880"/>
            <a:ext cx="1929384" cy="320040"/>
          </a:xfrm>
          <a:prstGeom prst="rect">
            <a:avLst/>
          </a:prstGeom>
          <a:noFill/>
          <a:ln/>
        </p:spPr>
        <p:txBody>
          <a:bodyPr wrap="square" lIns="0" tIns="0" rIns="0" bIns="0" rtlCol="0" anchor="t"/>
          <a:lstStyle/>
          <a:p>
            <a:pPr indent="0" marL="0">
              <a:buNone/>
            </a:pPr>
            <a:r>
              <a:rPr lang="en-US" sz="1600" b="1" dirty="0">
                <a:solidFill>
                  <a:schemeClr val="tx1"/>
                </a:solidFill>
              </a:rPr>
              <a:t>Puant saatte pompa</a:t>
            </a:r>
            <a:endParaRPr lang="en-US" sz="1600" dirty="0"/>
          </a:p>
        </p:txBody>
      </p:sp>
      <p:sp>
        <p:nvSpPr>
          <p:cNvPr id="18" name="metin-30"/>
          <p:cNvSpPr txBox="1"/>
          <p:nvPr/>
        </p:nvSpPr>
        <p:spPr>
          <a:xfrm>
            <a:off x="6867144" y="2834640"/>
            <a:ext cx="1929384" cy="822960"/>
          </a:xfrm>
          <a:prstGeom prst="rect">
            <a:avLst/>
          </a:prstGeom>
          <a:noFill/>
          <a:ln/>
        </p:spPr>
        <p:txBody>
          <a:bodyPr wrap="square" lIns="0" tIns="0" rIns="0" bIns="0" rtlCol="0" anchor="t"/>
          <a:lstStyle/>
          <a:p>
            <a:pPr indent="0" marL="0">
              <a:buNone/>
            </a:pPr>
            <a:r>
              <a:rPr lang="en-US" sz="1400" dirty="0">
                <a:solidFill>
                  <a:schemeClr val="tx2"/>
                </a:solidFill>
              </a:rPr>
              <a:t>Aynı su, günün en pahalı elektriğiyle çekilir</a:t>
            </a:r>
            <a:endParaRPr lang="en-US" sz="1400" dirty="0"/>
          </a:p>
        </p:txBody>
      </p:sp>
      <p:sp>
        <p:nvSpPr>
          <p:cNvPr id="19" name="kart-31"/>
          <p:cNvSpPr/>
          <p:nvPr/>
        </p:nvSpPr>
        <p:spPr>
          <a:xfrm>
            <a:off x="9253728" y="1600200"/>
            <a:ext cx="2386584" cy="2148840"/>
          </a:xfrm>
          <a:prstGeom prst="roundRect">
            <a:avLst>
              <a:gd name="adj" fmla="val 5106"/>
            </a:avLst>
          </a:prstGeom>
          <a:solidFill>
            <a:schemeClr val="bg2"/>
          </a:solidFill>
          <a:ln/>
        </p:spPr>
      </p:sp>
      <p:sp>
        <p:nvSpPr>
          <p:cNvPr id="20" name="ikon-zemin-32"/>
          <p:cNvSpPr/>
          <p:nvPr/>
        </p:nvSpPr>
        <p:spPr>
          <a:xfrm>
            <a:off x="9482328" y="1828800"/>
            <a:ext cx="502920" cy="502920"/>
          </a:xfrm>
          <a:prstGeom prst="ellipse">
            <a:avLst/>
          </a:prstGeom>
          <a:solidFill>
            <a:schemeClr val="accent6"/>
          </a:solidFill>
          <a:ln/>
        </p:spPr>
      </p:sp>
      <p:pic>
        <p:nvPicPr>
          <p:cNvPr id="21" name="ikon-33" descr="preencoded.png">    </p:cNvPr>
          <p:cNvPicPr>
            <a:picLocks noChangeAspect="1"/>
          </p:cNvPicPr>
          <p:nvPr/>
        </p:nvPicPr>
        <p:blipFill>
          <a:blip r:embed="rId3"/>
          <a:stretch>
            <a:fillRect/>
          </a:stretch>
        </p:blipFill>
        <p:spPr>
          <a:xfrm>
            <a:off x="9592970" y="1939442"/>
            <a:ext cx="281635" cy="281635"/>
          </a:xfrm>
          <a:prstGeom prst="rect">
            <a:avLst/>
          </a:prstGeom>
        </p:spPr>
      </p:pic>
      <p:sp>
        <p:nvSpPr>
          <p:cNvPr id="22" name="metin-34"/>
          <p:cNvSpPr txBox="1"/>
          <p:nvPr/>
        </p:nvSpPr>
        <p:spPr>
          <a:xfrm>
            <a:off x="9482328" y="2468880"/>
            <a:ext cx="1929384" cy="320040"/>
          </a:xfrm>
          <a:prstGeom prst="rect">
            <a:avLst/>
          </a:prstGeom>
          <a:noFill/>
          <a:ln/>
        </p:spPr>
        <p:txBody>
          <a:bodyPr wrap="square" lIns="0" tIns="0" rIns="0" bIns="0" rtlCol="0" anchor="t"/>
          <a:lstStyle/>
          <a:p>
            <a:pPr indent="0" marL="0">
              <a:buNone/>
            </a:pPr>
            <a:r>
              <a:rPr lang="en-US" sz="1600" b="1" dirty="0">
                <a:solidFill>
                  <a:schemeClr val="tx1"/>
                </a:solidFill>
              </a:rPr>
              <a:t>Yağmur öncesi gübre</a:t>
            </a:r>
            <a:endParaRPr lang="en-US" sz="1600" dirty="0"/>
          </a:p>
        </p:txBody>
      </p:sp>
      <p:sp>
        <p:nvSpPr>
          <p:cNvPr id="23" name="metin-35"/>
          <p:cNvSpPr txBox="1"/>
          <p:nvPr/>
        </p:nvSpPr>
        <p:spPr>
          <a:xfrm>
            <a:off x="9482328" y="2834640"/>
            <a:ext cx="1929384" cy="822960"/>
          </a:xfrm>
          <a:prstGeom prst="rect">
            <a:avLst/>
          </a:prstGeom>
          <a:noFill/>
          <a:ln/>
        </p:spPr>
        <p:txBody>
          <a:bodyPr wrap="square" lIns="0" tIns="0" rIns="0" bIns="0" rtlCol="0" anchor="t"/>
          <a:lstStyle/>
          <a:p>
            <a:pPr indent="0" marL="0">
              <a:buNone/>
            </a:pPr>
            <a:r>
              <a:rPr lang="en-US" sz="1400" dirty="0">
                <a:solidFill>
                  <a:schemeClr val="tx2"/>
                </a:solidFill>
              </a:rPr>
              <a:t>Gübre yıkanır, nitrat yeraltı suyuna karışır</a:t>
            </a:r>
            <a:endParaRPr lang="en-US" sz="1400" dirty="0"/>
          </a:p>
        </p:txBody>
      </p:sp>
      <p:sp>
        <p:nvSpPr>
          <p:cNvPr id="24" name="kart-36"/>
          <p:cNvSpPr/>
          <p:nvPr/>
        </p:nvSpPr>
        <p:spPr>
          <a:xfrm>
            <a:off x="4023360" y="3977640"/>
            <a:ext cx="2386584" cy="2148840"/>
          </a:xfrm>
          <a:prstGeom prst="roundRect">
            <a:avLst>
              <a:gd name="adj" fmla="val 5106"/>
            </a:avLst>
          </a:prstGeom>
          <a:solidFill>
            <a:schemeClr val="bg2"/>
          </a:solidFill>
          <a:ln/>
        </p:spPr>
      </p:sp>
      <p:sp>
        <p:nvSpPr>
          <p:cNvPr id="25" name="ikon-zemin-37"/>
          <p:cNvSpPr/>
          <p:nvPr/>
        </p:nvSpPr>
        <p:spPr>
          <a:xfrm>
            <a:off x="4251960" y="4206240"/>
            <a:ext cx="502920" cy="502920"/>
          </a:xfrm>
          <a:prstGeom prst="ellipse">
            <a:avLst/>
          </a:prstGeom>
          <a:solidFill>
            <a:schemeClr val="accent5"/>
          </a:solidFill>
          <a:ln/>
        </p:spPr>
      </p:sp>
      <p:pic>
        <p:nvPicPr>
          <p:cNvPr id="26" name="ikon-38" descr="preencoded.png">    </p:cNvPr>
          <p:cNvPicPr>
            <a:picLocks noChangeAspect="1"/>
          </p:cNvPicPr>
          <p:nvPr/>
        </p:nvPicPr>
        <p:blipFill>
          <a:blip r:embed="rId4"/>
          <a:stretch>
            <a:fillRect/>
          </a:stretch>
        </p:blipFill>
        <p:spPr>
          <a:xfrm>
            <a:off x="4362602" y="4316882"/>
            <a:ext cx="281635" cy="281635"/>
          </a:xfrm>
          <a:prstGeom prst="rect">
            <a:avLst/>
          </a:prstGeom>
        </p:spPr>
      </p:pic>
      <p:sp>
        <p:nvSpPr>
          <p:cNvPr id="27" name="metin-39"/>
          <p:cNvSpPr txBox="1"/>
          <p:nvPr/>
        </p:nvSpPr>
        <p:spPr>
          <a:xfrm>
            <a:off x="4251960" y="4846320"/>
            <a:ext cx="1929384" cy="320040"/>
          </a:xfrm>
          <a:prstGeom prst="rect">
            <a:avLst/>
          </a:prstGeom>
          <a:noFill/>
          <a:ln/>
        </p:spPr>
        <p:txBody>
          <a:bodyPr wrap="square" lIns="0" tIns="0" rIns="0" bIns="0" rtlCol="0" anchor="t"/>
          <a:lstStyle/>
          <a:p>
            <a:pPr indent="0" marL="0">
              <a:buNone/>
            </a:pPr>
            <a:r>
              <a:rPr lang="en-US" sz="1600" b="1" dirty="0">
                <a:solidFill>
                  <a:schemeClr val="tx1"/>
                </a:solidFill>
              </a:rPr>
              <a:t>Takvime göre ilaçlama</a:t>
            </a:r>
            <a:endParaRPr lang="en-US" sz="1600" dirty="0"/>
          </a:p>
        </p:txBody>
      </p:sp>
      <p:sp>
        <p:nvSpPr>
          <p:cNvPr id="28" name="metin-40"/>
          <p:cNvSpPr txBox="1"/>
          <p:nvPr/>
        </p:nvSpPr>
        <p:spPr>
          <a:xfrm>
            <a:off x="4251960" y="5212080"/>
            <a:ext cx="1929384" cy="822960"/>
          </a:xfrm>
          <a:prstGeom prst="rect">
            <a:avLst/>
          </a:prstGeom>
          <a:noFill/>
          <a:ln/>
        </p:spPr>
        <p:txBody>
          <a:bodyPr wrap="square" lIns="0" tIns="0" rIns="0" bIns="0" rtlCol="0" anchor="t"/>
          <a:lstStyle/>
          <a:p>
            <a:pPr indent="0" marL="0">
              <a:buNone/>
            </a:pPr>
            <a:r>
              <a:rPr lang="en-US" sz="1400" dirty="0">
                <a:solidFill>
                  <a:schemeClr val="tx2"/>
                </a:solidFill>
              </a:rPr>
              <a:t>Risk yokken bile kimyasal kullanılır</a:t>
            </a:r>
            <a:endParaRPr lang="en-US" sz="1400" dirty="0"/>
          </a:p>
        </p:txBody>
      </p:sp>
      <p:sp>
        <p:nvSpPr>
          <p:cNvPr id="29" name="kart-41"/>
          <p:cNvSpPr/>
          <p:nvPr/>
        </p:nvSpPr>
        <p:spPr>
          <a:xfrm>
            <a:off x="6638544" y="3977640"/>
            <a:ext cx="2386584" cy="2148840"/>
          </a:xfrm>
          <a:prstGeom prst="roundRect">
            <a:avLst>
              <a:gd name="adj" fmla="val 5106"/>
            </a:avLst>
          </a:prstGeom>
          <a:solidFill>
            <a:schemeClr val="bg2"/>
          </a:solidFill>
          <a:ln/>
        </p:spPr>
      </p:sp>
      <p:sp>
        <p:nvSpPr>
          <p:cNvPr id="30" name="ikon-zemin-42"/>
          <p:cNvSpPr/>
          <p:nvPr/>
        </p:nvSpPr>
        <p:spPr>
          <a:xfrm>
            <a:off x="6867144" y="4206240"/>
            <a:ext cx="502920" cy="502920"/>
          </a:xfrm>
          <a:prstGeom prst="ellipse">
            <a:avLst/>
          </a:prstGeom>
          <a:solidFill>
            <a:schemeClr val="accent4"/>
          </a:solidFill>
          <a:ln/>
        </p:spPr>
      </p:sp>
      <p:pic>
        <p:nvPicPr>
          <p:cNvPr id="31" name="ikon-43" descr="preencoded.png">    </p:cNvPr>
          <p:cNvPicPr>
            <a:picLocks noChangeAspect="1"/>
          </p:cNvPicPr>
          <p:nvPr/>
        </p:nvPicPr>
        <p:blipFill>
          <a:blip r:embed="rId5"/>
          <a:stretch>
            <a:fillRect/>
          </a:stretch>
        </p:blipFill>
        <p:spPr>
          <a:xfrm>
            <a:off x="6977786" y="4316882"/>
            <a:ext cx="281635" cy="281635"/>
          </a:xfrm>
          <a:prstGeom prst="rect">
            <a:avLst/>
          </a:prstGeom>
        </p:spPr>
      </p:pic>
      <p:sp>
        <p:nvSpPr>
          <p:cNvPr id="32" name="metin-44"/>
          <p:cNvSpPr txBox="1"/>
          <p:nvPr/>
        </p:nvSpPr>
        <p:spPr>
          <a:xfrm>
            <a:off x="6867144" y="4846320"/>
            <a:ext cx="1929384" cy="320040"/>
          </a:xfrm>
          <a:prstGeom prst="rect">
            <a:avLst/>
          </a:prstGeom>
          <a:noFill/>
          <a:ln/>
        </p:spPr>
        <p:txBody>
          <a:bodyPr wrap="square" lIns="0" tIns="0" rIns="0" bIns="0" rtlCol="0" anchor="t"/>
          <a:lstStyle/>
          <a:p>
            <a:pPr indent="0" marL="0">
              <a:buNone/>
            </a:pPr>
            <a:r>
              <a:rPr lang="en-US" sz="1600" b="1" dirty="0">
                <a:solidFill>
                  <a:schemeClr val="tx1"/>
                </a:solidFill>
              </a:rPr>
              <a:t>Fark edilmeyen don</a:t>
            </a:r>
            <a:endParaRPr lang="en-US" sz="1600" dirty="0"/>
          </a:p>
        </p:txBody>
      </p:sp>
      <p:sp>
        <p:nvSpPr>
          <p:cNvPr id="33" name="metin-45"/>
          <p:cNvSpPr txBox="1"/>
          <p:nvPr/>
        </p:nvSpPr>
        <p:spPr>
          <a:xfrm>
            <a:off x="6867144" y="5212080"/>
            <a:ext cx="1929384" cy="822960"/>
          </a:xfrm>
          <a:prstGeom prst="rect">
            <a:avLst/>
          </a:prstGeom>
          <a:noFill/>
          <a:ln/>
        </p:spPr>
        <p:txBody>
          <a:bodyPr wrap="square" lIns="0" tIns="0" rIns="0" bIns="0" rtlCol="0" anchor="t"/>
          <a:lstStyle/>
          <a:p>
            <a:pPr indent="0" marL="0">
              <a:buNone/>
            </a:pPr>
            <a:r>
              <a:rPr lang="en-US" sz="1400" dirty="0">
                <a:solidFill>
                  <a:schemeClr val="tx2"/>
                </a:solidFill>
              </a:rPr>
              <a:t>Tek bir gecede tomurcuk ve hasat kaybı</a:t>
            </a:r>
            <a:endParaRPr lang="en-US" sz="1400" dirty="0"/>
          </a:p>
        </p:txBody>
      </p:sp>
      <p:sp>
        <p:nvSpPr>
          <p:cNvPr id="34" name="kart-46"/>
          <p:cNvSpPr/>
          <p:nvPr/>
        </p:nvSpPr>
        <p:spPr>
          <a:xfrm>
            <a:off x="9253728" y="3977640"/>
            <a:ext cx="2386584" cy="2148840"/>
          </a:xfrm>
          <a:prstGeom prst="roundRect">
            <a:avLst>
              <a:gd name="adj" fmla="val 5106"/>
            </a:avLst>
          </a:prstGeom>
          <a:solidFill>
            <a:schemeClr val="bg2"/>
          </a:solidFill>
          <a:ln/>
        </p:spPr>
      </p:sp>
      <p:sp>
        <p:nvSpPr>
          <p:cNvPr id="35" name="ikon-zemin-47"/>
          <p:cNvSpPr/>
          <p:nvPr/>
        </p:nvSpPr>
        <p:spPr>
          <a:xfrm>
            <a:off x="9482328" y="4206240"/>
            <a:ext cx="502920" cy="502920"/>
          </a:xfrm>
          <a:prstGeom prst="ellipse">
            <a:avLst/>
          </a:prstGeom>
          <a:solidFill>
            <a:schemeClr val="accent2"/>
          </a:solidFill>
          <a:ln/>
        </p:spPr>
      </p:sp>
      <p:pic>
        <p:nvPicPr>
          <p:cNvPr id="36" name="ikon-48" descr="preencoded.png">    </p:cNvPr>
          <p:cNvPicPr>
            <a:picLocks noChangeAspect="1"/>
          </p:cNvPicPr>
          <p:nvPr/>
        </p:nvPicPr>
        <p:blipFill>
          <a:blip r:embed="rId6"/>
          <a:stretch>
            <a:fillRect/>
          </a:stretch>
        </p:blipFill>
        <p:spPr>
          <a:xfrm>
            <a:off x="9592970" y="4316882"/>
            <a:ext cx="281635" cy="281635"/>
          </a:xfrm>
          <a:prstGeom prst="rect">
            <a:avLst/>
          </a:prstGeom>
        </p:spPr>
      </p:pic>
      <p:sp>
        <p:nvSpPr>
          <p:cNvPr id="37" name="metin-49"/>
          <p:cNvSpPr txBox="1"/>
          <p:nvPr/>
        </p:nvSpPr>
        <p:spPr>
          <a:xfrm>
            <a:off x="9482328" y="4846320"/>
            <a:ext cx="1929384" cy="320040"/>
          </a:xfrm>
          <a:prstGeom prst="rect">
            <a:avLst/>
          </a:prstGeom>
          <a:noFill/>
          <a:ln/>
        </p:spPr>
        <p:txBody>
          <a:bodyPr wrap="square" lIns="0" tIns="0" rIns="0" bIns="0" rtlCol="0" anchor="t"/>
          <a:lstStyle/>
          <a:p>
            <a:pPr indent="0" marL="0">
              <a:buNone/>
            </a:pPr>
            <a:r>
              <a:rPr lang="en-US" sz="1600" b="1" dirty="0">
                <a:solidFill>
                  <a:schemeClr val="tx1"/>
                </a:solidFill>
              </a:rPr>
              <a:t>Dağınık kayıtlar</a:t>
            </a:r>
            <a:endParaRPr lang="en-US" sz="1600" dirty="0"/>
          </a:p>
        </p:txBody>
      </p:sp>
      <p:sp>
        <p:nvSpPr>
          <p:cNvPr id="38" name="metin-50"/>
          <p:cNvSpPr txBox="1"/>
          <p:nvPr/>
        </p:nvSpPr>
        <p:spPr>
          <a:xfrm>
            <a:off x="9482328" y="5212080"/>
            <a:ext cx="1929384" cy="822960"/>
          </a:xfrm>
          <a:prstGeom prst="rect">
            <a:avLst/>
          </a:prstGeom>
          <a:noFill/>
          <a:ln/>
        </p:spPr>
        <p:txBody>
          <a:bodyPr wrap="square" lIns="0" tIns="0" rIns="0" bIns="0" rtlCol="0" anchor="t"/>
          <a:lstStyle/>
          <a:p>
            <a:pPr indent="0" marL="0">
              <a:buNone/>
            </a:pPr>
            <a:r>
              <a:rPr lang="en-US" sz="1400" dirty="0">
                <a:solidFill>
                  <a:schemeClr val="tx2"/>
                </a:solidFill>
              </a:rPr>
              <a:t>Dönüm başı maliyet ve kârlılık bilinmez</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B6B6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8229600" cy="274320"/>
          </a:xfrm>
          <a:prstGeom prst="rect">
            <a:avLst/>
          </a:prstGeom>
          <a:noFill/>
          <a:ln/>
        </p:spPr>
        <p:txBody>
          <a:bodyPr wrap="square" lIns="0" tIns="0" rIns="0" bIns="0" rtlCol="0" anchor="t"/>
          <a:lstStyle/>
          <a:p>
            <a:pPr indent="0" marL="0">
              <a:buNone/>
            </a:pPr>
            <a:r>
              <a:rPr lang="en-US" sz="1200" b="1" spc="150" kern="0" dirty="0">
                <a:solidFill>
                  <a:schemeClr val="accent2"/>
                </a:solidFill>
              </a:rPr>
              <a:t>ÇÖZÜM</a:t>
            </a:r>
            <a:endParaRPr lang="en-US" sz="1200" dirty="0"/>
          </a:p>
        </p:txBody>
      </p:sp>
      <p:sp>
        <p:nvSpPr>
          <p:cNvPr id="3" name="Text 0"/>
          <p:cNvSpPr/>
          <p:nvPr>
            <p:ph idx="101" type="title" hasCustomPrompt="1"/>
          </p:nvPr>
        </p:nvSpPr>
        <p:spPr>
          <a:xfrm>
            <a:off x="548640" y="621792"/>
            <a:ext cx="11091672" cy="731520"/>
          </a:xfrm>
          <a:prstGeom prst="rect">
            <a:avLst/>
          </a:prstGeom>
          <a:noFill/>
          <a:ln/>
        </p:spPr>
        <p:txBody>
          <a:bodyPr wrap="square" lIns="0" tIns="0" rIns="0" bIns="0" rtlCol="0" anchor="t"/>
          <a:lstStyle/>
          <a:p>
            <a:pPr algn="l" indent="0" marL="0">
              <a:buNone/>
            </a:pPr>
            <a:r>
              <a:rPr lang="en-US" sz="3000" b="1" dirty="0">
                <a:solidFill>
                  <a:schemeClr val="tx1"/>
                </a:solidFill>
              </a:rPr>
              <a:t>Üç veri kaynağı, tek ve açıklanabilir bir karar</a:t>
            </a:r>
            <a:endParaRPr lang="en-US" sz="3000" dirty="0"/>
          </a:p>
        </p:txBody>
      </p:sp>
      <p:sp>
        <p:nvSpPr>
          <p:cNvPr id="4" name="kart-51"/>
          <p:cNvSpPr/>
          <p:nvPr/>
        </p:nvSpPr>
        <p:spPr>
          <a:xfrm>
            <a:off x="548640" y="1600200"/>
            <a:ext cx="3200400" cy="914400"/>
          </a:xfrm>
          <a:prstGeom prst="roundRect">
            <a:avLst>
              <a:gd name="adj" fmla="val 12000"/>
            </a:avLst>
          </a:prstGeom>
          <a:solidFill>
            <a:schemeClr val="bg2"/>
          </a:solidFill>
          <a:ln/>
        </p:spPr>
      </p:sp>
      <p:sp>
        <p:nvSpPr>
          <p:cNvPr id="5" name="ikon-zemin-52"/>
          <p:cNvSpPr/>
          <p:nvPr/>
        </p:nvSpPr>
        <p:spPr>
          <a:xfrm>
            <a:off x="731520" y="1801368"/>
            <a:ext cx="512064" cy="512064"/>
          </a:xfrm>
          <a:prstGeom prst="ellipse">
            <a:avLst/>
          </a:prstGeom>
          <a:solidFill>
            <a:schemeClr val="accent4"/>
          </a:solidFill>
          <a:ln/>
        </p:spPr>
      </p:sp>
      <p:pic>
        <p:nvPicPr>
          <p:cNvPr id="6" name="ikon-53" descr="preencoded.png">    </p:cNvPr>
          <p:cNvPicPr>
            <a:picLocks noChangeAspect="1"/>
          </p:cNvPicPr>
          <p:nvPr/>
        </p:nvPicPr>
        <p:blipFill>
          <a:blip r:embed="rId1"/>
          <a:stretch>
            <a:fillRect/>
          </a:stretch>
        </p:blipFill>
        <p:spPr>
          <a:xfrm>
            <a:off x="844174" y="1914022"/>
            <a:ext cx="286756" cy="286756"/>
          </a:xfrm>
          <a:prstGeom prst="rect">
            <a:avLst/>
          </a:prstGeom>
        </p:spPr>
      </p:pic>
      <p:sp>
        <p:nvSpPr>
          <p:cNvPr id="7" name="metin-54"/>
          <p:cNvSpPr txBox="1"/>
          <p:nvPr/>
        </p:nvSpPr>
        <p:spPr>
          <a:xfrm>
            <a:off x="1417320" y="1764792"/>
            <a:ext cx="2240280" cy="301752"/>
          </a:xfrm>
          <a:prstGeom prst="rect">
            <a:avLst/>
          </a:prstGeom>
          <a:noFill/>
          <a:ln/>
        </p:spPr>
        <p:txBody>
          <a:bodyPr wrap="square" lIns="0" tIns="0" rIns="0" bIns="0" rtlCol="0" anchor="t"/>
          <a:lstStyle/>
          <a:p>
            <a:pPr indent="0" marL="0">
              <a:buNone/>
            </a:pPr>
            <a:r>
              <a:rPr lang="en-US" sz="1600" b="1" dirty="0">
                <a:solidFill>
                  <a:schemeClr val="tx1"/>
                </a:solidFill>
              </a:rPr>
              <a:t>Hava tahmini</a:t>
            </a:r>
            <a:endParaRPr lang="en-US" sz="1600" dirty="0"/>
          </a:p>
        </p:txBody>
      </p:sp>
      <p:sp>
        <p:nvSpPr>
          <p:cNvPr id="8" name="metin-55"/>
          <p:cNvSpPr txBox="1"/>
          <p:nvPr/>
        </p:nvSpPr>
        <p:spPr>
          <a:xfrm>
            <a:off x="1417320" y="2075688"/>
            <a:ext cx="2240280" cy="292608"/>
          </a:xfrm>
          <a:prstGeom prst="rect">
            <a:avLst/>
          </a:prstGeom>
          <a:noFill/>
          <a:ln/>
        </p:spPr>
        <p:txBody>
          <a:bodyPr wrap="square" lIns="0" tIns="0" rIns="0" bIns="0" rtlCol="0" anchor="t"/>
          <a:lstStyle/>
          <a:p>
            <a:pPr indent="0" marL="0">
              <a:buNone/>
            </a:pPr>
            <a:r>
              <a:rPr lang="en-US" sz="1300" dirty="0">
                <a:solidFill>
                  <a:schemeClr val="tx2"/>
                </a:solidFill>
              </a:rPr>
              <a:t>Open-Meteo · 30 günlük pencere</a:t>
            </a:r>
            <a:endParaRPr lang="en-US" sz="1300" dirty="0"/>
          </a:p>
        </p:txBody>
      </p:sp>
      <p:sp>
        <p:nvSpPr>
          <p:cNvPr id="9" name="ok-56"/>
          <p:cNvSpPr/>
          <p:nvPr/>
        </p:nvSpPr>
        <p:spPr>
          <a:xfrm>
            <a:off x="3794760" y="2057400"/>
            <a:ext cx="731520" cy="0"/>
          </a:xfrm>
          <a:prstGeom prst="line">
            <a:avLst/>
          </a:prstGeom>
          <a:noFill/>
          <a:ln w="22225">
            <a:solidFill>
              <a:srgbClr val="0A7A5C"/>
            </a:solidFill>
            <a:prstDash val="solid"/>
            <a:tailEnd type="triangle"/>
          </a:ln>
        </p:spPr>
      </p:sp>
      <p:sp>
        <p:nvSpPr>
          <p:cNvPr id="10" name="kart-57"/>
          <p:cNvSpPr/>
          <p:nvPr/>
        </p:nvSpPr>
        <p:spPr>
          <a:xfrm>
            <a:off x="548640" y="2715768"/>
            <a:ext cx="3200400" cy="914400"/>
          </a:xfrm>
          <a:prstGeom prst="roundRect">
            <a:avLst>
              <a:gd name="adj" fmla="val 12000"/>
            </a:avLst>
          </a:prstGeom>
          <a:solidFill>
            <a:schemeClr val="bg2"/>
          </a:solidFill>
          <a:ln/>
        </p:spPr>
      </p:sp>
      <p:sp>
        <p:nvSpPr>
          <p:cNvPr id="11" name="ikon-zemin-58"/>
          <p:cNvSpPr/>
          <p:nvPr/>
        </p:nvSpPr>
        <p:spPr>
          <a:xfrm>
            <a:off x="731520" y="2916936"/>
            <a:ext cx="512064" cy="512064"/>
          </a:xfrm>
          <a:prstGeom prst="ellipse">
            <a:avLst/>
          </a:prstGeom>
          <a:solidFill>
            <a:schemeClr val="accent3"/>
          </a:solidFill>
          <a:ln/>
        </p:spPr>
      </p:sp>
      <p:pic>
        <p:nvPicPr>
          <p:cNvPr id="12" name="ikon-59" descr="preencoded.png">    </p:cNvPr>
          <p:cNvPicPr>
            <a:picLocks noChangeAspect="1"/>
          </p:cNvPicPr>
          <p:nvPr/>
        </p:nvPicPr>
        <p:blipFill>
          <a:blip r:embed="rId2"/>
          <a:stretch>
            <a:fillRect/>
          </a:stretch>
        </p:blipFill>
        <p:spPr>
          <a:xfrm>
            <a:off x="844174" y="3029590"/>
            <a:ext cx="286756" cy="286756"/>
          </a:xfrm>
          <a:prstGeom prst="rect">
            <a:avLst/>
          </a:prstGeom>
        </p:spPr>
      </p:pic>
      <p:sp>
        <p:nvSpPr>
          <p:cNvPr id="13" name="metin-60"/>
          <p:cNvSpPr txBox="1"/>
          <p:nvPr/>
        </p:nvSpPr>
        <p:spPr>
          <a:xfrm>
            <a:off x="1417320" y="2880360"/>
            <a:ext cx="2240280" cy="301752"/>
          </a:xfrm>
          <a:prstGeom prst="rect">
            <a:avLst/>
          </a:prstGeom>
          <a:noFill/>
          <a:ln/>
        </p:spPr>
        <p:txBody>
          <a:bodyPr wrap="square" lIns="0" tIns="0" rIns="0" bIns="0" rtlCol="0" anchor="t"/>
          <a:lstStyle/>
          <a:p>
            <a:pPr indent="0" marL="0">
              <a:buNone/>
            </a:pPr>
            <a:r>
              <a:rPr lang="en-US" sz="1600" b="1" dirty="0">
                <a:solidFill>
                  <a:schemeClr val="tx1"/>
                </a:solidFill>
              </a:rPr>
              <a:t>Elektrik tarifesi</a:t>
            </a:r>
            <a:endParaRPr lang="en-US" sz="1600" dirty="0"/>
          </a:p>
        </p:txBody>
      </p:sp>
      <p:sp>
        <p:nvSpPr>
          <p:cNvPr id="14" name="metin-61"/>
          <p:cNvSpPr txBox="1"/>
          <p:nvPr/>
        </p:nvSpPr>
        <p:spPr>
          <a:xfrm>
            <a:off x="1417320" y="3191256"/>
            <a:ext cx="2240280" cy="292608"/>
          </a:xfrm>
          <a:prstGeom prst="rect">
            <a:avLst/>
          </a:prstGeom>
          <a:noFill/>
          <a:ln/>
        </p:spPr>
        <p:txBody>
          <a:bodyPr wrap="square" lIns="0" tIns="0" rIns="0" bIns="0" rtlCol="0" anchor="t"/>
          <a:lstStyle/>
          <a:p>
            <a:pPr indent="0" marL="0">
              <a:buNone/>
            </a:pPr>
            <a:r>
              <a:rPr lang="en-US" sz="1300" dirty="0">
                <a:solidFill>
                  <a:schemeClr val="tx2"/>
                </a:solidFill>
              </a:rPr>
              <a:t>Gece · Gündüz · Puant</a:t>
            </a:r>
            <a:endParaRPr lang="en-US" sz="1300" dirty="0"/>
          </a:p>
        </p:txBody>
      </p:sp>
      <p:sp>
        <p:nvSpPr>
          <p:cNvPr id="15" name="ok-62"/>
          <p:cNvSpPr/>
          <p:nvPr/>
        </p:nvSpPr>
        <p:spPr>
          <a:xfrm>
            <a:off x="3794760" y="3172968"/>
            <a:ext cx="731520" cy="0"/>
          </a:xfrm>
          <a:prstGeom prst="line">
            <a:avLst/>
          </a:prstGeom>
          <a:noFill/>
          <a:ln w="22225">
            <a:solidFill>
              <a:srgbClr val="0A7A5C"/>
            </a:solidFill>
            <a:prstDash val="solid"/>
            <a:tailEnd type="triangle"/>
          </a:ln>
        </p:spPr>
      </p:sp>
      <p:sp>
        <p:nvSpPr>
          <p:cNvPr id="16" name="kart-63"/>
          <p:cNvSpPr/>
          <p:nvPr/>
        </p:nvSpPr>
        <p:spPr>
          <a:xfrm>
            <a:off x="548640" y="3831336"/>
            <a:ext cx="3200400" cy="914400"/>
          </a:xfrm>
          <a:prstGeom prst="roundRect">
            <a:avLst>
              <a:gd name="adj" fmla="val 12000"/>
            </a:avLst>
          </a:prstGeom>
          <a:solidFill>
            <a:schemeClr val="bg2"/>
          </a:solidFill>
          <a:ln/>
        </p:spPr>
      </p:sp>
      <p:sp>
        <p:nvSpPr>
          <p:cNvPr id="17" name="ikon-zemin-64"/>
          <p:cNvSpPr/>
          <p:nvPr/>
        </p:nvSpPr>
        <p:spPr>
          <a:xfrm>
            <a:off x="731520" y="4032504"/>
            <a:ext cx="512064" cy="512064"/>
          </a:xfrm>
          <a:prstGeom prst="ellipse">
            <a:avLst/>
          </a:prstGeom>
          <a:solidFill>
            <a:schemeClr val="accent6"/>
          </a:solidFill>
          <a:ln/>
        </p:spPr>
      </p:sp>
      <p:pic>
        <p:nvPicPr>
          <p:cNvPr id="18" name="ikon-65" descr="preencoded.png">    </p:cNvPr>
          <p:cNvPicPr>
            <a:picLocks noChangeAspect="1"/>
          </p:cNvPicPr>
          <p:nvPr/>
        </p:nvPicPr>
        <p:blipFill>
          <a:blip r:embed="rId3"/>
          <a:stretch>
            <a:fillRect/>
          </a:stretch>
        </p:blipFill>
        <p:spPr>
          <a:xfrm>
            <a:off x="844174" y="4145158"/>
            <a:ext cx="286756" cy="286756"/>
          </a:xfrm>
          <a:prstGeom prst="rect">
            <a:avLst/>
          </a:prstGeom>
        </p:spPr>
      </p:pic>
      <p:sp>
        <p:nvSpPr>
          <p:cNvPr id="19" name="metin-66"/>
          <p:cNvSpPr txBox="1"/>
          <p:nvPr/>
        </p:nvSpPr>
        <p:spPr>
          <a:xfrm>
            <a:off x="1417320" y="3995928"/>
            <a:ext cx="2240280" cy="301752"/>
          </a:xfrm>
          <a:prstGeom prst="rect">
            <a:avLst/>
          </a:prstGeom>
          <a:noFill/>
          <a:ln/>
        </p:spPr>
        <p:txBody>
          <a:bodyPr wrap="square" lIns="0" tIns="0" rIns="0" bIns="0" rtlCol="0" anchor="t"/>
          <a:lstStyle/>
          <a:p>
            <a:pPr indent="0" marL="0">
              <a:buNone/>
            </a:pPr>
            <a:r>
              <a:rPr lang="en-US" sz="1600" b="1" dirty="0">
                <a:solidFill>
                  <a:schemeClr val="tx1"/>
                </a:solidFill>
              </a:rPr>
              <a:t>Tarla kayıtları</a:t>
            </a:r>
            <a:endParaRPr lang="en-US" sz="1600" dirty="0"/>
          </a:p>
        </p:txBody>
      </p:sp>
      <p:sp>
        <p:nvSpPr>
          <p:cNvPr id="20" name="metin-67"/>
          <p:cNvSpPr txBox="1"/>
          <p:nvPr/>
        </p:nvSpPr>
        <p:spPr>
          <a:xfrm>
            <a:off x="1417320" y="4306824"/>
            <a:ext cx="2240280" cy="292608"/>
          </a:xfrm>
          <a:prstGeom prst="rect">
            <a:avLst/>
          </a:prstGeom>
          <a:noFill/>
          <a:ln/>
        </p:spPr>
        <p:txBody>
          <a:bodyPr wrap="square" lIns="0" tIns="0" rIns="0" bIns="0" rtlCol="0" anchor="t"/>
          <a:lstStyle/>
          <a:p>
            <a:pPr indent="0" marL="0">
              <a:buNone/>
            </a:pPr>
            <a:r>
              <a:rPr lang="en-US" sz="1300" dirty="0">
                <a:solidFill>
                  <a:schemeClr val="tx2"/>
                </a:solidFill>
              </a:rPr>
              <a:t>Ajanda + ön muhasebe (db.json)</a:t>
            </a:r>
            <a:endParaRPr lang="en-US" sz="1300" dirty="0"/>
          </a:p>
        </p:txBody>
      </p:sp>
      <p:sp>
        <p:nvSpPr>
          <p:cNvPr id="21" name="ok-68"/>
          <p:cNvSpPr/>
          <p:nvPr/>
        </p:nvSpPr>
        <p:spPr>
          <a:xfrm>
            <a:off x="3794760" y="4288536"/>
            <a:ext cx="731520" cy="0"/>
          </a:xfrm>
          <a:prstGeom prst="line">
            <a:avLst/>
          </a:prstGeom>
          <a:noFill/>
          <a:ln w="22225">
            <a:solidFill>
              <a:srgbClr val="0A7A5C"/>
            </a:solidFill>
            <a:prstDash val="solid"/>
            <a:tailEnd type="triangle"/>
          </a:ln>
        </p:spPr>
      </p:sp>
      <p:sp>
        <p:nvSpPr>
          <p:cNvPr id="22" name="kart-69"/>
          <p:cNvSpPr/>
          <p:nvPr/>
        </p:nvSpPr>
        <p:spPr>
          <a:xfrm>
            <a:off x="4572000" y="1600200"/>
            <a:ext cx="3017520" cy="3145536"/>
          </a:xfrm>
          <a:prstGeom prst="roundRect">
            <a:avLst>
              <a:gd name="adj" fmla="val 3636"/>
            </a:avLst>
          </a:prstGeom>
          <a:solidFill>
            <a:schemeClr val="tx1"/>
          </a:solidFill>
          <a:ln/>
        </p:spPr>
      </p:sp>
      <p:sp>
        <p:nvSpPr>
          <p:cNvPr id="23" name="metin-70"/>
          <p:cNvSpPr txBox="1"/>
          <p:nvPr/>
        </p:nvSpPr>
        <p:spPr>
          <a:xfrm>
            <a:off x="4846320" y="1874520"/>
            <a:ext cx="2468880" cy="411480"/>
          </a:xfrm>
          <a:prstGeom prst="rect">
            <a:avLst/>
          </a:prstGeom>
          <a:noFill/>
          <a:ln/>
        </p:spPr>
        <p:txBody>
          <a:bodyPr wrap="square" lIns="0" tIns="0" rIns="0" bIns="0" rtlCol="0" anchor="t"/>
          <a:lstStyle/>
          <a:p>
            <a:pPr indent="0" marL="0">
              <a:buNone/>
            </a:pPr>
            <a:r>
              <a:rPr lang="en-US" sz="2200" b="1" dirty="0">
                <a:solidFill>
                  <a:schemeClr val="bg1"/>
                </a:solidFill>
              </a:rPr>
              <a:t>Karar motoru</a:t>
            </a:r>
            <a:endParaRPr lang="en-US" sz="2200" dirty="0"/>
          </a:p>
        </p:txBody>
      </p:sp>
      <p:sp>
        <p:nvSpPr>
          <p:cNvPr id="24" name="metin-71"/>
          <p:cNvSpPr txBox="1"/>
          <p:nvPr/>
        </p:nvSpPr>
        <p:spPr>
          <a:xfrm>
            <a:off x="4846320" y="2331720"/>
            <a:ext cx="2560320" cy="320040"/>
          </a:xfrm>
          <a:prstGeom prst="rect">
            <a:avLst/>
          </a:prstGeom>
          <a:noFill/>
          <a:ln/>
        </p:spPr>
        <p:txBody>
          <a:bodyPr wrap="square" lIns="0" tIns="0" rIns="0" bIns="0" rtlCol="0" anchor="t"/>
          <a:lstStyle/>
          <a:p>
            <a:pPr indent="0" marL="0">
              <a:buNone/>
            </a:pPr>
            <a:r>
              <a:rPr lang="en-US" sz="1300" b="1" dirty="0">
                <a:solidFill>
                  <a:schemeClr val="accent1"/>
                </a:solidFill>
                <a:latin typeface="Courier New" pitchFamily="34" charset="0"/>
                <a:ea typeface="Courier New" pitchFamily="34" charset="-122"/>
                <a:cs typeface="Courier New" pitchFamily="34" charset="-120"/>
              </a:rPr>
              <a:t>evaluate_system_logic()</a:t>
            </a:r>
            <a:endParaRPr lang="en-US" sz="1300" dirty="0"/>
          </a:p>
        </p:txBody>
      </p:sp>
      <p:sp>
        <p:nvSpPr>
          <p:cNvPr id="25" name="metin-72"/>
          <p:cNvSpPr txBox="1"/>
          <p:nvPr/>
        </p:nvSpPr>
        <p:spPr>
          <a:xfrm>
            <a:off x="4846320" y="2834640"/>
            <a:ext cx="2514600" cy="1143000"/>
          </a:xfrm>
          <a:prstGeom prst="rect">
            <a:avLst/>
          </a:prstGeom>
          <a:noFill/>
          <a:ln/>
        </p:spPr>
        <p:txBody>
          <a:bodyPr wrap="square" lIns="0" tIns="0" rIns="0" bIns="0" rtlCol="0" anchor="t"/>
          <a:lstStyle/>
          <a:p>
            <a:pPr indent="0" marL="0">
              <a:buNone/>
            </a:pPr>
            <a:r>
              <a:rPr lang="en-US" sz="1400" dirty="0">
                <a:solidFill>
                  <a:schemeClr val="bg1"/>
                </a:solidFill>
              </a:rPr>
              <a:t>Her istekte yeniden hesaplanır. Durum sunucuda tek yerde tutulur; web ve mobil aynı sonucu görür.</a:t>
            </a:r>
            <a:endParaRPr lang="en-US" sz="1400" dirty="0"/>
          </a:p>
        </p:txBody>
      </p:sp>
      <p:sp>
        <p:nvSpPr>
          <p:cNvPr id="26" name="metin-73"/>
          <p:cNvSpPr txBox="1"/>
          <p:nvPr/>
        </p:nvSpPr>
        <p:spPr>
          <a:xfrm>
            <a:off x="4846320" y="4114800"/>
            <a:ext cx="2560320" cy="457200"/>
          </a:xfrm>
          <a:prstGeom prst="rect">
            <a:avLst/>
          </a:prstGeom>
          <a:noFill/>
          <a:ln/>
        </p:spPr>
        <p:txBody>
          <a:bodyPr wrap="square" lIns="0" tIns="0" rIns="0" bIns="0" rtlCol="0" anchor="t"/>
          <a:lstStyle/>
          <a:p>
            <a:pPr indent="0" marL="0">
              <a:buNone/>
            </a:pPr>
            <a:r>
              <a:rPr lang="en-US" sz="1200" dirty="0">
                <a:solidFill>
                  <a:srgbClr val="A9C2B8"/>
                </a:solidFill>
              </a:rPr>
              <a:t>Çıktı: GET /api/live-data · ≈ 6,8 KB JSON</a:t>
            </a:r>
            <a:endParaRPr lang="en-US" sz="1200" dirty="0"/>
          </a:p>
        </p:txBody>
      </p:sp>
      <p:sp>
        <p:nvSpPr>
          <p:cNvPr id="27" name="ok-74"/>
          <p:cNvSpPr/>
          <p:nvPr/>
        </p:nvSpPr>
        <p:spPr>
          <a:xfrm>
            <a:off x="7635240" y="1952244"/>
            <a:ext cx="758952" cy="0"/>
          </a:xfrm>
          <a:prstGeom prst="line">
            <a:avLst/>
          </a:prstGeom>
          <a:noFill/>
          <a:ln w="22225">
            <a:solidFill>
              <a:srgbClr val="0A7A5C"/>
            </a:solidFill>
            <a:prstDash val="solid"/>
            <a:tailEnd type="triangle"/>
          </a:ln>
        </p:spPr>
      </p:sp>
      <p:sp>
        <p:nvSpPr>
          <p:cNvPr id="28" name="kart-75"/>
          <p:cNvSpPr/>
          <p:nvPr/>
        </p:nvSpPr>
        <p:spPr>
          <a:xfrm>
            <a:off x="8439912" y="1600200"/>
            <a:ext cx="3200400" cy="704088"/>
          </a:xfrm>
          <a:prstGeom prst="roundRect">
            <a:avLst>
              <a:gd name="adj" fmla="val 15584"/>
            </a:avLst>
          </a:prstGeom>
          <a:solidFill>
            <a:schemeClr val="bg2"/>
          </a:solidFill>
          <a:ln/>
        </p:spPr>
      </p:sp>
      <p:sp>
        <p:nvSpPr>
          <p:cNvPr id="29" name="ikon-zemin-76"/>
          <p:cNvSpPr/>
          <p:nvPr/>
        </p:nvSpPr>
        <p:spPr>
          <a:xfrm>
            <a:off x="8595360" y="1746504"/>
            <a:ext cx="411480" cy="411480"/>
          </a:xfrm>
          <a:prstGeom prst="ellipse">
            <a:avLst/>
          </a:prstGeom>
          <a:solidFill>
            <a:schemeClr val="accent4"/>
          </a:solidFill>
          <a:ln/>
        </p:spPr>
      </p:sp>
      <p:pic>
        <p:nvPicPr>
          <p:cNvPr id="30" name="ikon-77" descr="preencoded.png">    </p:cNvPr>
          <p:cNvPicPr>
            <a:picLocks noChangeAspect="1"/>
          </p:cNvPicPr>
          <p:nvPr/>
        </p:nvPicPr>
        <p:blipFill>
          <a:blip r:embed="rId4"/>
          <a:stretch>
            <a:fillRect/>
          </a:stretch>
        </p:blipFill>
        <p:spPr>
          <a:xfrm>
            <a:off x="8685886" y="1837030"/>
            <a:ext cx="230429" cy="230429"/>
          </a:xfrm>
          <a:prstGeom prst="rect">
            <a:avLst/>
          </a:prstGeom>
        </p:spPr>
      </p:pic>
      <p:sp>
        <p:nvSpPr>
          <p:cNvPr id="31" name="metin-78"/>
          <p:cNvSpPr txBox="1"/>
          <p:nvPr/>
        </p:nvSpPr>
        <p:spPr>
          <a:xfrm>
            <a:off x="9144000" y="1600200"/>
            <a:ext cx="2423160" cy="704088"/>
          </a:xfrm>
          <a:prstGeom prst="rect">
            <a:avLst/>
          </a:prstGeom>
          <a:noFill/>
          <a:ln/>
        </p:spPr>
        <p:txBody>
          <a:bodyPr wrap="square" lIns="0" tIns="0" rIns="0" bIns="0" rtlCol="0" anchor="ctr"/>
          <a:lstStyle/>
          <a:p>
            <a:pPr indent="0" marL="0">
              <a:buNone/>
            </a:pPr>
            <a:r>
              <a:rPr lang="en-US" sz="1500" b="1" dirty="0">
                <a:solidFill>
                  <a:schemeClr val="tx1"/>
                </a:solidFill>
              </a:rPr>
              <a:t>Pompa kararı + gerekçe</a:t>
            </a:r>
            <a:endParaRPr lang="en-US" sz="1500" dirty="0"/>
          </a:p>
        </p:txBody>
      </p:sp>
      <p:sp>
        <p:nvSpPr>
          <p:cNvPr id="32" name="ok-79"/>
          <p:cNvSpPr/>
          <p:nvPr/>
        </p:nvSpPr>
        <p:spPr>
          <a:xfrm>
            <a:off x="7635240" y="2766060"/>
            <a:ext cx="758952" cy="0"/>
          </a:xfrm>
          <a:prstGeom prst="line">
            <a:avLst/>
          </a:prstGeom>
          <a:noFill/>
          <a:ln w="22225">
            <a:solidFill>
              <a:srgbClr val="0A7A5C"/>
            </a:solidFill>
            <a:prstDash val="solid"/>
            <a:tailEnd type="triangle"/>
          </a:ln>
        </p:spPr>
      </p:sp>
      <p:sp>
        <p:nvSpPr>
          <p:cNvPr id="33" name="kart-80"/>
          <p:cNvSpPr/>
          <p:nvPr/>
        </p:nvSpPr>
        <p:spPr>
          <a:xfrm>
            <a:off x="8439912" y="2414016"/>
            <a:ext cx="3200400" cy="704088"/>
          </a:xfrm>
          <a:prstGeom prst="roundRect">
            <a:avLst>
              <a:gd name="adj" fmla="val 15584"/>
            </a:avLst>
          </a:prstGeom>
          <a:solidFill>
            <a:schemeClr val="bg2"/>
          </a:solidFill>
          <a:ln/>
        </p:spPr>
      </p:sp>
      <p:sp>
        <p:nvSpPr>
          <p:cNvPr id="34" name="ikon-zemin-81"/>
          <p:cNvSpPr/>
          <p:nvPr/>
        </p:nvSpPr>
        <p:spPr>
          <a:xfrm>
            <a:off x="8595360" y="2560320"/>
            <a:ext cx="411480" cy="411480"/>
          </a:xfrm>
          <a:prstGeom prst="ellipse">
            <a:avLst/>
          </a:prstGeom>
          <a:solidFill>
            <a:schemeClr val="accent6"/>
          </a:solidFill>
          <a:ln/>
        </p:spPr>
      </p:sp>
      <p:pic>
        <p:nvPicPr>
          <p:cNvPr id="35" name="ikon-82" descr="preencoded.png">    </p:cNvPr>
          <p:cNvPicPr>
            <a:picLocks noChangeAspect="1"/>
          </p:cNvPicPr>
          <p:nvPr/>
        </p:nvPicPr>
        <p:blipFill>
          <a:blip r:embed="rId5"/>
          <a:stretch>
            <a:fillRect/>
          </a:stretch>
        </p:blipFill>
        <p:spPr>
          <a:xfrm>
            <a:off x="8685886" y="2650846"/>
            <a:ext cx="230429" cy="230429"/>
          </a:xfrm>
          <a:prstGeom prst="rect">
            <a:avLst/>
          </a:prstGeom>
        </p:spPr>
      </p:pic>
      <p:sp>
        <p:nvSpPr>
          <p:cNvPr id="36" name="metin-83"/>
          <p:cNvSpPr txBox="1"/>
          <p:nvPr/>
        </p:nvSpPr>
        <p:spPr>
          <a:xfrm>
            <a:off x="9144000" y="2414016"/>
            <a:ext cx="2423160" cy="704088"/>
          </a:xfrm>
          <a:prstGeom prst="rect">
            <a:avLst/>
          </a:prstGeom>
          <a:noFill/>
          <a:ln/>
        </p:spPr>
        <p:txBody>
          <a:bodyPr wrap="square" lIns="0" tIns="0" rIns="0" bIns="0" rtlCol="0" anchor="ctr"/>
          <a:lstStyle/>
          <a:p>
            <a:pPr indent="0" marL="0">
              <a:buNone/>
            </a:pPr>
            <a:r>
              <a:rPr lang="en-US" sz="1500" b="1" dirty="0">
                <a:solidFill>
                  <a:schemeClr val="tx1"/>
                </a:solidFill>
              </a:rPr>
              <a:t>Fertigasyon kilidi</a:t>
            </a:r>
            <a:endParaRPr lang="en-US" sz="1500" dirty="0"/>
          </a:p>
        </p:txBody>
      </p:sp>
      <p:sp>
        <p:nvSpPr>
          <p:cNvPr id="37" name="ok-84"/>
          <p:cNvSpPr/>
          <p:nvPr/>
        </p:nvSpPr>
        <p:spPr>
          <a:xfrm>
            <a:off x="7635240" y="3579876"/>
            <a:ext cx="758952" cy="0"/>
          </a:xfrm>
          <a:prstGeom prst="line">
            <a:avLst/>
          </a:prstGeom>
          <a:noFill/>
          <a:ln w="22225">
            <a:solidFill>
              <a:srgbClr val="0A7A5C"/>
            </a:solidFill>
            <a:prstDash val="solid"/>
            <a:tailEnd type="triangle"/>
          </a:ln>
        </p:spPr>
      </p:sp>
      <p:sp>
        <p:nvSpPr>
          <p:cNvPr id="38" name="kart-85"/>
          <p:cNvSpPr/>
          <p:nvPr/>
        </p:nvSpPr>
        <p:spPr>
          <a:xfrm>
            <a:off x="8439912" y="3227832"/>
            <a:ext cx="3200400" cy="704088"/>
          </a:xfrm>
          <a:prstGeom prst="roundRect">
            <a:avLst>
              <a:gd name="adj" fmla="val 15584"/>
            </a:avLst>
          </a:prstGeom>
          <a:solidFill>
            <a:schemeClr val="bg2"/>
          </a:solidFill>
          <a:ln/>
        </p:spPr>
      </p:sp>
      <p:sp>
        <p:nvSpPr>
          <p:cNvPr id="39" name="ikon-zemin-86"/>
          <p:cNvSpPr/>
          <p:nvPr/>
        </p:nvSpPr>
        <p:spPr>
          <a:xfrm>
            <a:off x="8595360" y="3374136"/>
            <a:ext cx="411480" cy="411480"/>
          </a:xfrm>
          <a:prstGeom prst="ellipse">
            <a:avLst/>
          </a:prstGeom>
          <a:solidFill>
            <a:schemeClr val="accent5"/>
          </a:solidFill>
          <a:ln/>
        </p:spPr>
      </p:sp>
      <p:pic>
        <p:nvPicPr>
          <p:cNvPr id="40" name="ikon-87" descr="preencoded.png">    </p:cNvPr>
          <p:cNvPicPr>
            <a:picLocks noChangeAspect="1"/>
          </p:cNvPicPr>
          <p:nvPr/>
        </p:nvPicPr>
        <p:blipFill>
          <a:blip r:embed="rId6"/>
          <a:stretch>
            <a:fillRect/>
          </a:stretch>
        </p:blipFill>
        <p:spPr>
          <a:xfrm>
            <a:off x="8685886" y="3464662"/>
            <a:ext cx="230429" cy="230429"/>
          </a:xfrm>
          <a:prstGeom prst="rect">
            <a:avLst/>
          </a:prstGeom>
        </p:spPr>
      </p:pic>
      <p:sp>
        <p:nvSpPr>
          <p:cNvPr id="41" name="metin-88"/>
          <p:cNvSpPr txBox="1"/>
          <p:nvPr/>
        </p:nvSpPr>
        <p:spPr>
          <a:xfrm>
            <a:off x="9144000" y="3227832"/>
            <a:ext cx="2423160" cy="704088"/>
          </a:xfrm>
          <a:prstGeom prst="rect">
            <a:avLst/>
          </a:prstGeom>
          <a:noFill/>
          <a:ln/>
        </p:spPr>
        <p:txBody>
          <a:bodyPr wrap="square" lIns="0" tIns="0" rIns="0" bIns="0" rtlCol="0" anchor="ctr"/>
          <a:lstStyle/>
          <a:p>
            <a:pPr indent="0" marL="0">
              <a:buNone/>
            </a:pPr>
            <a:r>
              <a:rPr lang="en-US" sz="1500" b="1" dirty="0">
                <a:solidFill>
                  <a:schemeClr val="tx1"/>
                </a:solidFill>
              </a:rPr>
              <a:t>Mantar hastalığı riski</a:t>
            </a:r>
            <a:endParaRPr lang="en-US" sz="1500" dirty="0"/>
          </a:p>
        </p:txBody>
      </p:sp>
      <p:sp>
        <p:nvSpPr>
          <p:cNvPr id="42" name="ok-89"/>
          <p:cNvSpPr/>
          <p:nvPr/>
        </p:nvSpPr>
        <p:spPr>
          <a:xfrm>
            <a:off x="7635240" y="4393692"/>
            <a:ext cx="758952" cy="0"/>
          </a:xfrm>
          <a:prstGeom prst="line">
            <a:avLst/>
          </a:prstGeom>
          <a:noFill/>
          <a:ln w="22225">
            <a:solidFill>
              <a:srgbClr val="0A7A5C"/>
            </a:solidFill>
            <a:prstDash val="solid"/>
            <a:tailEnd type="triangle"/>
          </a:ln>
        </p:spPr>
      </p:sp>
      <p:sp>
        <p:nvSpPr>
          <p:cNvPr id="43" name="kart-90"/>
          <p:cNvSpPr/>
          <p:nvPr/>
        </p:nvSpPr>
        <p:spPr>
          <a:xfrm>
            <a:off x="8439912" y="4041648"/>
            <a:ext cx="3200400" cy="704088"/>
          </a:xfrm>
          <a:prstGeom prst="roundRect">
            <a:avLst>
              <a:gd name="adj" fmla="val 15584"/>
            </a:avLst>
          </a:prstGeom>
          <a:solidFill>
            <a:schemeClr val="bg2"/>
          </a:solidFill>
          <a:ln/>
        </p:spPr>
      </p:sp>
      <p:sp>
        <p:nvSpPr>
          <p:cNvPr id="44" name="ikon-zemin-91"/>
          <p:cNvSpPr/>
          <p:nvPr/>
        </p:nvSpPr>
        <p:spPr>
          <a:xfrm>
            <a:off x="8595360" y="4187952"/>
            <a:ext cx="411480" cy="411480"/>
          </a:xfrm>
          <a:prstGeom prst="ellipse">
            <a:avLst/>
          </a:prstGeom>
          <a:solidFill>
            <a:schemeClr val="accent2"/>
          </a:solidFill>
          <a:ln/>
        </p:spPr>
      </p:sp>
      <p:pic>
        <p:nvPicPr>
          <p:cNvPr id="45" name="ikon-92" descr="preencoded.png">    </p:cNvPr>
          <p:cNvPicPr>
            <a:picLocks noChangeAspect="1"/>
          </p:cNvPicPr>
          <p:nvPr/>
        </p:nvPicPr>
        <p:blipFill>
          <a:blip r:embed="rId7"/>
          <a:stretch>
            <a:fillRect/>
          </a:stretch>
        </p:blipFill>
        <p:spPr>
          <a:xfrm>
            <a:off x="8685886" y="4278478"/>
            <a:ext cx="230429" cy="230429"/>
          </a:xfrm>
          <a:prstGeom prst="rect">
            <a:avLst/>
          </a:prstGeom>
        </p:spPr>
      </p:pic>
      <p:sp>
        <p:nvSpPr>
          <p:cNvPr id="46" name="metin-93"/>
          <p:cNvSpPr txBox="1"/>
          <p:nvPr/>
        </p:nvSpPr>
        <p:spPr>
          <a:xfrm>
            <a:off x="9144000" y="4041648"/>
            <a:ext cx="2423160" cy="704088"/>
          </a:xfrm>
          <a:prstGeom prst="rect">
            <a:avLst/>
          </a:prstGeom>
          <a:noFill/>
          <a:ln/>
        </p:spPr>
        <p:txBody>
          <a:bodyPr wrap="square" lIns="0" tIns="0" rIns="0" bIns="0" rtlCol="0" anchor="ctr"/>
          <a:lstStyle/>
          <a:p>
            <a:pPr indent="0" marL="0">
              <a:buNone/>
            </a:pPr>
            <a:r>
              <a:rPr lang="en-US" sz="1500" b="1" dirty="0">
                <a:solidFill>
                  <a:schemeClr val="tx1"/>
                </a:solidFill>
              </a:rPr>
              <a:t>Dönüm başı maliyet / kâr</a:t>
            </a:r>
            <a:endParaRPr lang="en-US" sz="1500" dirty="0"/>
          </a:p>
        </p:txBody>
      </p:sp>
      <p:sp>
        <p:nvSpPr>
          <p:cNvPr id="47" name="kart-94"/>
          <p:cNvSpPr/>
          <p:nvPr/>
        </p:nvSpPr>
        <p:spPr>
          <a:xfrm>
            <a:off x="548640" y="5029200"/>
            <a:ext cx="2601468" cy="1097280"/>
          </a:xfrm>
          <a:prstGeom prst="roundRect">
            <a:avLst>
              <a:gd name="adj" fmla="val 10000"/>
            </a:avLst>
          </a:prstGeom>
          <a:solidFill>
            <a:srgbClr val="D7F5EA"/>
          </a:solidFill>
          <a:ln/>
        </p:spPr>
      </p:sp>
      <p:sp>
        <p:nvSpPr>
          <p:cNvPr id="48" name="metin-95"/>
          <p:cNvSpPr txBox="1"/>
          <p:nvPr/>
        </p:nvSpPr>
        <p:spPr>
          <a:xfrm>
            <a:off x="777240" y="5120640"/>
            <a:ext cx="2194560" cy="548640"/>
          </a:xfrm>
          <a:prstGeom prst="rect">
            <a:avLst/>
          </a:prstGeom>
          <a:noFill/>
          <a:ln/>
        </p:spPr>
        <p:txBody>
          <a:bodyPr wrap="square" lIns="0" tIns="0" rIns="0" bIns="0" rtlCol="0" anchor="t"/>
          <a:lstStyle/>
          <a:p>
            <a:pPr indent="0" marL="0">
              <a:buNone/>
            </a:pPr>
            <a:r>
              <a:rPr lang="en-US" sz="3000" b="1" dirty="0">
                <a:solidFill>
                  <a:schemeClr val="accent2"/>
                </a:solidFill>
              </a:rPr>
              <a:t>2</a:t>
            </a:r>
            <a:endParaRPr lang="en-US" sz="3000" dirty="0"/>
          </a:p>
        </p:txBody>
      </p:sp>
      <p:sp>
        <p:nvSpPr>
          <p:cNvPr id="49" name="metin-96"/>
          <p:cNvSpPr txBox="1"/>
          <p:nvPr/>
        </p:nvSpPr>
        <p:spPr>
          <a:xfrm>
            <a:off x="777240" y="5669280"/>
            <a:ext cx="2194560" cy="320040"/>
          </a:xfrm>
          <a:prstGeom prst="rect">
            <a:avLst/>
          </a:prstGeom>
          <a:noFill/>
          <a:ln/>
        </p:spPr>
        <p:txBody>
          <a:bodyPr wrap="square" lIns="0" tIns="0" rIns="0" bIns="0" rtlCol="0" anchor="t"/>
          <a:lstStyle/>
          <a:p>
            <a:pPr indent="0" marL="0">
              <a:buNone/>
            </a:pPr>
            <a:r>
              <a:rPr lang="en-US" sz="1300" dirty="0">
                <a:solidFill>
                  <a:schemeClr val="tx1"/>
                </a:solidFill>
              </a:rPr>
              <a:t>istemci: web paneli + Android</a:t>
            </a:r>
            <a:endParaRPr lang="en-US" sz="1300" dirty="0"/>
          </a:p>
        </p:txBody>
      </p:sp>
      <p:sp>
        <p:nvSpPr>
          <p:cNvPr id="50" name="kart-97"/>
          <p:cNvSpPr/>
          <p:nvPr/>
        </p:nvSpPr>
        <p:spPr>
          <a:xfrm>
            <a:off x="3378708" y="5029200"/>
            <a:ext cx="2601468" cy="1097280"/>
          </a:xfrm>
          <a:prstGeom prst="roundRect">
            <a:avLst>
              <a:gd name="adj" fmla="val 10000"/>
            </a:avLst>
          </a:prstGeom>
          <a:solidFill>
            <a:srgbClr val="D7F5EA"/>
          </a:solidFill>
          <a:ln/>
        </p:spPr>
      </p:sp>
      <p:sp>
        <p:nvSpPr>
          <p:cNvPr id="51" name="metin-98"/>
          <p:cNvSpPr txBox="1"/>
          <p:nvPr/>
        </p:nvSpPr>
        <p:spPr>
          <a:xfrm>
            <a:off x="3607308" y="5120640"/>
            <a:ext cx="2194560" cy="548640"/>
          </a:xfrm>
          <a:prstGeom prst="rect">
            <a:avLst/>
          </a:prstGeom>
          <a:noFill/>
          <a:ln/>
        </p:spPr>
        <p:txBody>
          <a:bodyPr wrap="square" lIns="0" tIns="0" rIns="0" bIns="0" rtlCol="0" anchor="t"/>
          <a:lstStyle/>
          <a:p>
            <a:pPr indent="0" marL="0">
              <a:buNone/>
            </a:pPr>
            <a:r>
              <a:rPr lang="en-US" sz="3000" b="1" dirty="0">
                <a:solidFill>
                  <a:schemeClr val="accent2"/>
                </a:solidFill>
              </a:rPr>
              <a:t>8</a:t>
            </a:r>
            <a:endParaRPr lang="en-US" sz="3000" dirty="0"/>
          </a:p>
        </p:txBody>
      </p:sp>
      <p:sp>
        <p:nvSpPr>
          <p:cNvPr id="52" name="metin-99"/>
          <p:cNvSpPr txBox="1"/>
          <p:nvPr/>
        </p:nvSpPr>
        <p:spPr>
          <a:xfrm>
            <a:off x="3607308" y="5669280"/>
            <a:ext cx="2194560" cy="320040"/>
          </a:xfrm>
          <a:prstGeom prst="rect">
            <a:avLst/>
          </a:prstGeom>
          <a:noFill/>
          <a:ln/>
        </p:spPr>
        <p:txBody>
          <a:bodyPr wrap="square" lIns="0" tIns="0" rIns="0" bIns="0" rtlCol="0" anchor="t"/>
          <a:lstStyle/>
          <a:p>
            <a:pPr indent="0" marL="0">
              <a:buNone/>
            </a:pPr>
            <a:r>
              <a:rPr lang="en-US" sz="1300" dirty="0">
                <a:solidFill>
                  <a:schemeClr val="tx1"/>
                </a:solidFill>
              </a:rPr>
              <a:t>REST uç noktası</a:t>
            </a:r>
            <a:endParaRPr lang="en-US" sz="1300" dirty="0"/>
          </a:p>
        </p:txBody>
      </p:sp>
      <p:sp>
        <p:nvSpPr>
          <p:cNvPr id="53" name="kart-100"/>
          <p:cNvSpPr/>
          <p:nvPr/>
        </p:nvSpPr>
        <p:spPr>
          <a:xfrm>
            <a:off x="6208776" y="5029200"/>
            <a:ext cx="2601468" cy="1097280"/>
          </a:xfrm>
          <a:prstGeom prst="roundRect">
            <a:avLst>
              <a:gd name="adj" fmla="val 10000"/>
            </a:avLst>
          </a:prstGeom>
          <a:solidFill>
            <a:srgbClr val="D7F5EA"/>
          </a:solidFill>
          <a:ln/>
        </p:spPr>
      </p:sp>
      <p:sp>
        <p:nvSpPr>
          <p:cNvPr id="54" name="metin-101"/>
          <p:cNvSpPr txBox="1"/>
          <p:nvPr/>
        </p:nvSpPr>
        <p:spPr>
          <a:xfrm>
            <a:off x="6437376" y="5120640"/>
            <a:ext cx="2194560" cy="548640"/>
          </a:xfrm>
          <a:prstGeom prst="rect">
            <a:avLst/>
          </a:prstGeom>
          <a:noFill/>
          <a:ln/>
        </p:spPr>
        <p:txBody>
          <a:bodyPr wrap="square" lIns="0" tIns="0" rIns="0" bIns="0" rtlCol="0" anchor="t"/>
          <a:lstStyle/>
          <a:p>
            <a:pPr indent="0" marL="0">
              <a:buNone/>
            </a:pPr>
            <a:r>
              <a:rPr lang="en-US" sz="3000" b="1" dirty="0">
                <a:solidFill>
                  <a:schemeClr val="accent2"/>
                </a:solidFill>
              </a:rPr>
              <a:t>3 tarla</a:t>
            </a:r>
            <a:endParaRPr lang="en-US" sz="3000" dirty="0"/>
          </a:p>
        </p:txBody>
      </p:sp>
      <p:sp>
        <p:nvSpPr>
          <p:cNvPr id="55" name="metin-102"/>
          <p:cNvSpPr txBox="1"/>
          <p:nvPr/>
        </p:nvSpPr>
        <p:spPr>
          <a:xfrm>
            <a:off x="6437376" y="5669280"/>
            <a:ext cx="2194560" cy="320040"/>
          </a:xfrm>
          <a:prstGeom prst="rect">
            <a:avLst/>
          </a:prstGeom>
          <a:noFill/>
          <a:ln/>
        </p:spPr>
        <p:txBody>
          <a:bodyPr wrap="square" lIns="0" tIns="0" rIns="0" bIns="0" rtlCol="0" anchor="t"/>
          <a:lstStyle/>
          <a:p>
            <a:pPr indent="0" marL="0">
              <a:buNone/>
            </a:pPr>
            <a:r>
              <a:rPr lang="en-US" sz="1300" dirty="0">
                <a:solidFill>
                  <a:schemeClr val="tx1"/>
                </a:solidFill>
              </a:rPr>
              <a:t>185 dönüm, tarla bazlı kayıt</a:t>
            </a:r>
            <a:endParaRPr lang="en-US" sz="1300" dirty="0"/>
          </a:p>
        </p:txBody>
      </p:sp>
      <p:sp>
        <p:nvSpPr>
          <p:cNvPr id="56" name="kart-103"/>
          <p:cNvSpPr/>
          <p:nvPr/>
        </p:nvSpPr>
        <p:spPr>
          <a:xfrm>
            <a:off x="9038844" y="5029200"/>
            <a:ext cx="2601468" cy="1097280"/>
          </a:xfrm>
          <a:prstGeom prst="roundRect">
            <a:avLst>
              <a:gd name="adj" fmla="val 10000"/>
            </a:avLst>
          </a:prstGeom>
          <a:solidFill>
            <a:srgbClr val="D7F5EA"/>
          </a:solidFill>
          <a:ln/>
        </p:spPr>
      </p:sp>
      <p:sp>
        <p:nvSpPr>
          <p:cNvPr id="57" name="metin-104"/>
          <p:cNvSpPr txBox="1"/>
          <p:nvPr/>
        </p:nvSpPr>
        <p:spPr>
          <a:xfrm>
            <a:off x="9267444" y="5120640"/>
            <a:ext cx="2194560" cy="548640"/>
          </a:xfrm>
          <a:prstGeom prst="rect">
            <a:avLst/>
          </a:prstGeom>
          <a:noFill/>
          <a:ln/>
        </p:spPr>
        <p:txBody>
          <a:bodyPr wrap="square" lIns="0" tIns="0" rIns="0" bIns="0" rtlCol="0" anchor="t"/>
          <a:lstStyle/>
          <a:p>
            <a:pPr indent="0" marL="0">
              <a:buNone/>
            </a:pPr>
            <a:r>
              <a:rPr lang="en-US" sz="3000" b="1" dirty="0">
                <a:solidFill>
                  <a:schemeClr val="accent2"/>
                </a:solidFill>
              </a:rPr>
              <a:t>15 sn</a:t>
            </a:r>
            <a:endParaRPr lang="en-US" sz="3000" dirty="0"/>
          </a:p>
        </p:txBody>
      </p:sp>
      <p:sp>
        <p:nvSpPr>
          <p:cNvPr id="58" name="metin-105"/>
          <p:cNvSpPr txBox="1"/>
          <p:nvPr/>
        </p:nvSpPr>
        <p:spPr>
          <a:xfrm>
            <a:off x="9267444" y="5669280"/>
            <a:ext cx="2194560" cy="320040"/>
          </a:xfrm>
          <a:prstGeom prst="rect">
            <a:avLst/>
          </a:prstGeom>
          <a:noFill/>
          <a:ln/>
        </p:spPr>
        <p:txBody>
          <a:bodyPr wrap="square" lIns="0" tIns="0" rIns="0" bIns="0" rtlCol="0" anchor="t"/>
          <a:lstStyle/>
          <a:p>
            <a:pPr indent="0" marL="0">
              <a:buNone/>
            </a:pPr>
            <a:r>
              <a:rPr lang="en-US" sz="1300" dirty="0">
                <a:solidFill>
                  <a:schemeClr val="tx1"/>
                </a:solidFill>
              </a:rPr>
              <a:t>mobilde canlı yenileme</a:t>
            </a:r>
            <a:endParaRPr lang="en-US" sz="13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B6B6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8229600" cy="274320"/>
          </a:xfrm>
          <a:prstGeom prst="rect">
            <a:avLst/>
          </a:prstGeom>
          <a:noFill/>
          <a:ln/>
        </p:spPr>
        <p:txBody>
          <a:bodyPr wrap="square" lIns="0" tIns="0" rIns="0" bIns="0" rtlCol="0" anchor="t"/>
          <a:lstStyle/>
          <a:p>
            <a:pPr indent="0" marL="0">
              <a:buNone/>
            </a:pPr>
            <a:r>
              <a:rPr lang="en-US" sz="1200" b="1" spc="150" kern="0" dirty="0">
                <a:solidFill>
                  <a:schemeClr val="accent2"/>
                </a:solidFill>
              </a:rPr>
              <a:t>MİMARİ</a:t>
            </a:r>
            <a:endParaRPr lang="en-US" sz="1200" dirty="0"/>
          </a:p>
        </p:txBody>
      </p:sp>
      <p:sp>
        <p:nvSpPr>
          <p:cNvPr id="3" name="Text 0"/>
          <p:cNvSpPr/>
          <p:nvPr>
            <p:ph idx="101" type="title" hasCustomPrompt="1"/>
          </p:nvPr>
        </p:nvSpPr>
        <p:spPr>
          <a:xfrm>
            <a:off x="548640" y="621792"/>
            <a:ext cx="11091672" cy="731520"/>
          </a:xfrm>
          <a:prstGeom prst="rect">
            <a:avLst/>
          </a:prstGeom>
          <a:noFill/>
          <a:ln/>
        </p:spPr>
        <p:txBody>
          <a:bodyPr wrap="square" lIns="0" tIns="0" rIns="0" bIns="0" rtlCol="0" anchor="t"/>
          <a:lstStyle/>
          <a:p>
            <a:pPr algn="l" indent="0" marL="0">
              <a:buNone/>
            </a:pPr>
            <a:r>
              <a:rPr lang="en-US" sz="3000" b="1" dirty="0">
                <a:solidFill>
                  <a:schemeClr val="tx1"/>
                </a:solidFill>
              </a:rPr>
              <a:t>İstemci–sunucu mimarisi: tüm hesaplama tek yerde</a:t>
            </a:r>
            <a:endParaRPr lang="en-US" sz="3000" dirty="0"/>
          </a:p>
        </p:txBody>
      </p:sp>
      <p:sp>
        <p:nvSpPr>
          <p:cNvPr id="4" name="metin-106"/>
          <p:cNvSpPr txBox="1"/>
          <p:nvPr/>
        </p:nvSpPr>
        <p:spPr>
          <a:xfrm>
            <a:off x="548640" y="1554480"/>
            <a:ext cx="3017520" cy="274320"/>
          </a:xfrm>
          <a:prstGeom prst="rect">
            <a:avLst/>
          </a:prstGeom>
          <a:noFill/>
          <a:ln/>
        </p:spPr>
        <p:txBody>
          <a:bodyPr wrap="square" lIns="0" tIns="0" rIns="0" bIns="0" rtlCol="0" anchor="t"/>
          <a:lstStyle/>
          <a:p>
            <a:pPr indent="0" marL="0">
              <a:buNone/>
            </a:pPr>
            <a:r>
              <a:rPr lang="en-US" sz="1200" b="1" spc="100" kern="0" dirty="0">
                <a:solidFill>
                  <a:schemeClr val="tx2"/>
                </a:solidFill>
              </a:rPr>
              <a:t>VERİ KAYNAKLARI</a:t>
            </a:r>
            <a:endParaRPr lang="en-US" sz="1200" dirty="0"/>
          </a:p>
        </p:txBody>
      </p:sp>
      <p:sp>
        <p:nvSpPr>
          <p:cNvPr id="5" name="metin-107"/>
          <p:cNvSpPr txBox="1"/>
          <p:nvPr/>
        </p:nvSpPr>
        <p:spPr>
          <a:xfrm>
            <a:off x="4069080" y="1554480"/>
            <a:ext cx="4069080" cy="274320"/>
          </a:xfrm>
          <a:prstGeom prst="rect">
            <a:avLst/>
          </a:prstGeom>
          <a:noFill/>
          <a:ln/>
        </p:spPr>
        <p:txBody>
          <a:bodyPr wrap="square" lIns="0" tIns="0" rIns="0" bIns="0" rtlCol="0" anchor="t"/>
          <a:lstStyle/>
          <a:p>
            <a:pPr indent="0" marL="0">
              <a:buNone/>
            </a:pPr>
            <a:r>
              <a:rPr lang="en-US" sz="1200" b="1" spc="100" kern="0" dirty="0">
                <a:solidFill>
                  <a:schemeClr val="tx2"/>
                </a:solidFill>
              </a:rPr>
              <a:t>SUNUCU · FLASK (PYTHON)</a:t>
            </a:r>
            <a:endParaRPr lang="en-US" sz="1200" dirty="0"/>
          </a:p>
        </p:txBody>
      </p:sp>
      <p:sp>
        <p:nvSpPr>
          <p:cNvPr id="6" name="metin-108"/>
          <p:cNvSpPr txBox="1"/>
          <p:nvPr/>
        </p:nvSpPr>
        <p:spPr>
          <a:xfrm>
            <a:off x="8622792" y="1554480"/>
            <a:ext cx="3017520" cy="274320"/>
          </a:xfrm>
          <a:prstGeom prst="rect">
            <a:avLst/>
          </a:prstGeom>
          <a:noFill/>
          <a:ln/>
        </p:spPr>
        <p:txBody>
          <a:bodyPr wrap="square" lIns="0" tIns="0" rIns="0" bIns="0" rtlCol="0" anchor="t"/>
          <a:lstStyle/>
          <a:p>
            <a:pPr indent="0" marL="0">
              <a:buNone/>
            </a:pPr>
            <a:r>
              <a:rPr lang="en-US" sz="1200" b="1" spc="100" kern="0" dirty="0">
                <a:solidFill>
                  <a:schemeClr val="tx2"/>
                </a:solidFill>
              </a:rPr>
              <a:t>İSTEMCİLER</a:t>
            </a:r>
            <a:endParaRPr lang="en-US" sz="1200" dirty="0"/>
          </a:p>
        </p:txBody>
      </p:sp>
      <p:sp>
        <p:nvSpPr>
          <p:cNvPr id="7" name="kart-109"/>
          <p:cNvSpPr/>
          <p:nvPr/>
        </p:nvSpPr>
        <p:spPr>
          <a:xfrm>
            <a:off x="548640" y="1920240"/>
            <a:ext cx="3017520" cy="1051560"/>
          </a:xfrm>
          <a:prstGeom prst="roundRect">
            <a:avLst>
              <a:gd name="adj" fmla="val 10435"/>
            </a:avLst>
          </a:prstGeom>
          <a:solidFill>
            <a:srgbClr val="DDEBF8"/>
          </a:solidFill>
          <a:ln/>
        </p:spPr>
      </p:sp>
      <p:sp>
        <p:nvSpPr>
          <p:cNvPr id="8" name="metin-110"/>
          <p:cNvSpPr txBox="1"/>
          <p:nvPr/>
        </p:nvSpPr>
        <p:spPr>
          <a:xfrm>
            <a:off x="731520" y="2039112"/>
            <a:ext cx="2697480" cy="292608"/>
          </a:xfrm>
          <a:prstGeom prst="rect">
            <a:avLst/>
          </a:prstGeom>
          <a:noFill/>
          <a:ln/>
        </p:spPr>
        <p:txBody>
          <a:bodyPr wrap="square" lIns="0" tIns="0" rIns="0" bIns="0" rtlCol="0" anchor="t"/>
          <a:lstStyle/>
          <a:p>
            <a:pPr indent="0" marL="0">
              <a:buNone/>
            </a:pPr>
            <a:r>
              <a:rPr lang="en-US" sz="1500" b="1" dirty="0">
                <a:solidFill>
                  <a:schemeClr val="tx1"/>
                </a:solidFill>
              </a:rPr>
              <a:t>Open-Meteo Geocoding</a:t>
            </a:r>
            <a:endParaRPr lang="en-US" sz="1500" dirty="0"/>
          </a:p>
        </p:txBody>
      </p:sp>
      <p:sp>
        <p:nvSpPr>
          <p:cNvPr id="9" name="metin-111"/>
          <p:cNvSpPr txBox="1"/>
          <p:nvPr/>
        </p:nvSpPr>
        <p:spPr>
          <a:xfrm>
            <a:off x="731520" y="2350008"/>
            <a:ext cx="2697480" cy="566928"/>
          </a:xfrm>
          <a:prstGeom prst="rect">
            <a:avLst/>
          </a:prstGeom>
          <a:noFill/>
          <a:ln/>
        </p:spPr>
        <p:txBody>
          <a:bodyPr wrap="square" lIns="0" tIns="0" rIns="0" bIns="0" rtlCol="0" anchor="t"/>
          <a:lstStyle/>
          <a:p>
            <a:pPr indent="0" marL="0">
              <a:buNone/>
            </a:pPr>
            <a:r>
              <a:rPr lang="en-US" sz="1200" dirty="0">
                <a:solidFill>
                  <a:schemeClr val="tx2"/>
                </a:solidFill>
              </a:rPr>
              <a:t>Şehir adı → enlem / boylam</a:t>
            </a:r>
            <a:endParaRPr lang="en-US" sz="1200" dirty="0"/>
          </a:p>
        </p:txBody>
      </p:sp>
      <p:sp>
        <p:nvSpPr>
          <p:cNvPr id="10" name="kart-112"/>
          <p:cNvSpPr/>
          <p:nvPr/>
        </p:nvSpPr>
        <p:spPr>
          <a:xfrm>
            <a:off x="548640" y="3127248"/>
            <a:ext cx="3017520" cy="1051560"/>
          </a:xfrm>
          <a:prstGeom prst="roundRect">
            <a:avLst>
              <a:gd name="adj" fmla="val 10435"/>
            </a:avLst>
          </a:prstGeom>
          <a:solidFill>
            <a:srgbClr val="DDEBF8"/>
          </a:solidFill>
          <a:ln/>
        </p:spPr>
      </p:sp>
      <p:sp>
        <p:nvSpPr>
          <p:cNvPr id="11" name="metin-113"/>
          <p:cNvSpPr txBox="1"/>
          <p:nvPr/>
        </p:nvSpPr>
        <p:spPr>
          <a:xfrm>
            <a:off x="731520" y="3246120"/>
            <a:ext cx="2697480" cy="292608"/>
          </a:xfrm>
          <a:prstGeom prst="rect">
            <a:avLst/>
          </a:prstGeom>
          <a:noFill/>
          <a:ln/>
        </p:spPr>
        <p:txBody>
          <a:bodyPr wrap="square" lIns="0" tIns="0" rIns="0" bIns="0" rtlCol="0" anchor="t"/>
          <a:lstStyle/>
          <a:p>
            <a:pPr indent="0" marL="0">
              <a:buNone/>
            </a:pPr>
            <a:r>
              <a:rPr lang="en-US" sz="1500" b="1" dirty="0">
                <a:solidFill>
                  <a:schemeClr val="tx1"/>
                </a:solidFill>
              </a:rPr>
              <a:t>Open-Meteo Forecast</a:t>
            </a:r>
            <a:endParaRPr lang="en-US" sz="1500" dirty="0"/>
          </a:p>
        </p:txBody>
      </p:sp>
      <p:sp>
        <p:nvSpPr>
          <p:cNvPr id="12" name="metin-114"/>
          <p:cNvSpPr txBox="1"/>
          <p:nvPr/>
        </p:nvSpPr>
        <p:spPr>
          <a:xfrm>
            <a:off x="731520" y="3557016"/>
            <a:ext cx="2697480" cy="566928"/>
          </a:xfrm>
          <a:prstGeom prst="rect">
            <a:avLst/>
          </a:prstGeom>
          <a:noFill/>
          <a:ln/>
        </p:spPr>
        <p:txBody>
          <a:bodyPr wrap="square" lIns="0" tIns="0" rIns="0" bIns="0" rtlCol="0" anchor="t"/>
          <a:lstStyle/>
          <a:p>
            <a:pPr indent="0" marL="0">
              <a:buNone/>
            </a:pPr>
            <a:r>
              <a:rPr lang="en-US" sz="1200" dirty="0">
                <a:solidFill>
                  <a:schemeClr val="tx2"/>
                </a:solidFill>
              </a:rPr>
              <a:t>Günlük Tmax, Tmin, yağış, nem · 14 gün geçmiş + 16 gün tahmin</a:t>
            </a:r>
            <a:endParaRPr lang="en-US" sz="1200" dirty="0"/>
          </a:p>
        </p:txBody>
      </p:sp>
      <p:sp>
        <p:nvSpPr>
          <p:cNvPr id="13" name="kart-115"/>
          <p:cNvSpPr/>
          <p:nvPr/>
        </p:nvSpPr>
        <p:spPr>
          <a:xfrm>
            <a:off x="548640" y="4334256"/>
            <a:ext cx="3017520" cy="1051560"/>
          </a:xfrm>
          <a:prstGeom prst="roundRect">
            <a:avLst>
              <a:gd name="adj" fmla="val 10435"/>
            </a:avLst>
          </a:prstGeom>
          <a:solidFill>
            <a:srgbClr val="EEF4F1"/>
          </a:solidFill>
          <a:ln/>
        </p:spPr>
      </p:sp>
      <p:sp>
        <p:nvSpPr>
          <p:cNvPr id="14" name="metin-116"/>
          <p:cNvSpPr txBox="1"/>
          <p:nvPr/>
        </p:nvSpPr>
        <p:spPr>
          <a:xfrm>
            <a:off x="731520" y="4453128"/>
            <a:ext cx="2697480" cy="292608"/>
          </a:xfrm>
          <a:prstGeom prst="rect">
            <a:avLst/>
          </a:prstGeom>
          <a:noFill/>
          <a:ln/>
        </p:spPr>
        <p:txBody>
          <a:bodyPr wrap="square" lIns="0" tIns="0" rIns="0" bIns="0" rtlCol="0" anchor="t"/>
          <a:lstStyle/>
          <a:p>
            <a:pPr indent="0" marL="0">
              <a:buNone/>
            </a:pPr>
            <a:r>
              <a:rPr lang="en-US" sz="1500" b="1" dirty="0">
                <a:solidFill>
                  <a:schemeClr val="tx1"/>
                </a:solidFill>
              </a:rPr>
              <a:t>Yedek: simülasyon</a:t>
            </a:r>
            <a:endParaRPr lang="en-US" sz="1500" dirty="0"/>
          </a:p>
        </p:txBody>
      </p:sp>
      <p:sp>
        <p:nvSpPr>
          <p:cNvPr id="15" name="metin-117"/>
          <p:cNvSpPr txBox="1"/>
          <p:nvPr/>
        </p:nvSpPr>
        <p:spPr>
          <a:xfrm>
            <a:off x="731520" y="4764024"/>
            <a:ext cx="2697480" cy="566928"/>
          </a:xfrm>
          <a:prstGeom prst="rect">
            <a:avLst/>
          </a:prstGeom>
          <a:noFill/>
          <a:ln/>
        </p:spPr>
        <p:txBody>
          <a:bodyPr wrap="square" lIns="0" tIns="0" rIns="0" bIns="0" rtlCol="0" anchor="t"/>
          <a:lstStyle/>
          <a:p>
            <a:pPr indent="0" marL="0">
              <a:buNone/>
            </a:pPr>
            <a:r>
              <a:rPr lang="en-US" sz="1200" dirty="0">
                <a:solidFill>
                  <a:schemeClr val="tx2"/>
                </a:solidFill>
              </a:rPr>
              <a:t>Ağ yoksa tarih + şehir tohumlu, tekrarlanabilir veri</a:t>
            </a:r>
            <a:endParaRPr lang="en-US" sz="1200" dirty="0"/>
          </a:p>
        </p:txBody>
      </p:sp>
      <p:sp>
        <p:nvSpPr>
          <p:cNvPr id="16" name="ok-118"/>
          <p:cNvSpPr/>
          <p:nvPr/>
        </p:nvSpPr>
        <p:spPr>
          <a:xfrm>
            <a:off x="3611880" y="3291840"/>
            <a:ext cx="411480" cy="0"/>
          </a:xfrm>
          <a:prstGeom prst="line">
            <a:avLst/>
          </a:prstGeom>
          <a:noFill/>
          <a:ln w="22225">
            <a:solidFill>
              <a:srgbClr val="0A7A5C"/>
            </a:solidFill>
            <a:prstDash val="solid"/>
            <a:tailEnd type="triangle"/>
          </a:ln>
        </p:spPr>
      </p:sp>
      <p:sp>
        <p:nvSpPr>
          <p:cNvPr id="17" name="metin-119"/>
          <p:cNvSpPr txBox="1"/>
          <p:nvPr/>
        </p:nvSpPr>
        <p:spPr>
          <a:xfrm>
            <a:off x="3566160" y="2999232"/>
            <a:ext cx="502920" cy="228600"/>
          </a:xfrm>
          <a:prstGeom prst="rect">
            <a:avLst/>
          </a:prstGeom>
          <a:noFill/>
          <a:ln/>
        </p:spPr>
        <p:txBody>
          <a:bodyPr wrap="square" lIns="0" tIns="0" rIns="0" bIns="0" rtlCol="0" anchor="t"/>
          <a:lstStyle/>
          <a:p>
            <a:pPr algn="ctr" indent="0" marL="0">
              <a:buNone/>
            </a:pPr>
            <a:r>
              <a:rPr lang="en-US" sz="1000" dirty="0">
                <a:solidFill>
                  <a:schemeClr val="tx2"/>
                </a:solidFill>
              </a:rPr>
              <a:t>JSON</a:t>
            </a:r>
            <a:endParaRPr lang="en-US" sz="1000" dirty="0"/>
          </a:p>
        </p:txBody>
      </p:sp>
      <p:sp>
        <p:nvSpPr>
          <p:cNvPr id="18" name="kart-120"/>
          <p:cNvSpPr/>
          <p:nvPr/>
        </p:nvSpPr>
        <p:spPr>
          <a:xfrm>
            <a:off x="4069080" y="1920240"/>
            <a:ext cx="4069080" cy="3611880"/>
          </a:xfrm>
          <a:prstGeom prst="roundRect">
            <a:avLst>
              <a:gd name="adj" fmla="val 3038"/>
            </a:avLst>
          </a:prstGeom>
          <a:solidFill>
            <a:schemeClr val="tx1"/>
          </a:solidFill>
          <a:ln/>
        </p:spPr>
      </p:sp>
      <p:sp>
        <p:nvSpPr>
          <p:cNvPr id="19" name="kart-121"/>
          <p:cNvSpPr/>
          <p:nvPr/>
        </p:nvSpPr>
        <p:spPr>
          <a:xfrm>
            <a:off x="4206240" y="2057400"/>
            <a:ext cx="3794760" cy="731520"/>
          </a:xfrm>
          <a:prstGeom prst="roundRect">
            <a:avLst>
              <a:gd name="adj" fmla="val 15000"/>
            </a:avLst>
          </a:prstGeom>
          <a:solidFill>
            <a:srgbClr val="24312C"/>
          </a:solidFill>
          <a:ln/>
        </p:spPr>
      </p:sp>
      <p:sp>
        <p:nvSpPr>
          <p:cNvPr id="20" name="metin-122"/>
          <p:cNvSpPr txBox="1"/>
          <p:nvPr/>
        </p:nvSpPr>
        <p:spPr>
          <a:xfrm>
            <a:off x="4370832" y="2148840"/>
            <a:ext cx="3520440" cy="274320"/>
          </a:xfrm>
          <a:prstGeom prst="rect">
            <a:avLst/>
          </a:prstGeom>
          <a:noFill/>
          <a:ln/>
        </p:spPr>
        <p:txBody>
          <a:bodyPr wrap="square" lIns="0" tIns="0" rIns="0" bIns="0" rtlCol="0" anchor="t"/>
          <a:lstStyle/>
          <a:p>
            <a:pPr indent="0" marL="0">
              <a:buNone/>
            </a:pPr>
            <a:r>
              <a:rPr lang="en-US" sz="1300" b="1" dirty="0">
                <a:solidFill>
                  <a:schemeClr val="accent1"/>
                </a:solidFill>
                <a:latin typeface="Courier New" pitchFamily="34" charset="0"/>
                <a:ea typeface="Courier New" pitchFamily="34" charset="-122"/>
                <a:cs typeface="Courier New" pitchFamily="34" charset="-120"/>
              </a:rPr>
              <a:t>API_CACHE</a:t>
            </a:r>
            <a:endParaRPr lang="en-US" sz="1300" dirty="0"/>
          </a:p>
        </p:txBody>
      </p:sp>
      <p:sp>
        <p:nvSpPr>
          <p:cNvPr id="21" name="metin-123"/>
          <p:cNvSpPr txBox="1"/>
          <p:nvPr/>
        </p:nvSpPr>
        <p:spPr>
          <a:xfrm>
            <a:off x="4370832" y="2441448"/>
            <a:ext cx="3520440" cy="274320"/>
          </a:xfrm>
          <a:prstGeom prst="rect">
            <a:avLst/>
          </a:prstGeom>
          <a:noFill/>
          <a:ln/>
        </p:spPr>
        <p:txBody>
          <a:bodyPr wrap="square" lIns="0" tIns="0" rIns="0" bIns="0" rtlCol="0" anchor="t"/>
          <a:lstStyle/>
          <a:p>
            <a:pPr indent="0" marL="0">
              <a:buNone/>
            </a:pPr>
            <a:r>
              <a:rPr lang="en-US" sz="1200" dirty="0">
                <a:solidFill>
                  <a:schemeClr val="bg1"/>
                </a:solidFill>
              </a:rPr>
              <a:t>Şehir başına tek API çağrısı, bellek önbelleği</a:t>
            </a:r>
            <a:endParaRPr lang="en-US" sz="1200" dirty="0"/>
          </a:p>
        </p:txBody>
      </p:sp>
      <p:sp>
        <p:nvSpPr>
          <p:cNvPr id="22" name="kart-124"/>
          <p:cNvSpPr/>
          <p:nvPr/>
        </p:nvSpPr>
        <p:spPr>
          <a:xfrm>
            <a:off x="4206240" y="2907792"/>
            <a:ext cx="3794760" cy="731520"/>
          </a:xfrm>
          <a:prstGeom prst="roundRect">
            <a:avLst>
              <a:gd name="adj" fmla="val 15000"/>
            </a:avLst>
          </a:prstGeom>
          <a:solidFill>
            <a:srgbClr val="24312C"/>
          </a:solidFill>
          <a:ln/>
        </p:spPr>
      </p:sp>
      <p:sp>
        <p:nvSpPr>
          <p:cNvPr id="23" name="metin-125"/>
          <p:cNvSpPr txBox="1"/>
          <p:nvPr/>
        </p:nvSpPr>
        <p:spPr>
          <a:xfrm>
            <a:off x="4370832" y="2999232"/>
            <a:ext cx="3520440" cy="274320"/>
          </a:xfrm>
          <a:prstGeom prst="rect">
            <a:avLst/>
          </a:prstGeom>
          <a:noFill/>
          <a:ln/>
        </p:spPr>
        <p:txBody>
          <a:bodyPr wrap="square" lIns="0" tIns="0" rIns="0" bIns="0" rtlCol="0" anchor="t"/>
          <a:lstStyle/>
          <a:p>
            <a:pPr indent="0" marL="0">
              <a:buNone/>
            </a:pPr>
            <a:r>
              <a:rPr lang="en-US" sz="1300" b="1" dirty="0">
                <a:solidFill>
                  <a:schemeClr val="accent1"/>
                </a:solidFill>
                <a:latin typeface="Courier New" pitchFamily="34" charset="0"/>
                <a:ea typeface="Courier New" pitchFamily="34" charset="-122"/>
                <a:cs typeface="Courier New" pitchFamily="34" charset="-120"/>
              </a:rPr>
              <a:t>evaluate_system_logic()</a:t>
            </a:r>
            <a:endParaRPr lang="en-US" sz="1300" dirty="0"/>
          </a:p>
        </p:txBody>
      </p:sp>
      <p:sp>
        <p:nvSpPr>
          <p:cNvPr id="24" name="metin-126"/>
          <p:cNvSpPr txBox="1"/>
          <p:nvPr/>
        </p:nvSpPr>
        <p:spPr>
          <a:xfrm>
            <a:off x="4370832" y="3291840"/>
            <a:ext cx="3520440" cy="274320"/>
          </a:xfrm>
          <a:prstGeom prst="rect">
            <a:avLst/>
          </a:prstGeom>
          <a:noFill/>
          <a:ln/>
        </p:spPr>
        <p:txBody>
          <a:bodyPr wrap="square" lIns="0" tIns="0" rIns="0" bIns="0" rtlCol="0" anchor="t"/>
          <a:lstStyle/>
          <a:p>
            <a:pPr indent="0" marL="0">
              <a:buNone/>
            </a:pPr>
            <a:r>
              <a:rPr lang="en-US" sz="1200" dirty="0">
                <a:solidFill>
                  <a:schemeClr val="bg1"/>
                </a:solidFill>
              </a:rPr>
              <a:t>Hava → karar, tahmin, takvim, muhasebe</a:t>
            </a:r>
            <a:endParaRPr lang="en-US" sz="1200" dirty="0"/>
          </a:p>
        </p:txBody>
      </p:sp>
      <p:sp>
        <p:nvSpPr>
          <p:cNvPr id="25" name="kart-127"/>
          <p:cNvSpPr/>
          <p:nvPr/>
        </p:nvSpPr>
        <p:spPr>
          <a:xfrm>
            <a:off x="4206240" y="3758184"/>
            <a:ext cx="3794760" cy="731520"/>
          </a:xfrm>
          <a:prstGeom prst="roundRect">
            <a:avLst>
              <a:gd name="adj" fmla="val 15000"/>
            </a:avLst>
          </a:prstGeom>
          <a:solidFill>
            <a:srgbClr val="24312C"/>
          </a:solidFill>
          <a:ln/>
        </p:spPr>
      </p:sp>
      <p:sp>
        <p:nvSpPr>
          <p:cNvPr id="26" name="metin-128"/>
          <p:cNvSpPr txBox="1"/>
          <p:nvPr/>
        </p:nvSpPr>
        <p:spPr>
          <a:xfrm>
            <a:off x="4370832" y="3849624"/>
            <a:ext cx="3520440" cy="274320"/>
          </a:xfrm>
          <a:prstGeom prst="rect">
            <a:avLst/>
          </a:prstGeom>
          <a:noFill/>
          <a:ln/>
        </p:spPr>
        <p:txBody>
          <a:bodyPr wrap="square" lIns="0" tIns="0" rIns="0" bIns="0" rtlCol="0" anchor="t"/>
          <a:lstStyle/>
          <a:p>
            <a:pPr indent="0" marL="0">
              <a:buNone/>
            </a:pPr>
            <a:r>
              <a:rPr lang="en-US" sz="1300" b="1" dirty="0">
                <a:solidFill>
                  <a:schemeClr val="accent1"/>
                </a:solidFill>
                <a:latin typeface="Courier New" pitchFamily="34" charset="0"/>
                <a:ea typeface="Courier New" pitchFamily="34" charset="-122"/>
                <a:cs typeface="Courier New" pitchFamily="34" charset="-120"/>
              </a:rPr>
              <a:t>system_state</a:t>
            </a:r>
            <a:endParaRPr lang="en-US" sz="1300" dirty="0"/>
          </a:p>
        </p:txBody>
      </p:sp>
      <p:sp>
        <p:nvSpPr>
          <p:cNvPr id="27" name="metin-129"/>
          <p:cNvSpPr txBox="1"/>
          <p:nvPr/>
        </p:nvSpPr>
        <p:spPr>
          <a:xfrm>
            <a:off x="4370832" y="4142232"/>
            <a:ext cx="3520440" cy="274320"/>
          </a:xfrm>
          <a:prstGeom prst="rect">
            <a:avLst/>
          </a:prstGeom>
          <a:noFill/>
          <a:ln/>
        </p:spPr>
        <p:txBody>
          <a:bodyPr wrap="square" lIns="0" tIns="0" rIns="0" bIns="0" rtlCol="0" anchor="t"/>
          <a:lstStyle/>
          <a:p>
            <a:pPr indent="0" marL="0">
              <a:buNone/>
            </a:pPr>
            <a:r>
              <a:rPr lang="en-US" sz="1200" dirty="0">
                <a:solidFill>
                  <a:schemeClr val="bg1"/>
                </a:solidFill>
              </a:rPr>
              <a:t>Zaman, şehir, tarla, pompa modu (bellek)</a:t>
            </a:r>
            <a:endParaRPr lang="en-US" sz="1200" dirty="0"/>
          </a:p>
        </p:txBody>
      </p:sp>
      <p:sp>
        <p:nvSpPr>
          <p:cNvPr id="28" name="kart-130"/>
          <p:cNvSpPr/>
          <p:nvPr/>
        </p:nvSpPr>
        <p:spPr>
          <a:xfrm>
            <a:off x="4206240" y="4608576"/>
            <a:ext cx="3794760" cy="731520"/>
          </a:xfrm>
          <a:prstGeom prst="roundRect">
            <a:avLst>
              <a:gd name="adj" fmla="val 15000"/>
            </a:avLst>
          </a:prstGeom>
          <a:solidFill>
            <a:srgbClr val="24312C"/>
          </a:solidFill>
          <a:ln/>
        </p:spPr>
      </p:sp>
      <p:sp>
        <p:nvSpPr>
          <p:cNvPr id="29" name="metin-131"/>
          <p:cNvSpPr txBox="1"/>
          <p:nvPr/>
        </p:nvSpPr>
        <p:spPr>
          <a:xfrm>
            <a:off x="4370832" y="4700016"/>
            <a:ext cx="3520440" cy="274320"/>
          </a:xfrm>
          <a:prstGeom prst="rect">
            <a:avLst/>
          </a:prstGeom>
          <a:noFill/>
          <a:ln/>
        </p:spPr>
        <p:txBody>
          <a:bodyPr wrap="square" lIns="0" tIns="0" rIns="0" bIns="0" rtlCol="0" anchor="t"/>
          <a:lstStyle/>
          <a:p>
            <a:pPr indent="0" marL="0">
              <a:buNone/>
            </a:pPr>
            <a:r>
              <a:rPr lang="en-US" sz="1300" b="1" dirty="0">
                <a:solidFill>
                  <a:schemeClr val="accent1"/>
                </a:solidFill>
                <a:latin typeface="Courier New" pitchFamily="34" charset="0"/>
                <a:ea typeface="Courier New" pitchFamily="34" charset="-122"/>
                <a:cs typeface="Courier New" pitchFamily="34" charset="-120"/>
              </a:rPr>
              <a:t>db.json</a:t>
            </a:r>
            <a:endParaRPr lang="en-US" sz="1300" dirty="0"/>
          </a:p>
        </p:txBody>
      </p:sp>
      <p:sp>
        <p:nvSpPr>
          <p:cNvPr id="30" name="metin-132"/>
          <p:cNvSpPr txBox="1"/>
          <p:nvPr/>
        </p:nvSpPr>
        <p:spPr>
          <a:xfrm>
            <a:off x="4370832" y="4992624"/>
            <a:ext cx="3520440" cy="274320"/>
          </a:xfrm>
          <a:prstGeom prst="rect">
            <a:avLst/>
          </a:prstGeom>
          <a:noFill/>
          <a:ln/>
        </p:spPr>
        <p:txBody>
          <a:bodyPr wrap="square" lIns="0" tIns="0" rIns="0" bIns="0" rtlCol="0" anchor="t"/>
          <a:lstStyle/>
          <a:p>
            <a:pPr indent="0" marL="0">
              <a:buNone/>
            </a:pPr>
            <a:r>
              <a:rPr lang="en-US" sz="1200" dirty="0">
                <a:solidFill>
                  <a:schemeClr val="bg1"/>
                </a:solidFill>
              </a:rPr>
              <a:t>Ajanda olayları + muhasebe (kalıcı)</a:t>
            </a:r>
            <a:endParaRPr lang="en-US" sz="1200" dirty="0"/>
          </a:p>
        </p:txBody>
      </p:sp>
      <p:sp>
        <p:nvSpPr>
          <p:cNvPr id="31" name="kart-133"/>
          <p:cNvSpPr/>
          <p:nvPr/>
        </p:nvSpPr>
        <p:spPr>
          <a:xfrm>
            <a:off x="8622792" y="1920240"/>
            <a:ext cx="3017520" cy="1691640"/>
          </a:xfrm>
          <a:prstGeom prst="roundRect">
            <a:avLst>
              <a:gd name="adj" fmla="val 6486"/>
            </a:avLst>
          </a:prstGeom>
          <a:solidFill>
            <a:srgbClr val="D7F5EA"/>
          </a:solidFill>
          <a:ln/>
        </p:spPr>
      </p:sp>
      <p:sp>
        <p:nvSpPr>
          <p:cNvPr id="32" name="ikon-zemin-134"/>
          <p:cNvSpPr/>
          <p:nvPr/>
        </p:nvSpPr>
        <p:spPr>
          <a:xfrm>
            <a:off x="8805672" y="2103120"/>
            <a:ext cx="457200" cy="457200"/>
          </a:xfrm>
          <a:prstGeom prst="ellipse">
            <a:avLst/>
          </a:prstGeom>
          <a:solidFill>
            <a:schemeClr val="accent2"/>
          </a:solidFill>
          <a:ln/>
        </p:spPr>
      </p:sp>
      <p:pic>
        <p:nvPicPr>
          <p:cNvPr id="33" name="ikon-135" descr="preencoded.png">    </p:cNvPr>
          <p:cNvPicPr>
            <a:picLocks noChangeAspect="1"/>
          </p:cNvPicPr>
          <p:nvPr/>
        </p:nvPicPr>
        <p:blipFill>
          <a:blip r:embed="rId1"/>
          <a:stretch>
            <a:fillRect/>
          </a:stretch>
        </p:blipFill>
        <p:spPr>
          <a:xfrm>
            <a:off x="8906256" y="2203704"/>
            <a:ext cx="256032" cy="256032"/>
          </a:xfrm>
          <a:prstGeom prst="rect">
            <a:avLst/>
          </a:prstGeom>
        </p:spPr>
      </p:pic>
      <p:sp>
        <p:nvSpPr>
          <p:cNvPr id="34" name="metin-136"/>
          <p:cNvSpPr txBox="1"/>
          <p:nvPr/>
        </p:nvSpPr>
        <p:spPr>
          <a:xfrm>
            <a:off x="9372600" y="2103120"/>
            <a:ext cx="2194560" cy="457200"/>
          </a:xfrm>
          <a:prstGeom prst="rect">
            <a:avLst/>
          </a:prstGeom>
          <a:noFill/>
          <a:ln/>
        </p:spPr>
        <p:txBody>
          <a:bodyPr wrap="square" lIns="0" tIns="0" rIns="0" bIns="0" rtlCol="0" anchor="ctr"/>
          <a:lstStyle/>
          <a:p>
            <a:pPr indent="0" marL="0">
              <a:buNone/>
            </a:pPr>
            <a:r>
              <a:rPr lang="en-US" sz="1600" b="1" dirty="0">
                <a:solidFill>
                  <a:schemeClr val="tx1"/>
                </a:solidFill>
              </a:rPr>
              <a:t>Web paneli</a:t>
            </a:r>
            <a:endParaRPr lang="en-US" sz="1600" dirty="0"/>
          </a:p>
        </p:txBody>
      </p:sp>
      <p:sp>
        <p:nvSpPr>
          <p:cNvPr id="35" name="metin-137"/>
          <p:cNvSpPr txBox="1"/>
          <p:nvPr/>
        </p:nvSpPr>
        <p:spPr>
          <a:xfrm>
            <a:off x="8805672" y="2697480"/>
            <a:ext cx="2697480" cy="822960"/>
          </a:xfrm>
          <a:prstGeom prst="rect">
            <a:avLst/>
          </a:prstGeom>
          <a:noFill/>
          <a:ln/>
        </p:spPr>
        <p:txBody>
          <a:bodyPr wrap="square" lIns="0" tIns="0" rIns="0" bIns="0" rtlCol="0" anchor="t"/>
          <a:lstStyle/>
          <a:p>
            <a:pPr indent="0" marL="0">
              <a:buNone/>
            </a:pPr>
            <a:r>
              <a:rPr lang="en-US" sz="1300" dirty="0">
                <a:solidFill>
                  <a:schemeClr val="tx1"/>
                </a:solidFill>
              </a:rPr>
              <a:t>Jinja2 ile sunucu tarafı render · Bootstrap 5 · Chart.js · 6 sayfa</a:t>
            </a:r>
            <a:endParaRPr lang="en-US" sz="1300" dirty="0"/>
          </a:p>
        </p:txBody>
      </p:sp>
      <p:sp>
        <p:nvSpPr>
          <p:cNvPr id="36" name="ok-138"/>
          <p:cNvSpPr/>
          <p:nvPr/>
        </p:nvSpPr>
        <p:spPr>
          <a:xfrm>
            <a:off x="8183880" y="2761488"/>
            <a:ext cx="393192" cy="0"/>
          </a:xfrm>
          <a:prstGeom prst="line">
            <a:avLst/>
          </a:prstGeom>
          <a:noFill/>
          <a:ln w="22225">
            <a:solidFill>
              <a:srgbClr val="0A7A5C"/>
            </a:solidFill>
            <a:prstDash val="solid"/>
            <a:tailEnd type="triangle"/>
          </a:ln>
        </p:spPr>
      </p:sp>
      <p:sp>
        <p:nvSpPr>
          <p:cNvPr id="37" name="metin-139"/>
          <p:cNvSpPr txBox="1"/>
          <p:nvPr/>
        </p:nvSpPr>
        <p:spPr>
          <a:xfrm>
            <a:off x="8138160" y="2468880"/>
            <a:ext cx="484632" cy="228600"/>
          </a:xfrm>
          <a:prstGeom prst="rect">
            <a:avLst/>
          </a:prstGeom>
          <a:noFill/>
          <a:ln/>
        </p:spPr>
        <p:txBody>
          <a:bodyPr wrap="square" lIns="0" tIns="0" rIns="0" bIns="0" rtlCol="0" anchor="t"/>
          <a:lstStyle/>
          <a:p>
            <a:pPr algn="ctr" indent="0" marL="0">
              <a:buNone/>
            </a:pPr>
            <a:r>
              <a:rPr lang="en-US" sz="1000" dirty="0">
                <a:solidFill>
                  <a:schemeClr val="tx2"/>
                </a:solidFill>
              </a:rPr>
              <a:t>HTML</a:t>
            </a:r>
            <a:endParaRPr lang="en-US" sz="1000" dirty="0"/>
          </a:p>
        </p:txBody>
      </p:sp>
      <p:sp>
        <p:nvSpPr>
          <p:cNvPr id="38" name="kart-140"/>
          <p:cNvSpPr/>
          <p:nvPr/>
        </p:nvSpPr>
        <p:spPr>
          <a:xfrm>
            <a:off x="8622792" y="3794760"/>
            <a:ext cx="3017520" cy="1691640"/>
          </a:xfrm>
          <a:prstGeom prst="roundRect">
            <a:avLst>
              <a:gd name="adj" fmla="val 6486"/>
            </a:avLst>
          </a:prstGeom>
          <a:solidFill>
            <a:srgbClr val="D7F5EA"/>
          </a:solidFill>
          <a:ln/>
        </p:spPr>
      </p:sp>
      <p:sp>
        <p:nvSpPr>
          <p:cNvPr id="39" name="ikon-zemin-141"/>
          <p:cNvSpPr/>
          <p:nvPr/>
        </p:nvSpPr>
        <p:spPr>
          <a:xfrm>
            <a:off x="8805672" y="3977640"/>
            <a:ext cx="457200" cy="457200"/>
          </a:xfrm>
          <a:prstGeom prst="ellipse">
            <a:avLst/>
          </a:prstGeom>
          <a:solidFill>
            <a:schemeClr val="accent2"/>
          </a:solidFill>
          <a:ln/>
        </p:spPr>
      </p:sp>
      <p:pic>
        <p:nvPicPr>
          <p:cNvPr id="40" name="ikon-142" descr="preencoded.png">    </p:cNvPr>
          <p:cNvPicPr>
            <a:picLocks noChangeAspect="1"/>
          </p:cNvPicPr>
          <p:nvPr/>
        </p:nvPicPr>
        <p:blipFill>
          <a:blip r:embed="rId2"/>
          <a:stretch>
            <a:fillRect/>
          </a:stretch>
        </p:blipFill>
        <p:spPr>
          <a:xfrm>
            <a:off x="8906256" y="4078224"/>
            <a:ext cx="256032" cy="256032"/>
          </a:xfrm>
          <a:prstGeom prst="rect">
            <a:avLst/>
          </a:prstGeom>
        </p:spPr>
      </p:pic>
      <p:sp>
        <p:nvSpPr>
          <p:cNvPr id="41" name="metin-143"/>
          <p:cNvSpPr txBox="1"/>
          <p:nvPr/>
        </p:nvSpPr>
        <p:spPr>
          <a:xfrm>
            <a:off x="9372600" y="3977640"/>
            <a:ext cx="2194560" cy="457200"/>
          </a:xfrm>
          <a:prstGeom prst="rect">
            <a:avLst/>
          </a:prstGeom>
          <a:noFill/>
          <a:ln/>
        </p:spPr>
        <p:txBody>
          <a:bodyPr wrap="square" lIns="0" tIns="0" rIns="0" bIns="0" rtlCol="0" anchor="ctr"/>
          <a:lstStyle/>
          <a:p>
            <a:pPr indent="0" marL="0">
              <a:buNone/>
            </a:pPr>
            <a:r>
              <a:rPr lang="en-US" sz="1600" b="1" dirty="0">
                <a:solidFill>
                  <a:schemeClr val="tx1"/>
                </a:solidFill>
              </a:rPr>
              <a:t>Android uygulaması</a:t>
            </a:r>
            <a:endParaRPr lang="en-US" sz="1600" dirty="0"/>
          </a:p>
        </p:txBody>
      </p:sp>
      <p:sp>
        <p:nvSpPr>
          <p:cNvPr id="42" name="metin-144"/>
          <p:cNvSpPr txBox="1"/>
          <p:nvPr/>
        </p:nvSpPr>
        <p:spPr>
          <a:xfrm>
            <a:off x="8805672" y="4572000"/>
            <a:ext cx="2697480" cy="822960"/>
          </a:xfrm>
          <a:prstGeom prst="rect">
            <a:avLst/>
          </a:prstGeom>
          <a:noFill/>
          <a:ln/>
        </p:spPr>
        <p:txBody>
          <a:bodyPr wrap="square" lIns="0" tIns="0" rIns="0" bIns="0" rtlCol="0" anchor="t"/>
          <a:lstStyle/>
          <a:p>
            <a:pPr indent="0" marL="0">
              <a:buNone/>
            </a:pPr>
            <a:r>
              <a:rPr lang="en-US" sz="1300" dirty="0">
                <a:solidFill>
                  <a:schemeClr val="tx1"/>
                </a:solidFill>
              </a:rPr>
              <a:t>React Native · Expo SDK 58 · REST /api/* · Zustand · 5 sekme</a:t>
            </a:r>
            <a:endParaRPr lang="en-US" sz="1300" dirty="0"/>
          </a:p>
        </p:txBody>
      </p:sp>
      <p:sp>
        <p:nvSpPr>
          <p:cNvPr id="43" name="ok-145"/>
          <p:cNvSpPr/>
          <p:nvPr/>
        </p:nvSpPr>
        <p:spPr>
          <a:xfrm>
            <a:off x="8183880" y="4636008"/>
            <a:ext cx="393192" cy="0"/>
          </a:xfrm>
          <a:prstGeom prst="line">
            <a:avLst/>
          </a:prstGeom>
          <a:noFill/>
          <a:ln w="22225">
            <a:solidFill>
              <a:srgbClr val="0A7A5C"/>
            </a:solidFill>
            <a:prstDash val="solid"/>
            <a:tailEnd type="triangle"/>
          </a:ln>
        </p:spPr>
      </p:sp>
      <p:sp>
        <p:nvSpPr>
          <p:cNvPr id="44" name="metin-146"/>
          <p:cNvSpPr txBox="1"/>
          <p:nvPr/>
        </p:nvSpPr>
        <p:spPr>
          <a:xfrm>
            <a:off x="8138160" y="4343400"/>
            <a:ext cx="484632" cy="228600"/>
          </a:xfrm>
          <a:prstGeom prst="rect">
            <a:avLst/>
          </a:prstGeom>
          <a:noFill/>
          <a:ln/>
        </p:spPr>
        <p:txBody>
          <a:bodyPr wrap="square" lIns="0" tIns="0" rIns="0" bIns="0" rtlCol="0" anchor="t"/>
          <a:lstStyle/>
          <a:p>
            <a:pPr algn="ctr" indent="0" marL="0">
              <a:buNone/>
            </a:pPr>
            <a:r>
              <a:rPr lang="en-US" sz="1000" dirty="0">
                <a:solidFill>
                  <a:schemeClr val="tx2"/>
                </a:solidFill>
              </a:rPr>
              <a:t>JSON</a:t>
            </a:r>
            <a:endParaRPr lang="en-US" sz="1000" dirty="0"/>
          </a:p>
        </p:txBody>
      </p:sp>
      <p:sp>
        <p:nvSpPr>
          <p:cNvPr id="45" name="kart-147"/>
          <p:cNvSpPr/>
          <p:nvPr/>
        </p:nvSpPr>
        <p:spPr>
          <a:xfrm>
            <a:off x="548640" y="5715000"/>
            <a:ext cx="11091672" cy="457200"/>
          </a:xfrm>
          <a:prstGeom prst="roundRect">
            <a:avLst>
              <a:gd name="adj" fmla="val 24000"/>
            </a:avLst>
          </a:prstGeom>
          <a:solidFill>
            <a:srgbClr val="EEF4F1"/>
          </a:solidFill>
          <a:ln/>
        </p:spPr>
      </p:sp>
      <p:sp>
        <p:nvSpPr>
          <p:cNvPr id="46" name="metin-148"/>
          <p:cNvSpPr txBox="1"/>
          <p:nvPr/>
        </p:nvSpPr>
        <p:spPr>
          <a:xfrm>
            <a:off x="731520" y="5715000"/>
            <a:ext cx="10789920" cy="457200"/>
          </a:xfrm>
          <a:prstGeom prst="rect">
            <a:avLst/>
          </a:prstGeom>
          <a:noFill/>
          <a:ln/>
        </p:spPr>
        <p:txBody>
          <a:bodyPr wrap="square" lIns="0" tIns="0" rIns="0" bIns="0" rtlCol="0" anchor="ctr"/>
          <a:lstStyle/>
          <a:p>
            <a:pPr indent="0" marL="0">
              <a:buNone/>
            </a:pPr>
            <a:r>
              <a:rPr lang="en-US" sz="1400" b="1" dirty="0">
                <a:solidFill>
                  <a:schemeClr val="tx1"/>
                </a:solidFill>
              </a:rPr>
              <a:t>Tek doğruluk kaynağı: </a:t>
            </a:r>
            <a:pPr indent="0" marL="0">
              <a:buNone/>
            </a:pPr>
            <a:r>
              <a:rPr lang="en-US" sz="1400" dirty="0">
                <a:solidFill>
                  <a:schemeClr val="tx1"/>
                </a:solidFill>
              </a:rPr>
              <a:t>iş kuralları yalnızca sunucuda; istemciler gösterir ve komut gönderir.</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B6B6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8229600" cy="274320"/>
          </a:xfrm>
          <a:prstGeom prst="rect">
            <a:avLst/>
          </a:prstGeom>
          <a:noFill/>
          <a:ln/>
        </p:spPr>
        <p:txBody>
          <a:bodyPr wrap="square" lIns="0" tIns="0" rIns="0" bIns="0" rtlCol="0" anchor="t"/>
          <a:lstStyle/>
          <a:p>
            <a:pPr indent="0" marL="0">
              <a:buNone/>
            </a:pPr>
            <a:r>
              <a:rPr lang="en-US" sz="1200" b="1" spc="150" kern="0" dirty="0">
                <a:solidFill>
                  <a:schemeClr val="accent2"/>
                </a:solidFill>
              </a:rPr>
              <a:t>VERİ MODELİ</a:t>
            </a:r>
            <a:endParaRPr lang="en-US" sz="1200" dirty="0"/>
          </a:p>
        </p:txBody>
      </p:sp>
      <p:sp>
        <p:nvSpPr>
          <p:cNvPr id="3" name="Text 0"/>
          <p:cNvSpPr/>
          <p:nvPr>
            <p:ph idx="101" type="title" hasCustomPrompt="1"/>
          </p:nvPr>
        </p:nvSpPr>
        <p:spPr>
          <a:xfrm>
            <a:off x="548640" y="621792"/>
            <a:ext cx="11091672" cy="731520"/>
          </a:xfrm>
          <a:prstGeom prst="rect">
            <a:avLst/>
          </a:prstGeom>
          <a:noFill/>
          <a:ln/>
        </p:spPr>
        <p:txBody>
          <a:bodyPr wrap="square" lIns="0" tIns="0" rIns="0" bIns="0" rtlCol="0" anchor="t"/>
          <a:lstStyle/>
          <a:p>
            <a:pPr algn="l" indent="0" marL="0">
              <a:buNone/>
            </a:pPr>
            <a:r>
              <a:rPr lang="en-US" sz="3000" b="1" dirty="0">
                <a:solidFill>
                  <a:schemeClr val="tx1"/>
                </a:solidFill>
              </a:rPr>
              <a:t>Günlük tahminden saatlik karar girdisi üretiyoruz</a:t>
            </a:r>
            <a:endParaRPr lang="en-US" sz="3000" dirty="0"/>
          </a:p>
        </p:txBody>
      </p:sp>
      <p:graphicFrame>
        <p:nvGraphicFramePr>
          <p:cNvPr id="4" name="sicaklik-grafigi" descr=""/>
          <p:cNvGraphicFramePr/>
          <p:nvPr/>
        </p:nvGraphicFramePr>
        <p:xfrm>
          <a:off x="548640" y="1600200"/>
          <a:ext cx="6309360" cy="4526280"/>
        </p:xfrm>
        <a:graphic xmlns:a="http://schemas.openxmlformats.org/drawingml/2006/main">
          <a:graphicData uri="http://schemas.openxmlformats.org/drawingml/2006/chart">
            <c:chart xmlns:c="http://schemas.openxmlformats.org/drawingml/2006/chart" r:id="rId1"/>
          </a:graphicData>
        </a:graphic>
      </p:graphicFrame>
      <p:sp>
        <p:nvSpPr>
          <p:cNvPr id="5" name="kart-149"/>
          <p:cNvSpPr/>
          <p:nvPr/>
        </p:nvSpPr>
        <p:spPr>
          <a:xfrm>
            <a:off x="7178040" y="1600200"/>
            <a:ext cx="4462272" cy="1371600"/>
          </a:xfrm>
          <a:prstGeom prst="roundRect">
            <a:avLst>
              <a:gd name="adj" fmla="val 8000"/>
            </a:avLst>
          </a:prstGeom>
          <a:solidFill>
            <a:schemeClr val="bg2"/>
          </a:solidFill>
          <a:ln/>
        </p:spPr>
      </p:sp>
      <p:sp>
        <p:nvSpPr>
          <p:cNvPr id="6" name="metin-150"/>
          <p:cNvSpPr txBox="1"/>
          <p:nvPr/>
        </p:nvSpPr>
        <p:spPr>
          <a:xfrm>
            <a:off x="7406640" y="1709928"/>
            <a:ext cx="4023360" cy="292608"/>
          </a:xfrm>
          <a:prstGeom prst="rect">
            <a:avLst/>
          </a:prstGeom>
          <a:noFill/>
          <a:ln/>
        </p:spPr>
        <p:txBody>
          <a:bodyPr wrap="square" lIns="0" tIns="0" rIns="0" bIns="0" rtlCol="0" anchor="t"/>
          <a:lstStyle/>
          <a:p>
            <a:pPr indent="0" marL="0">
              <a:buNone/>
            </a:pPr>
            <a:r>
              <a:rPr lang="en-US" sz="1500" b="1" dirty="0">
                <a:solidFill>
                  <a:schemeClr val="tx1"/>
                </a:solidFill>
              </a:rPr>
              <a:t>Saatlik sıcaklık (doğrusal)</a:t>
            </a:r>
            <a:endParaRPr lang="en-US" sz="1500" dirty="0"/>
          </a:p>
        </p:txBody>
      </p:sp>
      <p:sp>
        <p:nvSpPr>
          <p:cNvPr id="7" name="metin-151"/>
          <p:cNvSpPr txBox="1"/>
          <p:nvPr/>
        </p:nvSpPr>
        <p:spPr>
          <a:xfrm>
            <a:off x="7406640" y="2029968"/>
            <a:ext cx="4114800" cy="566928"/>
          </a:xfrm>
          <a:prstGeom prst="rect">
            <a:avLst/>
          </a:prstGeom>
          <a:noFill/>
          <a:ln/>
        </p:spPr>
        <p:txBody>
          <a:bodyPr wrap="square" lIns="0" tIns="0" rIns="0" bIns="0" rtlCol="0" anchor="t"/>
          <a:lstStyle/>
          <a:p>
            <a:pPr indent="0" marL="0">
              <a:buNone/>
            </a:pPr>
            <a:r>
              <a:rPr lang="en-US" sz="1400" i="1" dirty="0">
                <a:solidFill>
                  <a:schemeClr val="accent2"/>
                </a:solidFill>
                <a:latin typeface="Cambria" pitchFamily="34" charset="0"/>
                <a:ea typeface="Cambria" pitchFamily="34" charset="-122"/>
                <a:cs typeface="Cambria" pitchFamily="34" charset="-120"/>
              </a:rPr>
              <a:t>04–14:  T = Tmin + (Tmax − Tmin)·(h − 4)/10</a:t>
            </a:r>
            <a:endParaRPr lang="en-US" sz="1400" dirty="0"/>
          </a:p>
          <a:p>
            <a:pPr indent="0" marL="0">
              <a:buNone/>
            </a:pPr>
            <a:r>
              <a:rPr lang="en-US" sz="1400" i="1" dirty="0">
                <a:solidFill>
                  <a:schemeClr val="accent2"/>
                </a:solidFill>
                <a:latin typeface="Cambria" pitchFamily="34" charset="0"/>
                <a:ea typeface="Cambria" pitchFamily="34" charset="-122"/>
                <a:cs typeface="Cambria" pitchFamily="34" charset="-120"/>
              </a:rPr>
              <a:t>14–24:  T = Tmax − (Tmax − Tmin)·(h − 14)/10</a:t>
            </a:r>
            <a:endParaRPr lang="en-US" sz="1400" dirty="0"/>
          </a:p>
        </p:txBody>
      </p:sp>
      <p:sp>
        <p:nvSpPr>
          <p:cNvPr id="8" name="metin-152"/>
          <p:cNvSpPr txBox="1"/>
          <p:nvPr/>
        </p:nvSpPr>
        <p:spPr>
          <a:xfrm>
            <a:off x="7406640" y="2624328"/>
            <a:ext cx="4023360" cy="274320"/>
          </a:xfrm>
          <a:prstGeom prst="rect">
            <a:avLst/>
          </a:prstGeom>
          <a:noFill/>
          <a:ln/>
        </p:spPr>
        <p:txBody>
          <a:bodyPr wrap="square" lIns="0" tIns="0" rIns="0" bIns="0" rtlCol="0" anchor="t"/>
          <a:lstStyle/>
          <a:p>
            <a:pPr indent="0" marL="0">
              <a:buNone/>
            </a:pPr>
            <a:r>
              <a:rPr lang="en-US" sz="1200" dirty="0">
                <a:solidFill>
                  <a:schemeClr val="tx2"/>
                </a:solidFill>
              </a:rPr>
              <a:t>Gece 00–04 arası T = Tmin kabul edilir.</a:t>
            </a:r>
            <a:endParaRPr lang="en-US" sz="1200" dirty="0"/>
          </a:p>
        </p:txBody>
      </p:sp>
      <p:sp>
        <p:nvSpPr>
          <p:cNvPr id="9" name="kart-153"/>
          <p:cNvSpPr/>
          <p:nvPr/>
        </p:nvSpPr>
        <p:spPr>
          <a:xfrm>
            <a:off x="7178040" y="3172968"/>
            <a:ext cx="4462272" cy="1371600"/>
          </a:xfrm>
          <a:prstGeom prst="roundRect">
            <a:avLst>
              <a:gd name="adj" fmla="val 8000"/>
            </a:avLst>
          </a:prstGeom>
          <a:solidFill>
            <a:schemeClr val="bg2"/>
          </a:solidFill>
          <a:ln/>
        </p:spPr>
      </p:sp>
      <p:sp>
        <p:nvSpPr>
          <p:cNvPr id="10" name="metin-154"/>
          <p:cNvSpPr txBox="1"/>
          <p:nvPr/>
        </p:nvSpPr>
        <p:spPr>
          <a:xfrm>
            <a:off x="7406640" y="3282696"/>
            <a:ext cx="4023360" cy="292608"/>
          </a:xfrm>
          <a:prstGeom prst="rect">
            <a:avLst/>
          </a:prstGeom>
          <a:noFill/>
          <a:ln/>
        </p:spPr>
        <p:txBody>
          <a:bodyPr wrap="square" lIns="0" tIns="0" rIns="0" bIns="0" rtlCol="0" anchor="t"/>
          <a:lstStyle/>
          <a:p>
            <a:pPr indent="0" marL="0">
              <a:buNone/>
            </a:pPr>
            <a:r>
              <a:rPr lang="en-US" sz="1500" b="1" dirty="0">
                <a:solidFill>
                  <a:schemeClr val="tx1"/>
                </a:solidFill>
              </a:rPr>
              <a:t>Yağış ve toprak nemi</a:t>
            </a:r>
            <a:endParaRPr lang="en-US" sz="1500" dirty="0"/>
          </a:p>
        </p:txBody>
      </p:sp>
      <p:sp>
        <p:nvSpPr>
          <p:cNvPr id="11" name="metin-155"/>
          <p:cNvSpPr txBox="1"/>
          <p:nvPr/>
        </p:nvSpPr>
        <p:spPr>
          <a:xfrm>
            <a:off x="7406640" y="3602736"/>
            <a:ext cx="4114800" cy="566928"/>
          </a:xfrm>
          <a:prstGeom prst="rect">
            <a:avLst/>
          </a:prstGeom>
          <a:noFill/>
          <a:ln/>
        </p:spPr>
        <p:txBody>
          <a:bodyPr wrap="square" lIns="0" tIns="0" rIns="0" bIns="0" rtlCol="0" anchor="t"/>
          <a:lstStyle/>
          <a:p>
            <a:pPr indent="0" marL="0">
              <a:buNone/>
            </a:pPr>
            <a:r>
              <a:rPr lang="en-US" sz="1400" i="1" dirty="0">
                <a:solidFill>
                  <a:schemeClr val="accent2"/>
                </a:solidFill>
                <a:latin typeface="Cambria" pitchFamily="34" charset="0"/>
                <a:ea typeface="Cambria" pitchFamily="34" charset="-122"/>
                <a:cs typeface="Cambria" pitchFamily="34" charset="-120"/>
              </a:rPr>
              <a:t>Yağış var ⇔ P &gt; 0,5 mm/gün</a:t>
            </a:r>
            <a:endParaRPr lang="en-US" sz="1400" dirty="0"/>
          </a:p>
          <a:p>
            <a:pPr indent="0" marL="0">
              <a:buNone/>
            </a:pPr>
            <a:r>
              <a:rPr lang="en-US" sz="1400" i="1" dirty="0">
                <a:solidFill>
                  <a:schemeClr val="accent2"/>
                </a:solidFill>
                <a:latin typeface="Cambria" pitchFamily="34" charset="0"/>
                <a:ea typeface="Cambria" pitchFamily="34" charset="-122"/>
                <a:cs typeface="Cambria" pitchFamily="34" charset="-120"/>
              </a:rPr>
              <a:t>θ ≈ 100 − T + 5·P  (10…100 aralığında)</a:t>
            </a:r>
            <a:endParaRPr lang="en-US" sz="1400" dirty="0"/>
          </a:p>
        </p:txBody>
      </p:sp>
      <p:sp>
        <p:nvSpPr>
          <p:cNvPr id="12" name="metin-156"/>
          <p:cNvSpPr txBox="1"/>
          <p:nvPr/>
        </p:nvSpPr>
        <p:spPr>
          <a:xfrm>
            <a:off x="7406640" y="4197096"/>
            <a:ext cx="4023360" cy="274320"/>
          </a:xfrm>
          <a:prstGeom prst="rect">
            <a:avLst/>
          </a:prstGeom>
          <a:noFill/>
          <a:ln/>
        </p:spPr>
        <p:txBody>
          <a:bodyPr wrap="square" lIns="0" tIns="0" rIns="0" bIns="0" rtlCol="0" anchor="t"/>
          <a:lstStyle/>
          <a:p>
            <a:pPr indent="0" marL="0">
              <a:buNone/>
            </a:pPr>
            <a:r>
              <a:rPr lang="en-US" sz="1200" dirty="0">
                <a:solidFill>
                  <a:schemeClr val="tx2"/>
                </a:solidFill>
              </a:rPr>
              <a:t>Nem, sensör yokken kullanılan kaba bir vekildir.</a:t>
            </a:r>
            <a:endParaRPr lang="en-US" sz="1200" dirty="0"/>
          </a:p>
        </p:txBody>
      </p:sp>
      <p:sp>
        <p:nvSpPr>
          <p:cNvPr id="13" name="kart-157"/>
          <p:cNvSpPr/>
          <p:nvPr/>
        </p:nvSpPr>
        <p:spPr>
          <a:xfrm>
            <a:off x="7178040" y="4745736"/>
            <a:ext cx="4462272" cy="1371600"/>
          </a:xfrm>
          <a:prstGeom prst="roundRect">
            <a:avLst>
              <a:gd name="adj" fmla="val 8000"/>
            </a:avLst>
          </a:prstGeom>
          <a:solidFill>
            <a:schemeClr val="bg2"/>
          </a:solidFill>
          <a:ln/>
        </p:spPr>
      </p:sp>
      <p:sp>
        <p:nvSpPr>
          <p:cNvPr id="14" name="metin-158"/>
          <p:cNvSpPr txBox="1"/>
          <p:nvPr/>
        </p:nvSpPr>
        <p:spPr>
          <a:xfrm>
            <a:off x="7406640" y="4855464"/>
            <a:ext cx="4023360" cy="292608"/>
          </a:xfrm>
          <a:prstGeom prst="rect">
            <a:avLst/>
          </a:prstGeom>
          <a:noFill/>
          <a:ln/>
        </p:spPr>
        <p:txBody>
          <a:bodyPr wrap="square" lIns="0" tIns="0" rIns="0" bIns="0" rtlCol="0" anchor="t"/>
          <a:lstStyle/>
          <a:p>
            <a:pPr indent="0" marL="0">
              <a:buNone/>
            </a:pPr>
            <a:r>
              <a:rPr lang="en-US" sz="1500" b="1" dirty="0">
                <a:solidFill>
                  <a:schemeClr val="tx1"/>
                </a:solidFill>
              </a:rPr>
              <a:t>Önbellek ve yedek</a:t>
            </a:r>
            <a:endParaRPr lang="en-US" sz="1500" dirty="0"/>
          </a:p>
        </p:txBody>
      </p:sp>
      <p:sp>
        <p:nvSpPr>
          <p:cNvPr id="15" name="metin-159"/>
          <p:cNvSpPr txBox="1"/>
          <p:nvPr/>
        </p:nvSpPr>
        <p:spPr>
          <a:xfrm>
            <a:off x="7406640" y="5175504"/>
            <a:ext cx="4114800" cy="566928"/>
          </a:xfrm>
          <a:prstGeom prst="rect">
            <a:avLst/>
          </a:prstGeom>
          <a:noFill/>
          <a:ln/>
        </p:spPr>
        <p:txBody>
          <a:bodyPr wrap="square" lIns="0" tIns="0" rIns="0" bIns="0" rtlCol="0" anchor="t"/>
          <a:lstStyle/>
          <a:p>
            <a:pPr indent="0" marL="0">
              <a:buNone/>
            </a:pPr>
            <a:r>
              <a:rPr lang="en-US" sz="1400" i="1" dirty="0">
                <a:solidFill>
                  <a:schemeClr val="accent2"/>
                </a:solidFill>
                <a:latin typeface="Cambria" pitchFamily="34" charset="0"/>
                <a:ea typeface="Cambria" pitchFamily="34" charset="-122"/>
                <a:cs typeface="Cambria" pitchFamily="34" charset="-120"/>
              </a:rPr>
              <a:t>Şehir başına 1 istek → 30 günlük dizi</a:t>
            </a:r>
            <a:endParaRPr lang="en-US" sz="1400" dirty="0"/>
          </a:p>
          <a:p>
            <a:pPr indent="0" marL="0">
              <a:buNone/>
            </a:pPr>
            <a:r>
              <a:rPr lang="en-US" sz="1400" i="1" dirty="0">
                <a:solidFill>
                  <a:schemeClr val="accent2"/>
                </a:solidFill>
                <a:latin typeface="Cambria" pitchFamily="34" charset="0"/>
                <a:ea typeface="Cambria" pitchFamily="34" charset="-122"/>
                <a:cs typeface="Cambria" pitchFamily="34" charset="-120"/>
              </a:rPr>
              <a:t>Ağ yoksa: tohum = tarih + şehir</a:t>
            </a:r>
            <a:endParaRPr lang="en-US" sz="1400" dirty="0"/>
          </a:p>
        </p:txBody>
      </p:sp>
      <p:sp>
        <p:nvSpPr>
          <p:cNvPr id="16" name="metin-160"/>
          <p:cNvSpPr txBox="1"/>
          <p:nvPr/>
        </p:nvSpPr>
        <p:spPr>
          <a:xfrm>
            <a:off x="7406640" y="5769864"/>
            <a:ext cx="4023360" cy="274320"/>
          </a:xfrm>
          <a:prstGeom prst="rect">
            <a:avLst/>
          </a:prstGeom>
          <a:noFill/>
          <a:ln/>
        </p:spPr>
        <p:txBody>
          <a:bodyPr wrap="square" lIns="0" tIns="0" rIns="0" bIns="0" rtlCol="0" anchor="t"/>
          <a:lstStyle/>
          <a:p>
            <a:pPr indent="0" marL="0">
              <a:buNone/>
            </a:pPr>
            <a:r>
              <a:rPr lang="en-US" sz="1200" dirty="0">
                <a:solidFill>
                  <a:schemeClr val="tx2"/>
                </a:solidFill>
              </a:rPr>
              <a:t>Aynı girdi her zaman aynı çıktıyı verir (tekrarlanabilir).</a:t>
            </a:r>
            <a:endParaRPr lang="en-US" sz="12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B6B6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8229600" cy="274320"/>
          </a:xfrm>
          <a:prstGeom prst="rect">
            <a:avLst/>
          </a:prstGeom>
          <a:noFill/>
          <a:ln/>
        </p:spPr>
        <p:txBody>
          <a:bodyPr wrap="square" lIns="0" tIns="0" rIns="0" bIns="0" rtlCol="0" anchor="t"/>
          <a:lstStyle/>
          <a:p>
            <a:pPr indent="0" marL="0">
              <a:buNone/>
            </a:pPr>
            <a:r>
              <a:rPr lang="en-US" sz="1200" b="1" spc="150" kern="0" dirty="0">
                <a:solidFill>
                  <a:schemeClr val="accent2"/>
                </a:solidFill>
              </a:rPr>
              <a:t>KARAR MOTORU</a:t>
            </a:r>
            <a:endParaRPr lang="en-US" sz="1200" dirty="0"/>
          </a:p>
        </p:txBody>
      </p:sp>
      <p:sp>
        <p:nvSpPr>
          <p:cNvPr id="3" name="Text 0"/>
          <p:cNvSpPr/>
          <p:nvPr>
            <p:ph idx="101" type="title" hasCustomPrompt="1"/>
          </p:nvPr>
        </p:nvSpPr>
        <p:spPr>
          <a:xfrm>
            <a:off x="548640" y="621792"/>
            <a:ext cx="11091672" cy="731520"/>
          </a:xfrm>
          <a:prstGeom prst="rect">
            <a:avLst/>
          </a:prstGeom>
          <a:noFill/>
          <a:ln/>
        </p:spPr>
        <p:txBody>
          <a:bodyPr wrap="square" lIns="0" tIns="0" rIns="0" bIns="0" rtlCol="0" anchor="t"/>
          <a:lstStyle/>
          <a:p>
            <a:pPr algn="l" indent="0" marL="0">
              <a:buNone/>
            </a:pPr>
            <a:r>
              <a:rPr lang="en-US" sz="3000" b="1" dirty="0">
                <a:solidFill>
                  <a:schemeClr val="tx1"/>
                </a:solidFill>
              </a:rPr>
              <a:t>Öncelik sırası sabit, her kararın gerekçesi var</a:t>
            </a:r>
            <a:endParaRPr lang="en-US" sz="3000" dirty="0"/>
          </a:p>
        </p:txBody>
      </p:sp>
      <p:sp>
        <p:nvSpPr>
          <p:cNvPr id="4" name="karar-161"/>
          <p:cNvSpPr/>
          <p:nvPr/>
        </p:nvSpPr>
        <p:spPr>
          <a:xfrm>
            <a:off x="548640" y="1600200"/>
            <a:ext cx="3931920" cy="713232"/>
          </a:xfrm>
          <a:prstGeom prst="roundRect">
            <a:avLst>
              <a:gd name="adj" fmla="val 15385"/>
            </a:avLst>
          </a:prstGeom>
          <a:solidFill>
            <a:srgbClr val="FFFFFF"/>
          </a:solidFill>
          <a:ln w="15875">
            <a:solidFill>
              <a:srgbClr val="0A7A5C"/>
            </a:solidFill>
            <a:prstDash val="solid"/>
          </a:ln>
        </p:spPr>
      </p:sp>
      <p:sp>
        <p:nvSpPr>
          <p:cNvPr id="5" name="metin-162"/>
          <p:cNvSpPr txBox="1"/>
          <p:nvPr/>
        </p:nvSpPr>
        <p:spPr>
          <a:xfrm>
            <a:off x="731520" y="1673352"/>
            <a:ext cx="3566160" cy="329184"/>
          </a:xfrm>
          <a:prstGeom prst="rect">
            <a:avLst/>
          </a:prstGeom>
          <a:noFill/>
          <a:ln/>
        </p:spPr>
        <p:txBody>
          <a:bodyPr wrap="square" lIns="0" tIns="0" rIns="0" bIns="0" rtlCol="0" anchor="t"/>
          <a:lstStyle/>
          <a:p>
            <a:pPr indent="0" marL="0">
              <a:buNone/>
            </a:pPr>
            <a:r>
              <a:rPr lang="en-US" sz="1400" b="1" dirty="0">
                <a:solidFill>
                  <a:schemeClr val="tx1"/>
                </a:solidFill>
              </a:rPr>
              <a:t>Sıcaklık ≤ 2°C?</a:t>
            </a:r>
            <a:endParaRPr lang="en-US" sz="1400" dirty="0"/>
          </a:p>
        </p:txBody>
      </p:sp>
      <p:sp>
        <p:nvSpPr>
          <p:cNvPr id="6" name="metin-163"/>
          <p:cNvSpPr txBox="1"/>
          <p:nvPr/>
        </p:nvSpPr>
        <p:spPr>
          <a:xfrm>
            <a:off x="731520" y="1993392"/>
            <a:ext cx="3566160" cy="256032"/>
          </a:xfrm>
          <a:prstGeom prst="rect">
            <a:avLst/>
          </a:prstGeom>
          <a:noFill/>
          <a:ln/>
        </p:spPr>
        <p:txBody>
          <a:bodyPr wrap="square" lIns="0" tIns="0" rIns="0" bIns="0" rtlCol="0" anchor="t"/>
          <a:lstStyle/>
          <a:p>
            <a:pPr indent="0" marL="0">
              <a:buNone/>
            </a:pPr>
            <a:r>
              <a:rPr lang="en-US" sz="1200" dirty="0">
                <a:solidFill>
                  <a:schemeClr val="tx2"/>
                </a:solidFill>
              </a:rPr>
              <a:t>zirai don eşiği</a:t>
            </a:r>
            <a:endParaRPr lang="en-US" sz="1200" dirty="0"/>
          </a:p>
        </p:txBody>
      </p:sp>
      <p:sp>
        <p:nvSpPr>
          <p:cNvPr id="7" name="ok-164"/>
          <p:cNvSpPr/>
          <p:nvPr/>
        </p:nvSpPr>
        <p:spPr>
          <a:xfrm>
            <a:off x="2514600" y="2322576"/>
            <a:ext cx="0" cy="182880"/>
          </a:xfrm>
          <a:prstGeom prst="line">
            <a:avLst/>
          </a:prstGeom>
          <a:noFill/>
          <a:ln w="22225">
            <a:solidFill>
              <a:srgbClr val="5B6B65"/>
            </a:solidFill>
            <a:prstDash val="solid"/>
            <a:tailEnd type="triangle"/>
          </a:ln>
        </p:spPr>
      </p:sp>
      <p:sp>
        <p:nvSpPr>
          <p:cNvPr id="8" name="metin-165"/>
          <p:cNvSpPr txBox="1"/>
          <p:nvPr/>
        </p:nvSpPr>
        <p:spPr>
          <a:xfrm>
            <a:off x="2606040" y="2304288"/>
            <a:ext cx="640080" cy="219456"/>
          </a:xfrm>
          <a:prstGeom prst="rect">
            <a:avLst/>
          </a:prstGeom>
          <a:noFill/>
          <a:ln/>
        </p:spPr>
        <p:txBody>
          <a:bodyPr wrap="square" lIns="0" tIns="0" rIns="0" bIns="0" rtlCol="0" anchor="t"/>
          <a:lstStyle/>
          <a:p>
            <a:pPr indent="0" marL="0">
              <a:buNone/>
            </a:pPr>
            <a:r>
              <a:rPr lang="en-US" sz="1100" dirty="0">
                <a:solidFill>
                  <a:schemeClr val="tx2"/>
                </a:solidFill>
              </a:rPr>
              <a:t>hayır</a:t>
            </a:r>
            <a:endParaRPr lang="en-US" sz="1100" dirty="0"/>
          </a:p>
        </p:txBody>
      </p:sp>
      <p:sp>
        <p:nvSpPr>
          <p:cNvPr id="9" name="ok-166"/>
          <p:cNvSpPr/>
          <p:nvPr/>
        </p:nvSpPr>
        <p:spPr>
          <a:xfrm>
            <a:off x="4507992" y="1956816"/>
            <a:ext cx="585216" cy="0"/>
          </a:xfrm>
          <a:prstGeom prst="line">
            <a:avLst/>
          </a:prstGeom>
          <a:noFill/>
          <a:ln w="22225">
            <a:solidFill>
              <a:srgbClr val="5B6B65"/>
            </a:solidFill>
            <a:prstDash val="solid"/>
            <a:tailEnd type="triangle"/>
          </a:ln>
        </p:spPr>
      </p:sp>
      <p:sp>
        <p:nvSpPr>
          <p:cNvPr id="10" name="metin-167"/>
          <p:cNvSpPr txBox="1"/>
          <p:nvPr/>
        </p:nvSpPr>
        <p:spPr>
          <a:xfrm>
            <a:off x="4526280" y="1682496"/>
            <a:ext cx="594360" cy="237744"/>
          </a:xfrm>
          <a:prstGeom prst="rect">
            <a:avLst/>
          </a:prstGeom>
          <a:noFill/>
          <a:ln/>
        </p:spPr>
        <p:txBody>
          <a:bodyPr wrap="square" lIns="0" tIns="0" rIns="0" bIns="0" rtlCol="0" anchor="t"/>
          <a:lstStyle/>
          <a:p>
            <a:pPr algn="ctr" indent="0" marL="0">
              <a:buNone/>
            </a:pPr>
            <a:r>
              <a:rPr lang="en-US" sz="1100" dirty="0">
                <a:solidFill>
                  <a:schemeClr val="tx2"/>
                </a:solidFill>
              </a:rPr>
              <a:t>evet</a:t>
            </a:r>
            <a:endParaRPr lang="en-US" sz="1100" dirty="0"/>
          </a:p>
        </p:txBody>
      </p:sp>
      <p:sp>
        <p:nvSpPr>
          <p:cNvPr id="11" name="kart-168"/>
          <p:cNvSpPr/>
          <p:nvPr/>
        </p:nvSpPr>
        <p:spPr>
          <a:xfrm>
            <a:off x="5120640" y="1600200"/>
            <a:ext cx="3383280" cy="713232"/>
          </a:xfrm>
          <a:prstGeom prst="roundRect">
            <a:avLst>
              <a:gd name="adj" fmla="val 15385"/>
            </a:avLst>
          </a:prstGeom>
          <a:solidFill>
            <a:srgbClr val="FBE3E0"/>
          </a:solidFill>
          <a:ln/>
        </p:spPr>
      </p:sp>
      <p:sp>
        <p:nvSpPr>
          <p:cNvPr id="12" name="metin-169"/>
          <p:cNvSpPr txBox="1"/>
          <p:nvPr/>
        </p:nvSpPr>
        <p:spPr>
          <a:xfrm>
            <a:off x="5285232" y="1673352"/>
            <a:ext cx="3108960" cy="329184"/>
          </a:xfrm>
          <a:prstGeom prst="rect">
            <a:avLst/>
          </a:prstGeom>
          <a:noFill/>
          <a:ln/>
        </p:spPr>
        <p:txBody>
          <a:bodyPr wrap="square" lIns="0" tIns="0" rIns="0" bIns="0" rtlCol="0" anchor="t"/>
          <a:lstStyle/>
          <a:p>
            <a:pPr indent="0" marL="0">
              <a:buNone/>
            </a:pPr>
            <a:r>
              <a:rPr lang="en-US" sz="1400" b="1" dirty="0">
                <a:solidFill>
                  <a:schemeClr val="tx1"/>
                </a:solidFill>
              </a:rPr>
              <a:t>POMPA AÇIK · don koruması</a:t>
            </a:r>
            <a:endParaRPr lang="en-US" sz="1400" dirty="0"/>
          </a:p>
        </p:txBody>
      </p:sp>
      <p:sp>
        <p:nvSpPr>
          <p:cNvPr id="13" name="metin-170"/>
          <p:cNvSpPr txBox="1"/>
          <p:nvPr/>
        </p:nvSpPr>
        <p:spPr>
          <a:xfrm>
            <a:off x="5285232" y="1993392"/>
            <a:ext cx="3108960" cy="256032"/>
          </a:xfrm>
          <a:prstGeom prst="rect">
            <a:avLst/>
          </a:prstGeom>
          <a:noFill/>
          <a:ln/>
        </p:spPr>
        <p:txBody>
          <a:bodyPr wrap="square" lIns="0" tIns="0" rIns="0" bIns="0" rtlCol="0" anchor="t"/>
          <a:lstStyle/>
          <a:p>
            <a:pPr indent="0" marL="0">
              <a:buNone/>
            </a:pPr>
            <a:r>
              <a:rPr lang="en-US" sz="1200" dirty="0">
                <a:solidFill>
                  <a:schemeClr val="tx2"/>
                </a:solidFill>
                <a:latin typeface="Courier New" pitchFamily="34" charset="0"/>
                <a:ea typeface="Courier New" pitchFamily="34" charset="-122"/>
                <a:cs typeface="Courier New" pitchFamily="34" charset="-120"/>
              </a:rPr>
              <a:t>frost_alert</a:t>
            </a:r>
            <a:endParaRPr lang="en-US" sz="1200" dirty="0"/>
          </a:p>
        </p:txBody>
      </p:sp>
      <p:sp>
        <p:nvSpPr>
          <p:cNvPr id="14" name="karar-171"/>
          <p:cNvSpPr/>
          <p:nvPr/>
        </p:nvSpPr>
        <p:spPr>
          <a:xfrm>
            <a:off x="548640" y="2514600"/>
            <a:ext cx="3931920" cy="713232"/>
          </a:xfrm>
          <a:prstGeom prst="roundRect">
            <a:avLst>
              <a:gd name="adj" fmla="val 15385"/>
            </a:avLst>
          </a:prstGeom>
          <a:solidFill>
            <a:srgbClr val="FFFFFF"/>
          </a:solidFill>
          <a:ln w="15875">
            <a:solidFill>
              <a:srgbClr val="0A7A5C"/>
            </a:solidFill>
            <a:prstDash val="solid"/>
          </a:ln>
        </p:spPr>
      </p:sp>
      <p:sp>
        <p:nvSpPr>
          <p:cNvPr id="15" name="metin-172"/>
          <p:cNvSpPr txBox="1"/>
          <p:nvPr/>
        </p:nvSpPr>
        <p:spPr>
          <a:xfrm>
            <a:off x="731520" y="2587752"/>
            <a:ext cx="3566160" cy="329184"/>
          </a:xfrm>
          <a:prstGeom prst="rect">
            <a:avLst/>
          </a:prstGeom>
          <a:noFill/>
          <a:ln/>
        </p:spPr>
        <p:txBody>
          <a:bodyPr wrap="square" lIns="0" tIns="0" rIns="0" bIns="0" rtlCol="0" anchor="t"/>
          <a:lstStyle/>
          <a:p>
            <a:pPr indent="0" marL="0">
              <a:buNone/>
            </a:pPr>
            <a:r>
              <a:rPr lang="en-US" sz="1400" b="1" dirty="0">
                <a:solidFill>
                  <a:schemeClr val="tx1"/>
                </a:solidFill>
              </a:rPr>
              <a:t>Toprak nemi &lt; %40 ve yağış yok?</a:t>
            </a:r>
            <a:endParaRPr lang="en-US" sz="1400" dirty="0"/>
          </a:p>
        </p:txBody>
      </p:sp>
      <p:sp>
        <p:nvSpPr>
          <p:cNvPr id="16" name="metin-173"/>
          <p:cNvSpPr txBox="1"/>
          <p:nvPr/>
        </p:nvSpPr>
        <p:spPr>
          <a:xfrm>
            <a:off x="731520" y="2907792"/>
            <a:ext cx="3566160" cy="256032"/>
          </a:xfrm>
          <a:prstGeom prst="rect">
            <a:avLst/>
          </a:prstGeom>
          <a:noFill/>
          <a:ln/>
        </p:spPr>
        <p:txBody>
          <a:bodyPr wrap="square" lIns="0" tIns="0" rIns="0" bIns="0" rtlCol="0" anchor="t"/>
          <a:lstStyle/>
          <a:p>
            <a:pPr indent="0" marL="0">
              <a:buNone/>
            </a:pPr>
            <a:r>
              <a:rPr lang="en-US" sz="1200" dirty="0">
                <a:solidFill>
                  <a:schemeClr val="tx2"/>
                </a:solidFill>
              </a:rPr>
              <a:t>sulama gerekli mi</a:t>
            </a:r>
            <a:endParaRPr lang="en-US" sz="1200" dirty="0"/>
          </a:p>
        </p:txBody>
      </p:sp>
      <p:sp>
        <p:nvSpPr>
          <p:cNvPr id="17" name="ok-174"/>
          <p:cNvSpPr/>
          <p:nvPr/>
        </p:nvSpPr>
        <p:spPr>
          <a:xfrm>
            <a:off x="2514600" y="3236976"/>
            <a:ext cx="0" cy="182880"/>
          </a:xfrm>
          <a:prstGeom prst="line">
            <a:avLst/>
          </a:prstGeom>
          <a:noFill/>
          <a:ln w="22225">
            <a:solidFill>
              <a:srgbClr val="5B6B65"/>
            </a:solidFill>
            <a:prstDash val="solid"/>
            <a:tailEnd type="triangle"/>
          </a:ln>
        </p:spPr>
      </p:sp>
      <p:sp>
        <p:nvSpPr>
          <p:cNvPr id="18" name="metin-175"/>
          <p:cNvSpPr txBox="1"/>
          <p:nvPr/>
        </p:nvSpPr>
        <p:spPr>
          <a:xfrm>
            <a:off x="2606040" y="3218688"/>
            <a:ext cx="640080" cy="219456"/>
          </a:xfrm>
          <a:prstGeom prst="rect">
            <a:avLst/>
          </a:prstGeom>
          <a:noFill/>
          <a:ln/>
        </p:spPr>
        <p:txBody>
          <a:bodyPr wrap="square" lIns="0" tIns="0" rIns="0" bIns="0" rtlCol="0" anchor="t"/>
          <a:lstStyle/>
          <a:p>
            <a:pPr indent="0" marL="0">
              <a:buNone/>
            </a:pPr>
            <a:r>
              <a:rPr lang="en-US" sz="1100" dirty="0">
                <a:solidFill>
                  <a:schemeClr val="tx2"/>
                </a:solidFill>
              </a:rPr>
              <a:t>evet</a:t>
            </a:r>
            <a:endParaRPr lang="en-US" sz="1100" dirty="0"/>
          </a:p>
        </p:txBody>
      </p:sp>
      <p:sp>
        <p:nvSpPr>
          <p:cNvPr id="19" name="ok-176"/>
          <p:cNvSpPr/>
          <p:nvPr/>
        </p:nvSpPr>
        <p:spPr>
          <a:xfrm>
            <a:off x="4507992" y="2871216"/>
            <a:ext cx="585216" cy="0"/>
          </a:xfrm>
          <a:prstGeom prst="line">
            <a:avLst/>
          </a:prstGeom>
          <a:noFill/>
          <a:ln w="22225">
            <a:solidFill>
              <a:srgbClr val="5B6B65"/>
            </a:solidFill>
            <a:prstDash val="solid"/>
            <a:tailEnd type="triangle"/>
          </a:ln>
        </p:spPr>
      </p:sp>
      <p:sp>
        <p:nvSpPr>
          <p:cNvPr id="20" name="metin-177"/>
          <p:cNvSpPr txBox="1"/>
          <p:nvPr/>
        </p:nvSpPr>
        <p:spPr>
          <a:xfrm>
            <a:off x="4526280" y="2596896"/>
            <a:ext cx="594360" cy="237744"/>
          </a:xfrm>
          <a:prstGeom prst="rect">
            <a:avLst/>
          </a:prstGeom>
          <a:noFill/>
          <a:ln/>
        </p:spPr>
        <p:txBody>
          <a:bodyPr wrap="square" lIns="0" tIns="0" rIns="0" bIns="0" rtlCol="0" anchor="t"/>
          <a:lstStyle/>
          <a:p>
            <a:pPr algn="ctr" indent="0" marL="0">
              <a:buNone/>
            </a:pPr>
            <a:r>
              <a:rPr lang="en-US" sz="1100" dirty="0">
                <a:solidFill>
                  <a:schemeClr val="tx2"/>
                </a:solidFill>
              </a:rPr>
              <a:t>hayır</a:t>
            </a:r>
            <a:endParaRPr lang="en-US" sz="1100" dirty="0"/>
          </a:p>
        </p:txBody>
      </p:sp>
      <p:sp>
        <p:nvSpPr>
          <p:cNvPr id="21" name="kart-178"/>
          <p:cNvSpPr/>
          <p:nvPr/>
        </p:nvSpPr>
        <p:spPr>
          <a:xfrm>
            <a:off x="5120640" y="2514600"/>
            <a:ext cx="3383280" cy="713232"/>
          </a:xfrm>
          <a:prstGeom prst="roundRect">
            <a:avLst>
              <a:gd name="adj" fmla="val 15385"/>
            </a:avLst>
          </a:prstGeom>
          <a:solidFill>
            <a:srgbClr val="EEF4F1"/>
          </a:solidFill>
          <a:ln/>
        </p:spPr>
      </p:sp>
      <p:sp>
        <p:nvSpPr>
          <p:cNvPr id="22" name="metin-179"/>
          <p:cNvSpPr txBox="1"/>
          <p:nvPr/>
        </p:nvSpPr>
        <p:spPr>
          <a:xfrm>
            <a:off x="5285232" y="2587752"/>
            <a:ext cx="3108960" cy="329184"/>
          </a:xfrm>
          <a:prstGeom prst="rect">
            <a:avLst/>
          </a:prstGeom>
          <a:noFill/>
          <a:ln/>
        </p:spPr>
        <p:txBody>
          <a:bodyPr wrap="square" lIns="0" tIns="0" rIns="0" bIns="0" rtlCol="0" anchor="t"/>
          <a:lstStyle/>
          <a:p>
            <a:pPr indent="0" marL="0">
              <a:buNone/>
            </a:pPr>
            <a:r>
              <a:rPr lang="en-US" sz="1400" b="1" dirty="0">
                <a:solidFill>
                  <a:schemeClr val="tx1"/>
                </a:solidFill>
              </a:rPr>
              <a:t>POMPA KAPALI · beklemede</a:t>
            </a:r>
            <a:endParaRPr lang="en-US" sz="1400" dirty="0"/>
          </a:p>
        </p:txBody>
      </p:sp>
      <p:sp>
        <p:nvSpPr>
          <p:cNvPr id="23" name="metin-180"/>
          <p:cNvSpPr txBox="1"/>
          <p:nvPr/>
        </p:nvSpPr>
        <p:spPr>
          <a:xfrm>
            <a:off x="5285232" y="2907792"/>
            <a:ext cx="3108960" cy="256032"/>
          </a:xfrm>
          <a:prstGeom prst="rect">
            <a:avLst/>
          </a:prstGeom>
          <a:noFill/>
          <a:ln/>
        </p:spPr>
        <p:txBody>
          <a:bodyPr wrap="square" lIns="0" tIns="0" rIns="0" bIns="0" rtlCol="0" anchor="t"/>
          <a:lstStyle/>
          <a:p>
            <a:pPr indent="0" marL="0">
              <a:buNone/>
            </a:pPr>
            <a:r>
              <a:rPr lang="en-US" sz="1200" dirty="0">
                <a:solidFill>
                  <a:schemeClr val="tx2"/>
                </a:solidFill>
                <a:latin typeface="Courier New" pitchFamily="34" charset="0"/>
                <a:ea typeface="Courier New" pitchFamily="34" charset="-122"/>
                <a:cs typeface="Courier New" pitchFamily="34" charset="-120"/>
              </a:rPr>
              <a:t>standby</a:t>
            </a:r>
            <a:endParaRPr lang="en-US" sz="1200" dirty="0"/>
          </a:p>
        </p:txBody>
      </p:sp>
      <p:sp>
        <p:nvSpPr>
          <p:cNvPr id="24" name="karar-181"/>
          <p:cNvSpPr/>
          <p:nvPr/>
        </p:nvSpPr>
        <p:spPr>
          <a:xfrm>
            <a:off x="548640" y="3429000"/>
            <a:ext cx="3931920" cy="713232"/>
          </a:xfrm>
          <a:prstGeom prst="roundRect">
            <a:avLst>
              <a:gd name="adj" fmla="val 15385"/>
            </a:avLst>
          </a:prstGeom>
          <a:solidFill>
            <a:srgbClr val="FFFFFF"/>
          </a:solidFill>
          <a:ln w="15875">
            <a:solidFill>
              <a:srgbClr val="0A7A5C"/>
            </a:solidFill>
            <a:prstDash val="solid"/>
          </a:ln>
        </p:spPr>
      </p:sp>
      <p:sp>
        <p:nvSpPr>
          <p:cNvPr id="25" name="metin-182"/>
          <p:cNvSpPr txBox="1"/>
          <p:nvPr/>
        </p:nvSpPr>
        <p:spPr>
          <a:xfrm>
            <a:off x="731520" y="3502152"/>
            <a:ext cx="3566160" cy="329184"/>
          </a:xfrm>
          <a:prstGeom prst="rect">
            <a:avLst/>
          </a:prstGeom>
          <a:noFill/>
          <a:ln/>
        </p:spPr>
        <p:txBody>
          <a:bodyPr wrap="square" lIns="0" tIns="0" rIns="0" bIns="0" rtlCol="0" anchor="t"/>
          <a:lstStyle/>
          <a:p>
            <a:pPr indent="0" marL="0">
              <a:buNone/>
            </a:pPr>
            <a:r>
              <a:rPr lang="en-US" sz="1400" b="1" dirty="0">
                <a:solidFill>
                  <a:schemeClr val="tx1"/>
                </a:solidFill>
              </a:rPr>
              <a:t>ET riski: T &gt; 25°C, 10–17, yağış yok?</a:t>
            </a:r>
            <a:endParaRPr lang="en-US" sz="1400" dirty="0"/>
          </a:p>
        </p:txBody>
      </p:sp>
      <p:sp>
        <p:nvSpPr>
          <p:cNvPr id="26" name="metin-183"/>
          <p:cNvSpPr txBox="1"/>
          <p:nvPr/>
        </p:nvSpPr>
        <p:spPr>
          <a:xfrm>
            <a:off x="731520" y="3822192"/>
            <a:ext cx="3566160" cy="256032"/>
          </a:xfrm>
          <a:prstGeom prst="rect">
            <a:avLst/>
          </a:prstGeom>
          <a:noFill/>
          <a:ln/>
        </p:spPr>
        <p:txBody>
          <a:bodyPr wrap="square" lIns="0" tIns="0" rIns="0" bIns="0" rtlCol="0" anchor="t"/>
          <a:lstStyle/>
          <a:p>
            <a:pPr indent="0" marL="0">
              <a:buNone/>
            </a:pPr>
            <a:r>
              <a:rPr lang="en-US" sz="1200" dirty="0">
                <a:solidFill>
                  <a:schemeClr val="tx2"/>
                </a:solidFill>
              </a:rPr>
              <a:t>buharlaşma kaybı</a:t>
            </a:r>
            <a:endParaRPr lang="en-US" sz="1200" dirty="0"/>
          </a:p>
        </p:txBody>
      </p:sp>
      <p:sp>
        <p:nvSpPr>
          <p:cNvPr id="27" name="ok-184"/>
          <p:cNvSpPr/>
          <p:nvPr/>
        </p:nvSpPr>
        <p:spPr>
          <a:xfrm>
            <a:off x="2514600" y="4151376"/>
            <a:ext cx="0" cy="182880"/>
          </a:xfrm>
          <a:prstGeom prst="line">
            <a:avLst/>
          </a:prstGeom>
          <a:noFill/>
          <a:ln w="22225">
            <a:solidFill>
              <a:srgbClr val="5B6B65"/>
            </a:solidFill>
            <a:prstDash val="solid"/>
            <a:tailEnd type="triangle"/>
          </a:ln>
        </p:spPr>
      </p:sp>
      <p:sp>
        <p:nvSpPr>
          <p:cNvPr id="28" name="metin-185"/>
          <p:cNvSpPr txBox="1"/>
          <p:nvPr/>
        </p:nvSpPr>
        <p:spPr>
          <a:xfrm>
            <a:off x="2606040" y="4133088"/>
            <a:ext cx="640080" cy="219456"/>
          </a:xfrm>
          <a:prstGeom prst="rect">
            <a:avLst/>
          </a:prstGeom>
          <a:noFill/>
          <a:ln/>
        </p:spPr>
        <p:txBody>
          <a:bodyPr wrap="square" lIns="0" tIns="0" rIns="0" bIns="0" rtlCol="0" anchor="t"/>
          <a:lstStyle/>
          <a:p>
            <a:pPr indent="0" marL="0">
              <a:buNone/>
            </a:pPr>
            <a:r>
              <a:rPr lang="en-US" sz="1100" dirty="0">
                <a:solidFill>
                  <a:schemeClr val="tx2"/>
                </a:solidFill>
              </a:rPr>
              <a:t>hayır</a:t>
            </a:r>
            <a:endParaRPr lang="en-US" sz="1100" dirty="0"/>
          </a:p>
        </p:txBody>
      </p:sp>
      <p:sp>
        <p:nvSpPr>
          <p:cNvPr id="29" name="ok-186"/>
          <p:cNvSpPr/>
          <p:nvPr/>
        </p:nvSpPr>
        <p:spPr>
          <a:xfrm>
            <a:off x="4507992" y="3785616"/>
            <a:ext cx="585216" cy="0"/>
          </a:xfrm>
          <a:prstGeom prst="line">
            <a:avLst/>
          </a:prstGeom>
          <a:noFill/>
          <a:ln w="22225">
            <a:solidFill>
              <a:srgbClr val="5B6B65"/>
            </a:solidFill>
            <a:prstDash val="solid"/>
            <a:tailEnd type="triangle"/>
          </a:ln>
        </p:spPr>
      </p:sp>
      <p:sp>
        <p:nvSpPr>
          <p:cNvPr id="30" name="metin-187"/>
          <p:cNvSpPr txBox="1"/>
          <p:nvPr/>
        </p:nvSpPr>
        <p:spPr>
          <a:xfrm>
            <a:off x="4526280" y="3511296"/>
            <a:ext cx="594360" cy="237744"/>
          </a:xfrm>
          <a:prstGeom prst="rect">
            <a:avLst/>
          </a:prstGeom>
          <a:noFill/>
          <a:ln/>
        </p:spPr>
        <p:txBody>
          <a:bodyPr wrap="square" lIns="0" tIns="0" rIns="0" bIns="0" rtlCol="0" anchor="t"/>
          <a:lstStyle/>
          <a:p>
            <a:pPr algn="ctr" indent="0" marL="0">
              <a:buNone/>
            </a:pPr>
            <a:r>
              <a:rPr lang="en-US" sz="1100" dirty="0">
                <a:solidFill>
                  <a:schemeClr val="tx2"/>
                </a:solidFill>
              </a:rPr>
              <a:t>evet</a:t>
            </a:r>
            <a:endParaRPr lang="en-US" sz="1100" dirty="0"/>
          </a:p>
        </p:txBody>
      </p:sp>
      <p:sp>
        <p:nvSpPr>
          <p:cNvPr id="31" name="kart-188"/>
          <p:cNvSpPr/>
          <p:nvPr/>
        </p:nvSpPr>
        <p:spPr>
          <a:xfrm>
            <a:off x="5120640" y="3429000"/>
            <a:ext cx="3383280" cy="713232"/>
          </a:xfrm>
          <a:prstGeom prst="roundRect">
            <a:avLst>
              <a:gd name="adj" fmla="val 15385"/>
            </a:avLst>
          </a:prstGeom>
          <a:solidFill>
            <a:srgbClr val="FCEFD6"/>
          </a:solidFill>
          <a:ln/>
        </p:spPr>
      </p:sp>
      <p:sp>
        <p:nvSpPr>
          <p:cNvPr id="32" name="metin-189"/>
          <p:cNvSpPr txBox="1"/>
          <p:nvPr/>
        </p:nvSpPr>
        <p:spPr>
          <a:xfrm>
            <a:off x="5285232" y="3502152"/>
            <a:ext cx="3108960" cy="329184"/>
          </a:xfrm>
          <a:prstGeom prst="rect">
            <a:avLst/>
          </a:prstGeom>
          <a:noFill/>
          <a:ln/>
        </p:spPr>
        <p:txBody>
          <a:bodyPr wrap="square" lIns="0" tIns="0" rIns="0" bIns="0" rtlCol="0" anchor="t"/>
          <a:lstStyle/>
          <a:p>
            <a:pPr indent="0" marL="0">
              <a:buNone/>
            </a:pPr>
            <a:r>
              <a:rPr lang="en-US" sz="1400" b="1" dirty="0">
                <a:solidFill>
                  <a:schemeClr val="tx1"/>
                </a:solidFill>
              </a:rPr>
              <a:t>KAPALI · sulama geceye ertelendi</a:t>
            </a:r>
            <a:endParaRPr lang="en-US" sz="1400" dirty="0"/>
          </a:p>
        </p:txBody>
      </p:sp>
      <p:sp>
        <p:nvSpPr>
          <p:cNvPr id="33" name="metin-190"/>
          <p:cNvSpPr txBox="1"/>
          <p:nvPr/>
        </p:nvSpPr>
        <p:spPr>
          <a:xfrm>
            <a:off x="5285232" y="3822192"/>
            <a:ext cx="3108960" cy="256032"/>
          </a:xfrm>
          <a:prstGeom prst="rect">
            <a:avLst/>
          </a:prstGeom>
          <a:noFill/>
          <a:ln/>
        </p:spPr>
        <p:txBody>
          <a:bodyPr wrap="square" lIns="0" tIns="0" rIns="0" bIns="0" rtlCol="0" anchor="t"/>
          <a:lstStyle/>
          <a:p>
            <a:pPr indent="0" marL="0">
              <a:buNone/>
            </a:pPr>
            <a:r>
              <a:rPr lang="en-US" sz="1200" dirty="0">
                <a:solidFill>
                  <a:schemeClr val="tx2"/>
                </a:solidFill>
                <a:latin typeface="Courier New" pitchFamily="34" charset="0"/>
                <a:ea typeface="Courier New" pitchFamily="34" charset="-122"/>
                <a:cs typeface="Courier New" pitchFamily="34" charset="-120"/>
              </a:rPr>
              <a:t>et_save</a:t>
            </a:r>
            <a:endParaRPr lang="en-US" sz="1200" dirty="0"/>
          </a:p>
        </p:txBody>
      </p:sp>
      <p:sp>
        <p:nvSpPr>
          <p:cNvPr id="34" name="karar-191"/>
          <p:cNvSpPr/>
          <p:nvPr/>
        </p:nvSpPr>
        <p:spPr>
          <a:xfrm>
            <a:off x="548640" y="4343400"/>
            <a:ext cx="3931920" cy="713232"/>
          </a:xfrm>
          <a:prstGeom prst="roundRect">
            <a:avLst>
              <a:gd name="adj" fmla="val 15385"/>
            </a:avLst>
          </a:prstGeom>
          <a:solidFill>
            <a:srgbClr val="FFFFFF"/>
          </a:solidFill>
          <a:ln w="15875">
            <a:solidFill>
              <a:srgbClr val="0A7A5C"/>
            </a:solidFill>
            <a:prstDash val="solid"/>
          </a:ln>
        </p:spPr>
      </p:sp>
      <p:sp>
        <p:nvSpPr>
          <p:cNvPr id="35" name="metin-192"/>
          <p:cNvSpPr txBox="1"/>
          <p:nvPr/>
        </p:nvSpPr>
        <p:spPr>
          <a:xfrm>
            <a:off x="731520" y="4416552"/>
            <a:ext cx="3566160" cy="329184"/>
          </a:xfrm>
          <a:prstGeom prst="rect">
            <a:avLst/>
          </a:prstGeom>
          <a:noFill/>
          <a:ln/>
        </p:spPr>
        <p:txBody>
          <a:bodyPr wrap="square" lIns="0" tIns="0" rIns="0" bIns="0" rtlCol="0" anchor="t"/>
          <a:lstStyle/>
          <a:p>
            <a:pPr indent="0" marL="0">
              <a:buNone/>
            </a:pPr>
            <a:r>
              <a:rPr lang="en-US" sz="1400" b="1" dirty="0">
                <a:solidFill>
                  <a:schemeClr val="tx1"/>
                </a:solidFill>
              </a:rPr>
              <a:t>Puant tarifesi (17:00–22:00)?</a:t>
            </a:r>
            <a:endParaRPr lang="en-US" sz="1400" dirty="0"/>
          </a:p>
        </p:txBody>
      </p:sp>
      <p:sp>
        <p:nvSpPr>
          <p:cNvPr id="36" name="metin-193"/>
          <p:cNvSpPr txBox="1"/>
          <p:nvPr/>
        </p:nvSpPr>
        <p:spPr>
          <a:xfrm>
            <a:off x="731520" y="4736592"/>
            <a:ext cx="3566160" cy="256032"/>
          </a:xfrm>
          <a:prstGeom prst="rect">
            <a:avLst/>
          </a:prstGeom>
          <a:noFill/>
          <a:ln/>
        </p:spPr>
        <p:txBody>
          <a:bodyPr wrap="square" lIns="0" tIns="0" rIns="0" bIns="0" rtlCol="0" anchor="t"/>
          <a:lstStyle/>
          <a:p>
            <a:pPr indent="0" marL="0">
              <a:buNone/>
            </a:pPr>
            <a:r>
              <a:rPr lang="en-US" sz="1200" dirty="0">
                <a:solidFill>
                  <a:schemeClr val="tx2"/>
                </a:solidFill>
              </a:rPr>
              <a:t>en pahalı kWh</a:t>
            </a:r>
            <a:endParaRPr lang="en-US" sz="1200" dirty="0"/>
          </a:p>
        </p:txBody>
      </p:sp>
      <p:sp>
        <p:nvSpPr>
          <p:cNvPr id="37" name="ok-194"/>
          <p:cNvSpPr/>
          <p:nvPr/>
        </p:nvSpPr>
        <p:spPr>
          <a:xfrm>
            <a:off x="2514600" y="5065776"/>
            <a:ext cx="0" cy="182880"/>
          </a:xfrm>
          <a:prstGeom prst="line">
            <a:avLst/>
          </a:prstGeom>
          <a:noFill/>
          <a:ln w="22225">
            <a:solidFill>
              <a:srgbClr val="5B6B65"/>
            </a:solidFill>
            <a:prstDash val="solid"/>
            <a:tailEnd type="triangle"/>
          </a:ln>
        </p:spPr>
      </p:sp>
      <p:sp>
        <p:nvSpPr>
          <p:cNvPr id="38" name="metin-195"/>
          <p:cNvSpPr txBox="1"/>
          <p:nvPr/>
        </p:nvSpPr>
        <p:spPr>
          <a:xfrm>
            <a:off x="2606040" y="5047488"/>
            <a:ext cx="640080" cy="219456"/>
          </a:xfrm>
          <a:prstGeom prst="rect">
            <a:avLst/>
          </a:prstGeom>
          <a:noFill/>
          <a:ln/>
        </p:spPr>
        <p:txBody>
          <a:bodyPr wrap="square" lIns="0" tIns="0" rIns="0" bIns="0" rtlCol="0" anchor="t"/>
          <a:lstStyle/>
          <a:p>
            <a:pPr indent="0" marL="0">
              <a:buNone/>
            </a:pPr>
            <a:r>
              <a:rPr lang="en-US" sz="1100" dirty="0">
                <a:solidFill>
                  <a:schemeClr val="tx2"/>
                </a:solidFill>
              </a:rPr>
              <a:t>hayır</a:t>
            </a:r>
            <a:endParaRPr lang="en-US" sz="1100" dirty="0"/>
          </a:p>
        </p:txBody>
      </p:sp>
      <p:sp>
        <p:nvSpPr>
          <p:cNvPr id="39" name="ok-196"/>
          <p:cNvSpPr/>
          <p:nvPr/>
        </p:nvSpPr>
        <p:spPr>
          <a:xfrm>
            <a:off x="4507992" y="4700016"/>
            <a:ext cx="585216" cy="0"/>
          </a:xfrm>
          <a:prstGeom prst="line">
            <a:avLst/>
          </a:prstGeom>
          <a:noFill/>
          <a:ln w="22225">
            <a:solidFill>
              <a:srgbClr val="5B6B65"/>
            </a:solidFill>
            <a:prstDash val="solid"/>
            <a:tailEnd type="triangle"/>
          </a:ln>
        </p:spPr>
      </p:sp>
      <p:sp>
        <p:nvSpPr>
          <p:cNvPr id="40" name="metin-197"/>
          <p:cNvSpPr txBox="1"/>
          <p:nvPr/>
        </p:nvSpPr>
        <p:spPr>
          <a:xfrm>
            <a:off x="4526280" y="4425696"/>
            <a:ext cx="594360" cy="237744"/>
          </a:xfrm>
          <a:prstGeom prst="rect">
            <a:avLst/>
          </a:prstGeom>
          <a:noFill/>
          <a:ln/>
        </p:spPr>
        <p:txBody>
          <a:bodyPr wrap="square" lIns="0" tIns="0" rIns="0" bIns="0" rtlCol="0" anchor="t"/>
          <a:lstStyle/>
          <a:p>
            <a:pPr algn="ctr" indent="0" marL="0">
              <a:buNone/>
            </a:pPr>
            <a:r>
              <a:rPr lang="en-US" sz="1100" dirty="0">
                <a:solidFill>
                  <a:schemeClr val="tx2"/>
                </a:solidFill>
              </a:rPr>
              <a:t>evet</a:t>
            </a:r>
            <a:endParaRPr lang="en-US" sz="1100" dirty="0"/>
          </a:p>
        </p:txBody>
      </p:sp>
      <p:sp>
        <p:nvSpPr>
          <p:cNvPr id="41" name="kart-198"/>
          <p:cNvSpPr/>
          <p:nvPr/>
        </p:nvSpPr>
        <p:spPr>
          <a:xfrm>
            <a:off x="5120640" y="4343400"/>
            <a:ext cx="3383280" cy="713232"/>
          </a:xfrm>
          <a:prstGeom prst="roundRect">
            <a:avLst>
              <a:gd name="adj" fmla="val 15385"/>
            </a:avLst>
          </a:prstGeom>
          <a:solidFill>
            <a:srgbClr val="FCEFD6"/>
          </a:solidFill>
          <a:ln/>
        </p:spPr>
      </p:sp>
      <p:sp>
        <p:nvSpPr>
          <p:cNvPr id="42" name="metin-199"/>
          <p:cNvSpPr txBox="1"/>
          <p:nvPr/>
        </p:nvSpPr>
        <p:spPr>
          <a:xfrm>
            <a:off x="5285232" y="4416552"/>
            <a:ext cx="3108960" cy="329184"/>
          </a:xfrm>
          <a:prstGeom prst="rect">
            <a:avLst/>
          </a:prstGeom>
          <a:noFill/>
          <a:ln/>
        </p:spPr>
        <p:txBody>
          <a:bodyPr wrap="square" lIns="0" tIns="0" rIns="0" bIns="0" rtlCol="0" anchor="t"/>
          <a:lstStyle/>
          <a:p>
            <a:pPr indent="0" marL="0">
              <a:buNone/>
            </a:pPr>
            <a:r>
              <a:rPr lang="en-US" sz="1400" b="1" dirty="0">
                <a:solidFill>
                  <a:schemeClr val="tx1"/>
                </a:solidFill>
              </a:rPr>
              <a:t>KAPALI · puant nedeniyle ertelendi</a:t>
            </a:r>
            <a:endParaRPr lang="en-US" sz="1400" dirty="0"/>
          </a:p>
        </p:txBody>
      </p:sp>
      <p:sp>
        <p:nvSpPr>
          <p:cNvPr id="43" name="metin-200"/>
          <p:cNvSpPr txBox="1"/>
          <p:nvPr/>
        </p:nvSpPr>
        <p:spPr>
          <a:xfrm>
            <a:off x="5285232" y="4736592"/>
            <a:ext cx="3108960" cy="256032"/>
          </a:xfrm>
          <a:prstGeom prst="rect">
            <a:avLst/>
          </a:prstGeom>
          <a:noFill/>
          <a:ln/>
        </p:spPr>
        <p:txBody>
          <a:bodyPr wrap="square" lIns="0" tIns="0" rIns="0" bIns="0" rtlCol="0" anchor="t"/>
          <a:lstStyle/>
          <a:p>
            <a:pPr indent="0" marL="0">
              <a:buNone/>
            </a:pPr>
            <a:r>
              <a:rPr lang="en-US" sz="1200" dirty="0">
                <a:solidFill>
                  <a:schemeClr val="tx2"/>
                </a:solidFill>
                <a:latin typeface="Courier New" pitchFamily="34" charset="0"/>
                <a:ea typeface="Courier New" pitchFamily="34" charset="-122"/>
                <a:cs typeface="Courier New" pitchFamily="34" charset="-120"/>
              </a:rPr>
              <a:t>energy_save</a:t>
            </a:r>
            <a:endParaRPr lang="en-US" sz="1200" dirty="0"/>
          </a:p>
        </p:txBody>
      </p:sp>
      <p:sp>
        <p:nvSpPr>
          <p:cNvPr id="44" name="karar-201"/>
          <p:cNvSpPr/>
          <p:nvPr/>
        </p:nvSpPr>
        <p:spPr>
          <a:xfrm>
            <a:off x="548640" y="5257800"/>
            <a:ext cx="3931920" cy="713232"/>
          </a:xfrm>
          <a:prstGeom prst="roundRect">
            <a:avLst>
              <a:gd name="adj" fmla="val 15385"/>
            </a:avLst>
          </a:prstGeom>
          <a:solidFill>
            <a:srgbClr val="FFFFFF"/>
          </a:solidFill>
          <a:ln w="15875">
            <a:solidFill>
              <a:srgbClr val="0A7A5C"/>
            </a:solidFill>
            <a:prstDash val="solid"/>
          </a:ln>
        </p:spPr>
      </p:sp>
      <p:sp>
        <p:nvSpPr>
          <p:cNvPr id="45" name="metin-202"/>
          <p:cNvSpPr txBox="1"/>
          <p:nvPr/>
        </p:nvSpPr>
        <p:spPr>
          <a:xfrm>
            <a:off x="731520" y="5330952"/>
            <a:ext cx="3566160" cy="329184"/>
          </a:xfrm>
          <a:prstGeom prst="rect">
            <a:avLst/>
          </a:prstGeom>
          <a:noFill/>
          <a:ln/>
        </p:spPr>
        <p:txBody>
          <a:bodyPr wrap="square" lIns="0" tIns="0" rIns="0" bIns="0" rtlCol="0" anchor="t"/>
          <a:lstStyle/>
          <a:p>
            <a:pPr indent="0" marL="0">
              <a:buNone/>
            </a:pPr>
            <a:r>
              <a:rPr lang="en-US" sz="1400" b="1" dirty="0">
                <a:solidFill>
                  <a:schemeClr val="tx1"/>
                </a:solidFill>
              </a:rPr>
              <a:t>Gece tarifesi (22:00–06:00)?</a:t>
            </a:r>
            <a:endParaRPr lang="en-US" sz="1400" dirty="0"/>
          </a:p>
        </p:txBody>
      </p:sp>
      <p:sp>
        <p:nvSpPr>
          <p:cNvPr id="46" name="metin-203"/>
          <p:cNvSpPr txBox="1"/>
          <p:nvPr/>
        </p:nvSpPr>
        <p:spPr>
          <a:xfrm>
            <a:off x="731520" y="5650992"/>
            <a:ext cx="3566160" cy="256032"/>
          </a:xfrm>
          <a:prstGeom prst="rect">
            <a:avLst/>
          </a:prstGeom>
          <a:noFill/>
          <a:ln/>
        </p:spPr>
        <p:txBody>
          <a:bodyPr wrap="square" lIns="0" tIns="0" rIns="0" bIns="0" rtlCol="0" anchor="t"/>
          <a:lstStyle/>
          <a:p>
            <a:pPr indent="0" marL="0">
              <a:buNone/>
            </a:pPr>
            <a:r>
              <a:rPr lang="en-US" sz="1200" dirty="0">
                <a:solidFill>
                  <a:schemeClr val="tx2"/>
                </a:solidFill>
              </a:rPr>
              <a:t>en ucuz kWh</a:t>
            </a:r>
            <a:endParaRPr lang="en-US" sz="1200" dirty="0"/>
          </a:p>
        </p:txBody>
      </p:sp>
      <p:sp>
        <p:nvSpPr>
          <p:cNvPr id="47" name="ok-204"/>
          <p:cNvSpPr/>
          <p:nvPr/>
        </p:nvSpPr>
        <p:spPr>
          <a:xfrm>
            <a:off x="4507992" y="5614416"/>
            <a:ext cx="585216" cy="0"/>
          </a:xfrm>
          <a:prstGeom prst="line">
            <a:avLst/>
          </a:prstGeom>
          <a:noFill/>
          <a:ln w="22225">
            <a:solidFill>
              <a:srgbClr val="5B6B65"/>
            </a:solidFill>
            <a:prstDash val="solid"/>
            <a:tailEnd type="triangle"/>
          </a:ln>
        </p:spPr>
      </p:sp>
      <p:sp>
        <p:nvSpPr>
          <p:cNvPr id="48" name="kart-205"/>
          <p:cNvSpPr/>
          <p:nvPr/>
        </p:nvSpPr>
        <p:spPr>
          <a:xfrm>
            <a:off x="5120640" y="5257800"/>
            <a:ext cx="3383280" cy="713232"/>
          </a:xfrm>
          <a:prstGeom prst="roundRect">
            <a:avLst>
              <a:gd name="adj" fmla="val 15385"/>
            </a:avLst>
          </a:prstGeom>
          <a:solidFill>
            <a:srgbClr val="D7F5EA"/>
          </a:solidFill>
          <a:ln/>
        </p:spPr>
      </p:sp>
      <p:sp>
        <p:nvSpPr>
          <p:cNvPr id="49" name="metin-206"/>
          <p:cNvSpPr txBox="1"/>
          <p:nvPr/>
        </p:nvSpPr>
        <p:spPr>
          <a:xfrm>
            <a:off x="5285232" y="5312664"/>
            <a:ext cx="3154680" cy="603504"/>
          </a:xfrm>
          <a:prstGeom prst="rect">
            <a:avLst/>
          </a:prstGeom>
          <a:noFill/>
          <a:ln/>
        </p:spPr>
        <p:txBody>
          <a:bodyPr wrap="square" lIns="0" tIns="0" rIns="0" bIns="0" rtlCol="0" anchor="ctr"/>
          <a:lstStyle/>
          <a:p>
            <a:pPr indent="0" marL="0">
              <a:buNone/>
            </a:pPr>
            <a:r>
              <a:rPr lang="en-US" sz="1300" dirty="0">
                <a:solidFill>
                  <a:schemeClr val="tx2"/>
                </a:solidFill>
              </a:rPr>
              <a:t>evet: </a:t>
            </a:r>
            <a:pPr indent="0" marL="0">
              <a:buNone/>
            </a:pPr>
            <a:r>
              <a:rPr lang="en-US" sz="1300" b="1" dirty="0">
                <a:solidFill>
                  <a:schemeClr val="tx1"/>
                </a:solidFill>
              </a:rPr>
              <a:t>AÇIK · optimum gece sulaması</a:t>
            </a:r>
            <a:endParaRPr lang="en-US" sz="1300" dirty="0"/>
          </a:p>
          <a:p>
            <a:pPr indent="0" marL="0">
              <a:buNone/>
            </a:pPr>
            <a:r>
              <a:rPr lang="en-US" sz="1300" dirty="0">
                <a:solidFill>
                  <a:schemeClr val="tx2"/>
                </a:solidFill>
              </a:rPr>
              <a:t>hayır: </a:t>
            </a:r>
            <a:pPr indent="0" marL="0">
              <a:buNone/>
            </a:pPr>
            <a:r>
              <a:rPr lang="en-US" sz="1300" b="1" dirty="0">
                <a:solidFill>
                  <a:schemeClr val="tx1"/>
                </a:solidFill>
              </a:rPr>
              <a:t>AÇIK · mecburi gündüz sulaması</a:t>
            </a:r>
            <a:endParaRPr lang="en-US" sz="1300" dirty="0"/>
          </a:p>
        </p:txBody>
      </p:sp>
      <p:sp>
        <p:nvSpPr>
          <p:cNvPr id="50" name="kart-207"/>
          <p:cNvSpPr/>
          <p:nvPr/>
        </p:nvSpPr>
        <p:spPr>
          <a:xfrm>
            <a:off x="8869680" y="1600200"/>
            <a:ext cx="2770632" cy="4370832"/>
          </a:xfrm>
          <a:prstGeom prst="roundRect">
            <a:avLst>
              <a:gd name="adj" fmla="val 3960"/>
            </a:avLst>
          </a:prstGeom>
          <a:solidFill>
            <a:schemeClr val="tx1"/>
          </a:solidFill>
          <a:ln/>
        </p:spPr>
      </p:sp>
      <p:sp>
        <p:nvSpPr>
          <p:cNvPr id="51" name="metin-208"/>
          <p:cNvSpPr txBox="1"/>
          <p:nvPr/>
        </p:nvSpPr>
        <p:spPr>
          <a:xfrm>
            <a:off x="9098280" y="1783080"/>
            <a:ext cx="2377440" cy="256032"/>
          </a:xfrm>
          <a:prstGeom prst="rect">
            <a:avLst/>
          </a:prstGeom>
          <a:noFill/>
          <a:ln/>
        </p:spPr>
        <p:txBody>
          <a:bodyPr wrap="square" lIns="0" tIns="0" rIns="0" bIns="0" rtlCol="0" anchor="t"/>
          <a:lstStyle/>
          <a:p>
            <a:pPr indent="0" marL="0">
              <a:buNone/>
            </a:pPr>
            <a:r>
              <a:rPr lang="en-US" sz="1100" b="1" spc="100" kern="0" dirty="0">
                <a:solidFill>
                  <a:srgbClr val="A9C2B8"/>
                </a:solidFill>
              </a:rPr>
              <a:t>HER ŞEYİN ÜSTÜNDE</a:t>
            </a:r>
            <a:endParaRPr lang="en-US" sz="1100" dirty="0"/>
          </a:p>
        </p:txBody>
      </p:sp>
      <p:sp>
        <p:nvSpPr>
          <p:cNvPr id="52" name="metin-209"/>
          <p:cNvSpPr txBox="1"/>
          <p:nvPr/>
        </p:nvSpPr>
        <p:spPr>
          <a:xfrm>
            <a:off x="9098280" y="2039112"/>
            <a:ext cx="2377440" cy="347472"/>
          </a:xfrm>
          <a:prstGeom prst="rect">
            <a:avLst/>
          </a:prstGeom>
          <a:noFill/>
          <a:ln/>
        </p:spPr>
        <p:txBody>
          <a:bodyPr wrap="square" lIns="0" tIns="0" rIns="0" bIns="0" rtlCol="0" anchor="t"/>
          <a:lstStyle/>
          <a:p>
            <a:pPr indent="0" marL="0">
              <a:buNone/>
            </a:pPr>
            <a:r>
              <a:rPr lang="en-US" sz="1800" b="1" dirty="0">
                <a:solidFill>
                  <a:schemeClr val="accent1"/>
                </a:solidFill>
              </a:rPr>
              <a:t>Manuel mod</a:t>
            </a:r>
            <a:endParaRPr lang="en-US" sz="1800" dirty="0"/>
          </a:p>
        </p:txBody>
      </p:sp>
      <p:sp>
        <p:nvSpPr>
          <p:cNvPr id="53" name="metin-210"/>
          <p:cNvSpPr txBox="1"/>
          <p:nvPr/>
        </p:nvSpPr>
        <p:spPr>
          <a:xfrm>
            <a:off x="9098280" y="2423160"/>
            <a:ext cx="2377440" cy="1005840"/>
          </a:xfrm>
          <a:prstGeom prst="rect">
            <a:avLst/>
          </a:prstGeom>
          <a:noFill/>
          <a:ln/>
        </p:spPr>
        <p:txBody>
          <a:bodyPr wrap="square" lIns="0" tIns="0" rIns="0" bIns="0" rtlCol="0" anchor="t"/>
          <a:lstStyle/>
          <a:p>
            <a:pPr indent="0" marL="0">
              <a:buNone/>
            </a:pPr>
            <a:r>
              <a:rPr lang="en-US" sz="1300" dirty="0">
                <a:solidFill>
                  <a:schemeClr val="bg1"/>
                </a:solidFill>
              </a:rPr>
              <a:t>Pompa “Açık” ya da “Kapalı” seçilirse karar manual_override olur. Son söz çiftçide.</a:t>
            </a:r>
            <a:endParaRPr lang="en-US" sz="1300" dirty="0"/>
          </a:p>
        </p:txBody>
      </p:sp>
      <p:sp>
        <p:nvSpPr>
          <p:cNvPr id="54" name="metin-211"/>
          <p:cNvSpPr txBox="1"/>
          <p:nvPr/>
        </p:nvSpPr>
        <p:spPr>
          <a:xfrm>
            <a:off x="9098280" y="3611880"/>
            <a:ext cx="2377440" cy="256032"/>
          </a:xfrm>
          <a:prstGeom prst="rect">
            <a:avLst/>
          </a:prstGeom>
          <a:noFill/>
          <a:ln/>
        </p:spPr>
        <p:txBody>
          <a:bodyPr wrap="square" lIns="0" tIns="0" rIns="0" bIns="0" rtlCol="0" anchor="t"/>
          <a:lstStyle/>
          <a:p>
            <a:pPr indent="0" marL="0">
              <a:buNone/>
            </a:pPr>
            <a:r>
              <a:rPr lang="en-US" sz="1100" b="1" spc="100" kern="0" dirty="0">
                <a:solidFill>
                  <a:srgbClr val="A9C2B8"/>
                </a:solidFill>
              </a:rPr>
              <a:t>PARALEL TAHMİNLER</a:t>
            </a:r>
            <a:endParaRPr lang="en-US" sz="1100" dirty="0"/>
          </a:p>
        </p:txBody>
      </p:sp>
      <p:sp>
        <p:nvSpPr>
          <p:cNvPr id="55" name="metin-212"/>
          <p:cNvSpPr txBox="1"/>
          <p:nvPr/>
        </p:nvSpPr>
        <p:spPr>
          <a:xfrm>
            <a:off x="9098280" y="3886200"/>
            <a:ext cx="2377440" cy="1965960"/>
          </a:xfrm>
          <a:prstGeom prst="rect">
            <a:avLst/>
          </a:prstGeom>
          <a:noFill/>
          <a:ln/>
        </p:spPr>
        <p:txBody>
          <a:bodyPr wrap="square" lIns="0" tIns="0" rIns="0" bIns="0" rtlCol="0" anchor="t"/>
          <a:lstStyle/>
          <a:p>
            <a:pPr indent="0" marL="0">
              <a:buNone/>
            </a:pPr>
            <a:r>
              <a:rPr lang="en-US" sz="1300" b="1" dirty="0">
                <a:solidFill>
                  <a:schemeClr val="accent1"/>
                </a:solidFill>
              </a:rPr>
              <a:t>Fertigasyon kilidi: </a:t>
            </a:r>
            <a:pPr indent="0" marL="0">
              <a:buNone/>
            </a:pPr>
            <a:r>
              <a:rPr lang="en-US" sz="1300" dirty="0">
                <a:solidFill>
                  <a:schemeClr val="bg1"/>
                </a:solidFill>
              </a:rPr>
              <a:t>bugün veya yarın yağış &gt; 0,5 mm</a:t>
            </a:r>
            <a:endParaRPr lang="en-US" sz="1300" dirty="0"/>
          </a:p>
          <a:p>
            <a:pPr indent="0" marL="0">
              <a:buNone/>
            </a:pPr>
            <a:r>
              <a:rPr lang="en-US" sz="600" dirty="0">
                <a:solidFill>
                  <a:schemeClr val="bg1"/>
                </a:solidFill>
              </a:rPr>
              <a:t> </a:t>
            </a:r>
            <a:endParaRPr lang="en-US" sz="1300" dirty="0"/>
          </a:p>
          <a:p>
            <a:pPr indent="0" marL="0">
              <a:buNone/>
            </a:pPr>
            <a:r>
              <a:rPr lang="en-US" sz="1300" b="1" dirty="0">
                <a:solidFill>
                  <a:schemeClr val="accent1"/>
                </a:solidFill>
              </a:rPr>
              <a:t>Mantar riski: </a:t>
            </a:r>
            <a:pPr indent="0" marL="0">
              <a:buNone/>
            </a:pPr>
            <a:r>
              <a:rPr lang="en-US" sz="1300" dirty="0">
                <a:solidFill>
                  <a:schemeClr val="bg1"/>
                </a:solidFill>
              </a:rPr>
              <a:t>sonraki 3 günün birinde nem &gt; %75 ve 15–25°C</a:t>
            </a:r>
            <a:endParaRPr lang="en-US" sz="1300" dirty="0"/>
          </a:p>
          <a:p>
            <a:pPr indent="0" marL="0">
              <a:buNone/>
            </a:pPr>
            <a:r>
              <a:rPr lang="en-US" sz="600" dirty="0">
                <a:solidFill>
                  <a:schemeClr val="bg1"/>
                </a:solidFill>
              </a:rPr>
              <a:t> </a:t>
            </a:r>
            <a:endParaRPr lang="en-US" sz="1300" dirty="0"/>
          </a:p>
          <a:p>
            <a:pPr indent="0" marL="0">
              <a:buNone/>
            </a:pPr>
            <a:r>
              <a:rPr lang="en-US" sz="1300" b="1" dirty="0">
                <a:solidFill>
                  <a:schemeClr val="accent1"/>
                </a:solidFill>
              </a:rPr>
              <a:t>Arayüz: </a:t>
            </a:r>
            <a:pPr indent="0" marL="0">
              <a:buNone/>
            </a:pPr>
            <a:r>
              <a:rPr lang="en-US" sz="1300" dirty="0">
                <a:solidFill>
                  <a:schemeClr val="bg1"/>
                </a:solidFill>
              </a:rPr>
              <a:t>action_type → renk ve ikon, reason → gerekçe metni</a:t>
            </a:r>
            <a:endParaRPr lang="en-US" sz="13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B6B6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8229600" cy="274320"/>
          </a:xfrm>
          <a:prstGeom prst="rect">
            <a:avLst/>
          </a:prstGeom>
          <a:noFill/>
          <a:ln/>
        </p:spPr>
        <p:txBody>
          <a:bodyPr wrap="square" lIns="0" tIns="0" rIns="0" bIns="0" rtlCol="0" anchor="t"/>
          <a:lstStyle/>
          <a:p>
            <a:pPr indent="0" marL="0">
              <a:buNone/>
            </a:pPr>
            <a:r>
              <a:rPr lang="en-US" sz="1200" b="1" spc="150" kern="0" dirty="0">
                <a:solidFill>
                  <a:schemeClr val="accent2"/>
                </a:solidFill>
              </a:rPr>
              <a:t>SENARYO</a:t>
            </a:r>
            <a:endParaRPr lang="en-US" sz="1200" dirty="0"/>
          </a:p>
        </p:txBody>
      </p:sp>
      <p:sp>
        <p:nvSpPr>
          <p:cNvPr id="3" name="Text 0"/>
          <p:cNvSpPr/>
          <p:nvPr>
            <p:ph idx="101" type="title" hasCustomPrompt="1"/>
          </p:nvPr>
        </p:nvSpPr>
        <p:spPr>
          <a:xfrm>
            <a:off x="548640" y="621792"/>
            <a:ext cx="11091672" cy="731520"/>
          </a:xfrm>
          <a:prstGeom prst="rect">
            <a:avLst/>
          </a:prstGeom>
          <a:noFill/>
          <a:ln/>
        </p:spPr>
        <p:txBody>
          <a:bodyPr wrap="square" lIns="0" tIns="0" rIns="0" bIns="0" rtlCol="0" anchor="t"/>
          <a:lstStyle/>
          <a:p>
            <a:pPr algn="l" indent="0" marL="0">
              <a:buNone/>
            </a:pPr>
            <a:r>
              <a:rPr lang="en-US" sz="3000" b="1" dirty="0">
                <a:solidFill>
                  <a:schemeClr val="tx1"/>
                </a:solidFill>
              </a:rPr>
              <a:t>Bir gün, aynı tarla, dört farklı karar</a:t>
            </a:r>
            <a:endParaRPr lang="en-US" sz="3000" dirty="0"/>
          </a:p>
        </p:txBody>
      </p:sp>
      <p:sp>
        <p:nvSpPr>
          <p:cNvPr id="4" name="metin-213"/>
          <p:cNvSpPr txBox="1"/>
          <p:nvPr/>
        </p:nvSpPr>
        <p:spPr>
          <a:xfrm>
            <a:off x="548640" y="1508760"/>
            <a:ext cx="11091672" cy="320040"/>
          </a:xfrm>
          <a:prstGeom prst="rect">
            <a:avLst/>
          </a:prstGeom>
          <a:noFill/>
          <a:ln/>
        </p:spPr>
        <p:txBody>
          <a:bodyPr wrap="square" lIns="0" tIns="0" rIns="0" bIns="0" rtlCol="0" anchor="t"/>
          <a:lstStyle/>
          <a:p>
            <a:pPr indent="0" marL="0">
              <a:buNone/>
            </a:pPr>
            <a:r>
              <a:rPr lang="en-US" sz="1400" b="1" dirty="0">
                <a:solidFill>
                  <a:schemeClr val="tx1"/>
                </a:solidFill>
              </a:rPr>
              <a:t>Girdiler: </a:t>
            </a:r>
            <a:pPr indent="0" marL="0">
              <a:buNone/>
            </a:pPr>
            <a:r>
              <a:rPr lang="en-US" sz="1400" dirty="0">
                <a:solidFill>
                  <a:schemeClr val="tx2"/>
                </a:solidFill>
              </a:rPr>
              <a:t>Nisan · Tmin 1,5°C / Tmax 28,5°C · toprak nemi %35 (sensör) · bugün yağış yok, yarın yağış var</a:t>
            </a:r>
            <a:endParaRPr lang="en-US" sz="1400" dirty="0"/>
          </a:p>
        </p:txBody>
      </p:sp>
      <p:sp>
        <p:nvSpPr>
          <p:cNvPr id="5" name="tarife-bandi-214"/>
          <p:cNvSpPr/>
          <p:nvPr/>
        </p:nvSpPr>
        <p:spPr>
          <a:xfrm>
            <a:off x="548640" y="2057400"/>
            <a:ext cx="2772918" cy="502920"/>
          </a:xfrm>
          <a:prstGeom prst="rect">
            <a:avLst/>
          </a:prstGeom>
          <a:solidFill>
            <a:srgbClr val="D7F5EA"/>
          </a:solidFill>
          <a:ln w="19050">
            <a:solidFill>
              <a:srgbClr val="FFFFFF"/>
            </a:solidFill>
            <a:prstDash val="solid"/>
          </a:ln>
        </p:spPr>
      </p:sp>
      <p:sp>
        <p:nvSpPr>
          <p:cNvPr id="6" name="metin-215"/>
          <p:cNvSpPr txBox="1"/>
          <p:nvPr/>
        </p:nvSpPr>
        <p:spPr>
          <a:xfrm>
            <a:off x="548640" y="2057400"/>
            <a:ext cx="2772918" cy="502920"/>
          </a:xfrm>
          <a:prstGeom prst="rect">
            <a:avLst/>
          </a:prstGeom>
          <a:noFill/>
          <a:ln/>
        </p:spPr>
        <p:txBody>
          <a:bodyPr wrap="square" lIns="0" tIns="0" rIns="0" bIns="0" rtlCol="0" anchor="ctr"/>
          <a:lstStyle/>
          <a:p>
            <a:pPr algn="ctr" indent="0" marL="0">
              <a:buNone/>
            </a:pPr>
            <a:r>
              <a:rPr lang="en-US" sz="1200" b="1" dirty="0">
                <a:solidFill>
                  <a:schemeClr val="tx1"/>
                </a:solidFill>
              </a:rPr>
              <a:t>Gece · 1,50 ₺/kWh</a:t>
            </a:r>
            <a:endParaRPr lang="en-US" sz="1200" dirty="0"/>
          </a:p>
        </p:txBody>
      </p:sp>
      <p:sp>
        <p:nvSpPr>
          <p:cNvPr id="7" name="tarife-bandi-216"/>
          <p:cNvSpPr/>
          <p:nvPr/>
        </p:nvSpPr>
        <p:spPr>
          <a:xfrm>
            <a:off x="3321558" y="2057400"/>
            <a:ext cx="5083683" cy="502920"/>
          </a:xfrm>
          <a:prstGeom prst="rect">
            <a:avLst/>
          </a:prstGeom>
          <a:solidFill>
            <a:srgbClr val="FCEFD6"/>
          </a:solidFill>
          <a:ln w="19050">
            <a:solidFill>
              <a:srgbClr val="FFFFFF"/>
            </a:solidFill>
            <a:prstDash val="solid"/>
          </a:ln>
        </p:spPr>
      </p:sp>
      <p:sp>
        <p:nvSpPr>
          <p:cNvPr id="8" name="metin-217"/>
          <p:cNvSpPr txBox="1"/>
          <p:nvPr/>
        </p:nvSpPr>
        <p:spPr>
          <a:xfrm>
            <a:off x="3321558" y="2057400"/>
            <a:ext cx="5083683" cy="502920"/>
          </a:xfrm>
          <a:prstGeom prst="rect">
            <a:avLst/>
          </a:prstGeom>
          <a:noFill/>
          <a:ln/>
        </p:spPr>
        <p:txBody>
          <a:bodyPr wrap="square" lIns="0" tIns="0" rIns="0" bIns="0" rtlCol="0" anchor="ctr"/>
          <a:lstStyle/>
          <a:p>
            <a:pPr algn="ctr" indent="0" marL="0">
              <a:buNone/>
            </a:pPr>
            <a:r>
              <a:rPr lang="en-US" sz="1200" b="1" dirty="0">
                <a:solidFill>
                  <a:schemeClr val="tx1"/>
                </a:solidFill>
              </a:rPr>
              <a:t>Gündüz · 2,50 ₺/kWh</a:t>
            </a:r>
            <a:endParaRPr lang="en-US" sz="1200" dirty="0"/>
          </a:p>
        </p:txBody>
      </p:sp>
      <p:sp>
        <p:nvSpPr>
          <p:cNvPr id="9" name="tarife-bandi-218"/>
          <p:cNvSpPr/>
          <p:nvPr/>
        </p:nvSpPr>
        <p:spPr>
          <a:xfrm>
            <a:off x="8405241" y="2057400"/>
            <a:ext cx="2310765" cy="502920"/>
          </a:xfrm>
          <a:prstGeom prst="rect">
            <a:avLst/>
          </a:prstGeom>
          <a:solidFill>
            <a:srgbClr val="FBE3E0"/>
          </a:solidFill>
          <a:ln w="19050">
            <a:solidFill>
              <a:srgbClr val="FFFFFF"/>
            </a:solidFill>
            <a:prstDash val="solid"/>
          </a:ln>
        </p:spPr>
      </p:sp>
      <p:sp>
        <p:nvSpPr>
          <p:cNvPr id="10" name="metin-219"/>
          <p:cNvSpPr txBox="1"/>
          <p:nvPr/>
        </p:nvSpPr>
        <p:spPr>
          <a:xfrm>
            <a:off x="8405241" y="2057400"/>
            <a:ext cx="2310765" cy="502920"/>
          </a:xfrm>
          <a:prstGeom prst="rect">
            <a:avLst/>
          </a:prstGeom>
          <a:noFill/>
          <a:ln/>
        </p:spPr>
        <p:txBody>
          <a:bodyPr wrap="square" lIns="0" tIns="0" rIns="0" bIns="0" rtlCol="0" anchor="ctr"/>
          <a:lstStyle/>
          <a:p>
            <a:pPr algn="ctr" indent="0" marL="0">
              <a:buNone/>
            </a:pPr>
            <a:r>
              <a:rPr lang="en-US" sz="1200" b="1" dirty="0">
                <a:solidFill>
                  <a:schemeClr val="tx1"/>
                </a:solidFill>
              </a:rPr>
              <a:t>Puant · 4,00 ₺/kWh</a:t>
            </a:r>
            <a:endParaRPr lang="en-US" sz="1200" dirty="0"/>
          </a:p>
        </p:txBody>
      </p:sp>
      <p:sp>
        <p:nvSpPr>
          <p:cNvPr id="11" name="tarife-bandi-220"/>
          <p:cNvSpPr/>
          <p:nvPr/>
        </p:nvSpPr>
        <p:spPr>
          <a:xfrm>
            <a:off x="10716006" y="2057400"/>
            <a:ext cx="924306" cy="502920"/>
          </a:xfrm>
          <a:prstGeom prst="rect">
            <a:avLst/>
          </a:prstGeom>
          <a:solidFill>
            <a:srgbClr val="D7F5EA"/>
          </a:solidFill>
          <a:ln w="19050">
            <a:solidFill>
              <a:srgbClr val="FFFFFF"/>
            </a:solidFill>
            <a:prstDash val="solid"/>
          </a:ln>
        </p:spPr>
      </p:sp>
      <p:sp>
        <p:nvSpPr>
          <p:cNvPr id="12" name="metin-221"/>
          <p:cNvSpPr txBox="1"/>
          <p:nvPr/>
        </p:nvSpPr>
        <p:spPr>
          <a:xfrm>
            <a:off x="10716006" y="2057400"/>
            <a:ext cx="924306" cy="502920"/>
          </a:xfrm>
          <a:prstGeom prst="rect">
            <a:avLst/>
          </a:prstGeom>
          <a:noFill/>
          <a:ln/>
        </p:spPr>
        <p:txBody>
          <a:bodyPr wrap="square" lIns="0" tIns="0" rIns="0" bIns="0" rtlCol="0" anchor="ctr"/>
          <a:lstStyle/>
          <a:p>
            <a:pPr algn="ctr" indent="0" marL="0">
              <a:buNone/>
            </a:pPr>
            <a:r>
              <a:rPr lang="en-US" sz="1200" b="1" dirty="0">
                <a:solidFill>
                  <a:schemeClr val="tx1"/>
                </a:solidFill>
              </a:rPr>
              <a:t>Gece</a:t>
            </a:r>
            <a:endParaRPr lang="en-US" sz="1200" dirty="0"/>
          </a:p>
        </p:txBody>
      </p:sp>
      <p:sp>
        <p:nvSpPr>
          <p:cNvPr id="13" name="zaman-ekseni"/>
          <p:cNvSpPr/>
          <p:nvPr/>
        </p:nvSpPr>
        <p:spPr>
          <a:xfrm>
            <a:off x="548640" y="2880360"/>
            <a:ext cx="11091672" cy="0"/>
          </a:xfrm>
          <a:prstGeom prst="line">
            <a:avLst/>
          </a:prstGeom>
          <a:noFill/>
          <a:ln w="19050">
            <a:solidFill>
              <a:srgbClr val="5B6B65"/>
            </a:solidFill>
            <a:prstDash val="solid"/>
          </a:ln>
        </p:spPr>
      </p:sp>
      <p:sp>
        <p:nvSpPr>
          <p:cNvPr id="14" name="tik-222"/>
          <p:cNvSpPr/>
          <p:nvPr/>
        </p:nvSpPr>
        <p:spPr>
          <a:xfrm>
            <a:off x="548640" y="2816352"/>
            <a:ext cx="0" cy="128016"/>
          </a:xfrm>
          <a:prstGeom prst="line">
            <a:avLst/>
          </a:prstGeom>
          <a:noFill/>
          <a:ln w="15875">
            <a:solidFill>
              <a:srgbClr val="5B6B65"/>
            </a:solidFill>
            <a:prstDash val="solid"/>
          </a:ln>
        </p:spPr>
      </p:sp>
      <p:sp>
        <p:nvSpPr>
          <p:cNvPr id="15" name="metin-223"/>
          <p:cNvSpPr txBox="1"/>
          <p:nvPr/>
        </p:nvSpPr>
        <p:spPr>
          <a:xfrm>
            <a:off x="548640" y="3127248"/>
            <a:ext cx="731520" cy="256032"/>
          </a:xfrm>
          <a:prstGeom prst="rect">
            <a:avLst/>
          </a:prstGeom>
          <a:noFill/>
          <a:ln/>
        </p:spPr>
        <p:txBody>
          <a:bodyPr wrap="square" lIns="0" tIns="0" rIns="0" bIns="0" rtlCol="0" anchor="t"/>
          <a:lstStyle/>
          <a:p>
            <a:pPr algn="l" indent="0" marL="0">
              <a:buNone/>
            </a:pPr>
            <a:r>
              <a:rPr lang="en-US" sz="1100" dirty="0">
                <a:solidFill>
                  <a:schemeClr val="tx2"/>
                </a:solidFill>
              </a:rPr>
              <a:t>00:00</a:t>
            </a:r>
            <a:endParaRPr lang="en-US" sz="1100" dirty="0"/>
          </a:p>
        </p:txBody>
      </p:sp>
      <p:sp>
        <p:nvSpPr>
          <p:cNvPr id="16" name="tik-224"/>
          <p:cNvSpPr/>
          <p:nvPr/>
        </p:nvSpPr>
        <p:spPr>
          <a:xfrm>
            <a:off x="3321558" y="2816352"/>
            <a:ext cx="0" cy="128016"/>
          </a:xfrm>
          <a:prstGeom prst="line">
            <a:avLst/>
          </a:prstGeom>
          <a:noFill/>
          <a:ln w="15875">
            <a:solidFill>
              <a:srgbClr val="5B6B65"/>
            </a:solidFill>
            <a:prstDash val="solid"/>
          </a:ln>
        </p:spPr>
      </p:sp>
      <p:sp>
        <p:nvSpPr>
          <p:cNvPr id="17" name="metin-225"/>
          <p:cNvSpPr txBox="1"/>
          <p:nvPr/>
        </p:nvSpPr>
        <p:spPr>
          <a:xfrm>
            <a:off x="2955798" y="3127248"/>
            <a:ext cx="731520" cy="256032"/>
          </a:xfrm>
          <a:prstGeom prst="rect">
            <a:avLst/>
          </a:prstGeom>
          <a:noFill/>
          <a:ln/>
        </p:spPr>
        <p:txBody>
          <a:bodyPr wrap="square" lIns="0" tIns="0" rIns="0" bIns="0" rtlCol="0" anchor="t"/>
          <a:lstStyle/>
          <a:p>
            <a:pPr algn="ctr" indent="0" marL="0">
              <a:buNone/>
            </a:pPr>
            <a:r>
              <a:rPr lang="en-US" sz="1100" dirty="0">
                <a:solidFill>
                  <a:schemeClr val="tx2"/>
                </a:solidFill>
              </a:rPr>
              <a:t>06:00</a:t>
            </a:r>
            <a:endParaRPr lang="en-US" sz="1100" dirty="0"/>
          </a:p>
        </p:txBody>
      </p:sp>
      <p:sp>
        <p:nvSpPr>
          <p:cNvPr id="18" name="tik-226"/>
          <p:cNvSpPr/>
          <p:nvPr/>
        </p:nvSpPr>
        <p:spPr>
          <a:xfrm>
            <a:off x="6094476" y="2816352"/>
            <a:ext cx="0" cy="128016"/>
          </a:xfrm>
          <a:prstGeom prst="line">
            <a:avLst/>
          </a:prstGeom>
          <a:noFill/>
          <a:ln w="15875">
            <a:solidFill>
              <a:srgbClr val="5B6B65"/>
            </a:solidFill>
            <a:prstDash val="solid"/>
          </a:ln>
        </p:spPr>
      </p:sp>
      <p:sp>
        <p:nvSpPr>
          <p:cNvPr id="19" name="metin-227"/>
          <p:cNvSpPr txBox="1"/>
          <p:nvPr/>
        </p:nvSpPr>
        <p:spPr>
          <a:xfrm>
            <a:off x="5728716" y="3127248"/>
            <a:ext cx="731520" cy="256032"/>
          </a:xfrm>
          <a:prstGeom prst="rect">
            <a:avLst/>
          </a:prstGeom>
          <a:noFill/>
          <a:ln/>
        </p:spPr>
        <p:txBody>
          <a:bodyPr wrap="square" lIns="0" tIns="0" rIns="0" bIns="0" rtlCol="0" anchor="t"/>
          <a:lstStyle/>
          <a:p>
            <a:pPr algn="ctr" indent="0" marL="0">
              <a:buNone/>
            </a:pPr>
            <a:r>
              <a:rPr lang="en-US" sz="1100" dirty="0">
                <a:solidFill>
                  <a:schemeClr val="tx2"/>
                </a:solidFill>
              </a:rPr>
              <a:t>12:00</a:t>
            </a:r>
            <a:endParaRPr lang="en-US" sz="1100" dirty="0"/>
          </a:p>
        </p:txBody>
      </p:sp>
      <p:sp>
        <p:nvSpPr>
          <p:cNvPr id="20" name="tik-228"/>
          <p:cNvSpPr/>
          <p:nvPr/>
        </p:nvSpPr>
        <p:spPr>
          <a:xfrm>
            <a:off x="8867394" y="2816352"/>
            <a:ext cx="0" cy="128016"/>
          </a:xfrm>
          <a:prstGeom prst="line">
            <a:avLst/>
          </a:prstGeom>
          <a:noFill/>
          <a:ln w="15875">
            <a:solidFill>
              <a:srgbClr val="5B6B65"/>
            </a:solidFill>
            <a:prstDash val="solid"/>
          </a:ln>
        </p:spPr>
      </p:sp>
      <p:sp>
        <p:nvSpPr>
          <p:cNvPr id="21" name="metin-229"/>
          <p:cNvSpPr txBox="1"/>
          <p:nvPr/>
        </p:nvSpPr>
        <p:spPr>
          <a:xfrm>
            <a:off x="8501634" y="3127248"/>
            <a:ext cx="731520" cy="256032"/>
          </a:xfrm>
          <a:prstGeom prst="rect">
            <a:avLst/>
          </a:prstGeom>
          <a:noFill/>
          <a:ln/>
        </p:spPr>
        <p:txBody>
          <a:bodyPr wrap="square" lIns="0" tIns="0" rIns="0" bIns="0" rtlCol="0" anchor="t"/>
          <a:lstStyle/>
          <a:p>
            <a:pPr algn="ctr" indent="0" marL="0">
              <a:buNone/>
            </a:pPr>
            <a:r>
              <a:rPr lang="en-US" sz="1100" dirty="0">
                <a:solidFill>
                  <a:schemeClr val="tx2"/>
                </a:solidFill>
              </a:rPr>
              <a:t>18:00</a:t>
            </a:r>
            <a:endParaRPr lang="en-US" sz="1100" dirty="0"/>
          </a:p>
        </p:txBody>
      </p:sp>
      <p:sp>
        <p:nvSpPr>
          <p:cNvPr id="22" name="tik-230"/>
          <p:cNvSpPr/>
          <p:nvPr/>
        </p:nvSpPr>
        <p:spPr>
          <a:xfrm>
            <a:off x="11640312" y="2816352"/>
            <a:ext cx="0" cy="128016"/>
          </a:xfrm>
          <a:prstGeom prst="line">
            <a:avLst/>
          </a:prstGeom>
          <a:noFill/>
          <a:ln w="15875">
            <a:solidFill>
              <a:srgbClr val="5B6B65"/>
            </a:solidFill>
            <a:prstDash val="solid"/>
          </a:ln>
        </p:spPr>
      </p:sp>
      <p:sp>
        <p:nvSpPr>
          <p:cNvPr id="23" name="metin-231"/>
          <p:cNvSpPr txBox="1"/>
          <p:nvPr/>
        </p:nvSpPr>
        <p:spPr>
          <a:xfrm>
            <a:off x="10908792" y="3127248"/>
            <a:ext cx="731520" cy="256032"/>
          </a:xfrm>
          <a:prstGeom prst="rect">
            <a:avLst/>
          </a:prstGeom>
          <a:noFill/>
          <a:ln/>
        </p:spPr>
        <p:txBody>
          <a:bodyPr wrap="square" lIns="0" tIns="0" rIns="0" bIns="0" rtlCol="0" anchor="t"/>
          <a:lstStyle/>
          <a:p>
            <a:pPr algn="r" indent="0" marL="0">
              <a:buNone/>
            </a:pPr>
            <a:r>
              <a:rPr lang="en-US" sz="1100" dirty="0">
                <a:solidFill>
                  <a:schemeClr val="tx2"/>
                </a:solidFill>
              </a:rPr>
              <a:t>24:00</a:t>
            </a:r>
            <a:endParaRPr lang="en-US" sz="1100" dirty="0"/>
          </a:p>
        </p:txBody>
      </p:sp>
      <p:sp>
        <p:nvSpPr>
          <p:cNvPr id="24" name="olay-noktasi-232"/>
          <p:cNvSpPr/>
          <p:nvPr/>
        </p:nvSpPr>
        <p:spPr>
          <a:xfrm>
            <a:off x="1752219" y="2697480"/>
            <a:ext cx="365760" cy="365760"/>
          </a:xfrm>
          <a:prstGeom prst="ellipse">
            <a:avLst/>
          </a:prstGeom>
          <a:solidFill>
            <a:schemeClr val="accent5"/>
          </a:solidFill>
          <a:ln w="25400">
            <a:solidFill>
              <a:srgbClr val="FFFFFF"/>
            </a:solidFill>
            <a:prstDash val="solid"/>
          </a:ln>
        </p:spPr>
      </p:sp>
      <p:sp>
        <p:nvSpPr>
          <p:cNvPr id="25" name="metin-233"/>
          <p:cNvSpPr txBox="1"/>
          <p:nvPr/>
        </p:nvSpPr>
        <p:spPr>
          <a:xfrm>
            <a:off x="1752219" y="2697480"/>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26" name="kart-234"/>
          <p:cNvSpPr/>
          <p:nvPr/>
        </p:nvSpPr>
        <p:spPr>
          <a:xfrm>
            <a:off x="548640" y="3474720"/>
            <a:ext cx="2601468" cy="1874520"/>
          </a:xfrm>
          <a:prstGeom prst="roundRect">
            <a:avLst>
              <a:gd name="adj" fmla="val 5854"/>
            </a:avLst>
          </a:prstGeom>
          <a:solidFill>
            <a:schemeClr val="bg2"/>
          </a:solidFill>
          <a:ln/>
        </p:spPr>
      </p:sp>
      <p:sp>
        <p:nvSpPr>
          <p:cNvPr id="27" name="olay-no-235"/>
          <p:cNvSpPr/>
          <p:nvPr/>
        </p:nvSpPr>
        <p:spPr>
          <a:xfrm>
            <a:off x="749808" y="3657600"/>
            <a:ext cx="365760" cy="365760"/>
          </a:xfrm>
          <a:prstGeom prst="ellipse">
            <a:avLst/>
          </a:prstGeom>
          <a:solidFill>
            <a:schemeClr val="accent5"/>
          </a:solidFill>
          <a:ln/>
        </p:spPr>
      </p:sp>
      <p:sp>
        <p:nvSpPr>
          <p:cNvPr id="28" name="metin-236"/>
          <p:cNvSpPr txBox="1"/>
          <p:nvPr/>
        </p:nvSpPr>
        <p:spPr>
          <a:xfrm>
            <a:off x="749808" y="3657600"/>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29" name="metin-237"/>
          <p:cNvSpPr txBox="1"/>
          <p:nvPr/>
        </p:nvSpPr>
        <p:spPr>
          <a:xfrm>
            <a:off x="1234440" y="3657600"/>
            <a:ext cx="1828800" cy="365760"/>
          </a:xfrm>
          <a:prstGeom prst="rect">
            <a:avLst/>
          </a:prstGeom>
          <a:noFill/>
          <a:ln/>
        </p:spPr>
        <p:txBody>
          <a:bodyPr wrap="square" lIns="0" tIns="0" rIns="0" bIns="0" rtlCol="0" anchor="ctr"/>
          <a:lstStyle/>
          <a:p>
            <a:pPr indent="0" marL="0">
              <a:buNone/>
            </a:pPr>
            <a:r>
              <a:rPr lang="en-US" sz="1600" b="1" dirty="0">
                <a:solidFill>
                  <a:schemeClr val="tx1"/>
                </a:solidFill>
              </a:rPr>
              <a:t>03:00 · 1,5°C</a:t>
            </a:r>
            <a:endParaRPr lang="en-US" sz="1600" dirty="0"/>
          </a:p>
        </p:txBody>
      </p:sp>
      <p:sp>
        <p:nvSpPr>
          <p:cNvPr id="30" name="metin-238"/>
          <p:cNvSpPr txBox="1"/>
          <p:nvPr/>
        </p:nvSpPr>
        <p:spPr>
          <a:xfrm>
            <a:off x="749808" y="4206240"/>
            <a:ext cx="2240280" cy="292608"/>
          </a:xfrm>
          <a:prstGeom prst="rect">
            <a:avLst/>
          </a:prstGeom>
          <a:noFill/>
          <a:ln/>
        </p:spPr>
        <p:txBody>
          <a:bodyPr wrap="square" lIns="0" tIns="0" rIns="0" bIns="0" rtlCol="0" anchor="t"/>
          <a:lstStyle/>
          <a:p>
            <a:pPr indent="0" marL="0">
              <a:buNone/>
            </a:pPr>
            <a:r>
              <a:rPr lang="en-US" sz="1300" dirty="0">
                <a:solidFill>
                  <a:schemeClr val="tx2"/>
                </a:solidFill>
              </a:rPr>
              <a:t>Don eşiğinin altında</a:t>
            </a:r>
            <a:endParaRPr lang="en-US" sz="1300" dirty="0"/>
          </a:p>
        </p:txBody>
      </p:sp>
      <p:sp>
        <p:nvSpPr>
          <p:cNvPr id="31" name="metin-239"/>
          <p:cNvSpPr txBox="1"/>
          <p:nvPr/>
        </p:nvSpPr>
        <p:spPr>
          <a:xfrm>
            <a:off x="749808" y="4572000"/>
            <a:ext cx="2240280" cy="640080"/>
          </a:xfrm>
          <a:prstGeom prst="rect">
            <a:avLst/>
          </a:prstGeom>
          <a:noFill/>
          <a:ln/>
        </p:spPr>
        <p:txBody>
          <a:bodyPr wrap="square" lIns="0" tIns="0" rIns="0" bIns="0" rtlCol="0" anchor="t"/>
          <a:lstStyle/>
          <a:p>
            <a:pPr indent="0" marL="0">
              <a:buNone/>
            </a:pPr>
            <a:r>
              <a:rPr lang="en-US" sz="1500" b="1" dirty="0">
                <a:solidFill>
                  <a:schemeClr val="tx1"/>
                </a:solidFill>
              </a:rPr>
              <a:t>POMPA AÇIK · don koruması</a:t>
            </a:r>
            <a:endParaRPr lang="en-US" sz="1500" dirty="0"/>
          </a:p>
        </p:txBody>
      </p:sp>
      <p:sp>
        <p:nvSpPr>
          <p:cNvPr id="32" name="olay-noktasi-240"/>
          <p:cNvSpPr/>
          <p:nvPr/>
        </p:nvSpPr>
        <p:spPr>
          <a:xfrm>
            <a:off x="6373749" y="2697480"/>
            <a:ext cx="365760" cy="365760"/>
          </a:xfrm>
          <a:prstGeom prst="ellipse">
            <a:avLst/>
          </a:prstGeom>
          <a:solidFill>
            <a:schemeClr val="accent3"/>
          </a:solidFill>
          <a:ln w="25400">
            <a:solidFill>
              <a:srgbClr val="FFFFFF"/>
            </a:solidFill>
            <a:prstDash val="solid"/>
          </a:ln>
        </p:spPr>
      </p:sp>
      <p:sp>
        <p:nvSpPr>
          <p:cNvPr id="33" name="metin-241"/>
          <p:cNvSpPr txBox="1"/>
          <p:nvPr/>
        </p:nvSpPr>
        <p:spPr>
          <a:xfrm>
            <a:off x="6373749" y="2697480"/>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34" name="kart-242"/>
          <p:cNvSpPr/>
          <p:nvPr/>
        </p:nvSpPr>
        <p:spPr>
          <a:xfrm>
            <a:off x="3378708" y="3474720"/>
            <a:ext cx="2601468" cy="1874520"/>
          </a:xfrm>
          <a:prstGeom prst="roundRect">
            <a:avLst>
              <a:gd name="adj" fmla="val 5854"/>
            </a:avLst>
          </a:prstGeom>
          <a:solidFill>
            <a:schemeClr val="bg2"/>
          </a:solidFill>
          <a:ln/>
        </p:spPr>
      </p:sp>
      <p:sp>
        <p:nvSpPr>
          <p:cNvPr id="35" name="olay-no-243"/>
          <p:cNvSpPr/>
          <p:nvPr/>
        </p:nvSpPr>
        <p:spPr>
          <a:xfrm>
            <a:off x="3579876" y="3657600"/>
            <a:ext cx="365760" cy="365760"/>
          </a:xfrm>
          <a:prstGeom prst="ellipse">
            <a:avLst/>
          </a:prstGeom>
          <a:solidFill>
            <a:schemeClr val="accent3"/>
          </a:solidFill>
          <a:ln/>
        </p:spPr>
      </p:sp>
      <p:sp>
        <p:nvSpPr>
          <p:cNvPr id="36" name="metin-244"/>
          <p:cNvSpPr txBox="1"/>
          <p:nvPr/>
        </p:nvSpPr>
        <p:spPr>
          <a:xfrm>
            <a:off x="3579876" y="3657600"/>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37" name="metin-245"/>
          <p:cNvSpPr txBox="1"/>
          <p:nvPr/>
        </p:nvSpPr>
        <p:spPr>
          <a:xfrm>
            <a:off x="4064508" y="3657600"/>
            <a:ext cx="1828800" cy="365760"/>
          </a:xfrm>
          <a:prstGeom prst="rect">
            <a:avLst/>
          </a:prstGeom>
          <a:noFill/>
          <a:ln/>
        </p:spPr>
        <p:txBody>
          <a:bodyPr wrap="square" lIns="0" tIns="0" rIns="0" bIns="0" rtlCol="0" anchor="ctr"/>
          <a:lstStyle/>
          <a:p>
            <a:pPr indent="0" marL="0">
              <a:buNone/>
            </a:pPr>
            <a:r>
              <a:rPr lang="en-US" sz="1600" b="1" dirty="0">
                <a:solidFill>
                  <a:schemeClr val="tx1"/>
                </a:solidFill>
              </a:rPr>
              <a:t>13:00 · 25,8°C</a:t>
            </a:r>
            <a:endParaRPr lang="en-US" sz="1600" dirty="0"/>
          </a:p>
        </p:txBody>
      </p:sp>
      <p:sp>
        <p:nvSpPr>
          <p:cNvPr id="38" name="metin-246"/>
          <p:cNvSpPr txBox="1"/>
          <p:nvPr/>
        </p:nvSpPr>
        <p:spPr>
          <a:xfrm>
            <a:off x="3579876" y="4206240"/>
            <a:ext cx="2240280" cy="292608"/>
          </a:xfrm>
          <a:prstGeom prst="rect">
            <a:avLst/>
          </a:prstGeom>
          <a:noFill/>
          <a:ln/>
        </p:spPr>
        <p:txBody>
          <a:bodyPr wrap="square" lIns="0" tIns="0" rIns="0" bIns="0" rtlCol="0" anchor="t"/>
          <a:lstStyle/>
          <a:p>
            <a:pPr indent="0" marL="0">
              <a:buNone/>
            </a:pPr>
            <a:r>
              <a:rPr lang="en-US" sz="1300" dirty="0">
                <a:solidFill>
                  <a:schemeClr val="tx2"/>
                </a:solidFill>
              </a:rPr>
              <a:t>Nem %35 ama ET riski var</a:t>
            </a:r>
            <a:endParaRPr lang="en-US" sz="1300" dirty="0"/>
          </a:p>
        </p:txBody>
      </p:sp>
      <p:sp>
        <p:nvSpPr>
          <p:cNvPr id="39" name="metin-247"/>
          <p:cNvSpPr txBox="1"/>
          <p:nvPr/>
        </p:nvSpPr>
        <p:spPr>
          <a:xfrm>
            <a:off x="3579876" y="4572000"/>
            <a:ext cx="2240280" cy="640080"/>
          </a:xfrm>
          <a:prstGeom prst="rect">
            <a:avLst/>
          </a:prstGeom>
          <a:noFill/>
          <a:ln/>
        </p:spPr>
        <p:txBody>
          <a:bodyPr wrap="square" lIns="0" tIns="0" rIns="0" bIns="0" rtlCol="0" anchor="t"/>
          <a:lstStyle/>
          <a:p>
            <a:pPr indent="0" marL="0">
              <a:buNone/>
            </a:pPr>
            <a:r>
              <a:rPr lang="en-US" sz="1500" b="1" dirty="0">
                <a:solidFill>
                  <a:schemeClr val="tx1"/>
                </a:solidFill>
              </a:rPr>
              <a:t>Sulama geceye ertelendi</a:t>
            </a:r>
            <a:endParaRPr lang="en-US" sz="1500" dirty="0"/>
          </a:p>
        </p:txBody>
      </p:sp>
      <p:sp>
        <p:nvSpPr>
          <p:cNvPr id="40" name="olay-noktasi-248"/>
          <p:cNvSpPr/>
          <p:nvPr/>
        </p:nvSpPr>
        <p:spPr>
          <a:xfrm>
            <a:off x="8684514" y="2697480"/>
            <a:ext cx="365760" cy="365760"/>
          </a:xfrm>
          <a:prstGeom prst="ellipse">
            <a:avLst/>
          </a:prstGeom>
          <a:solidFill>
            <a:schemeClr val="accent3"/>
          </a:solidFill>
          <a:ln w="25400">
            <a:solidFill>
              <a:srgbClr val="FFFFFF"/>
            </a:solidFill>
            <a:prstDash val="solid"/>
          </a:ln>
        </p:spPr>
      </p:sp>
      <p:sp>
        <p:nvSpPr>
          <p:cNvPr id="41" name="metin-249"/>
          <p:cNvSpPr txBox="1"/>
          <p:nvPr/>
        </p:nvSpPr>
        <p:spPr>
          <a:xfrm>
            <a:off x="8684514" y="2697480"/>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42" name="kart-250"/>
          <p:cNvSpPr/>
          <p:nvPr/>
        </p:nvSpPr>
        <p:spPr>
          <a:xfrm>
            <a:off x="6208776" y="3474720"/>
            <a:ext cx="2601468" cy="1874520"/>
          </a:xfrm>
          <a:prstGeom prst="roundRect">
            <a:avLst>
              <a:gd name="adj" fmla="val 5854"/>
            </a:avLst>
          </a:prstGeom>
          <a:solidFill>
            <a:schemeClr val="bg2"/>
          </a:solidFill>
          <a:ln/>
        </p:spPr>
      </p:sp>
      <p:sp>
        <p:nvSpPr>
          <p:cNvPr id="43" name="olay-no-251"/>
          <p:cNvSpPr/>
          <p:nvPr/>
        </p:nvSpPr>
        <p:spPr>
          <a:xfrm>
            <a:off x="6409944" y="3657600"/>
            <a:ext cx="365760" cy="365760"/>
          </a:xfrm>
          <a:prstGeom prst="ellipse">
            <a:avLst/>
          </a:prstGeom>
          <a:solidFill>
            <a:schemeClr val="accent3"/>
          </a:solidFill>
          <a:ln/>
        </p:spPr>
      </p:sp>
      <p:sp>
        <p:nvSpPr>
          <p:cNvPr id="44" name="metin-252"/>
          <p:cNvSpPr txBox="1"/>
          <p:nvPr/>
        </p:nvSpPr>
        <p:spPr>
          <a:xfrm>
            <a:off x="6409944" y="3657600"/>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45" name="metin-253"/>
          <p:cNvSpPr txBox="1"/>
          <p:nvPr/>
        </p:nvSpPr>
        <p:spPr>
          <a:xfrm>
            <a:off x="6894576" y="3657600"/>
            <a:ext cx="1828800" cy="365760"/>
          </a:xfrm>
          <a:prstGeom prst="rect">
            <a:avLst/>
          </a:prstGeom>
          <a:noFill/>
          <a:ln/>
        </p:spPr>
        <p:txBody>
          <a:bodyPr wrap="square" lIns="0" tIns="0" rIns="0" bIns="0" rtlCol="0" anchor="ctr"/>
          <a:lstStyle/>
          <a:p>
            <a:pPr indent="0" marL="0">
              <a:buNone/>
            </a:pPr>
            <a:r>
              <a:rPr lang="en-US" sz="1600" b="1" dirty="0">
                <a:solidFill>
                  <a:schemeClr val="tx1"/>
                </a:solidFill>
              </a:rPr>
              <a:t>18:00 · 17,7°C</a:t>
            </a:r>
            <a:endParaRPr lang="en-US" sz="1600" dirty="0"/>
          </a:p>
        </p:txBody>
      </p:sp>
      <p:sp>
        <p:nvSpPr>
          <p:cNvPr id="46" name="metin-254"/>
          <p:cNvSpPr txBox="1"/>
          <p:nvPr/>
        </p:nvSpPr>
        <p:spPr>
          <a:xfrm>
            <a:off x="6409944" y="4206240"/>
            <a:ext cx="2240280" cy="292608"/>
          </a:xfrm>
          <a:prstGeom prst="rect">
            <a:avLst/>
          </a:prstGeom>
          <a:noFill/>
          <a:ln/>
        </p:spPr>
        <p:txBody>
          <a:bodyPr wrap="square" lIns="0" tIns="0" rIns="0" bIns="0" rtlCol="0" anchor="t"/>
          <a:lstStyle/>
          <a:p>
            <a:pPr indent="0" marL="0">
              <a:buNone/>
            </a:pPr>
            <a:r>
              <a:rPr lang="en-US" sz="1300" dirty="0">
                <a:solidFill>
                  <a:schemeClr val="tx2"/>
                </a:solidFill>
              </a:rPr>
              <a:t>Puant: 4,00 ₺/kWh</a:t>
            </a:r>
            <a:endParaRPr lang="en-US" sz="1300" dirty="0"/>
          </a:p>
        </p:txBody>
      </p:sp>
      <p:sp>
        <p:nvSpPr>
          <p:cNvPr id="47" name="metin-255"/>
          <p:cNvSpPr txBox="1"/>
          <p:nvPr/>
        </p:nvSpPr>
        <p:spPr>
          <a:xfrm>
            <a:off x="6409944" y="4572000"/>
            <a:ext cx="2240280" cy="640080"/>
          </a:xfrm>
          <a:prstGeom prst="rect">
            <a:avLst/>
          </a:prstGeom>
          <a:noFill/>
          <a:ln/>
        </p:spPr>
        <p:txBody>
          <a:bodyPr wrap="square" lIns="0" tIns="0" rIns="0" bIns="0" rtlCol="0" anchor="t"/>
          <a:lstStyle/>
          <a:p>
            <a:pPr indent="0" marL="0">
              <a:buNone/>
            </a:pPr>
            <a:r>
              <a:rPr lang="en-US" sz="1500" b="1" dirty="0">
                <a:solidFill>
                  <a:schemeClr val="tx1"/>
                </a:solidFill>
              </a:rPr>
              <a:t>Sulama yine ertelendi</a:t>
            </a:r>
            <a:endParaRPr lang="en-US" sz="1500" dirty="0"/>
          </a:p>
        </p:txBody>
      </p:sp>
      <p:sp>
        <p:nvSpPr>
          <p:cNvPr id="48" name="olay-noktasi-256"/>
          <p:cNvSpPr/>
          <p:nvPr/>
        </p:nvSpPr>
        <p:spPr>
          <a:xfrm>
            <a:off x="10995279" y="2697480"/>
            <a:ext cx="365760" cy="365760"/>
          </a:xfrm>
          <a:prstGeom prst="ellipse">
            <a:avLst/>
          </a:prstGeom>
          <a:solidFill>
            <a:schemeClr val="accent2"/>
          </a:solidFill>
          <a:ln w="25400">
            <a:solidFill>
              <a:srgbClr val="FFFFFF"/>
            </a:solidFill>
            <a:prstDash val="solid"/>
          </a:ln>
        </p:spPr>
      </p:sp>
      <p:sp>
        <p:nvSpPr>
          <p:cNvPr id="49" name="metin-257"/>
          <p:cNvSpPr txBox="1"/>
          <p:nvPr/>
        </p:nvSpPr>
        <p:spPr>
          <a:xfrm>
            <a:off x="10995279" y="2697480"/>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50" name="kart-258"/>
          <p:cNvSpPr/>
          <p:nvPr/>
        </p:nvSpPr>
        <p:spPr>
          <a:xfrm>
            <a:off x="9038844" y="3474720"/>
            <a:ext cx="2601468" cy="1874520"/>
          </a:xfrm>
          <a:prstGeom prst="roundRect">
            <a:avLst>
              <a:gd name="adj" fmla="val 5854"/>
            </a:avLst>
          </a:prstGeom>
          <a:solidFill>
            <a:schemeClr val="bg2"/>
          </a:solidFill>
          <a:ln/>
        </p:spPr>
      </p:sp>
      <p:sp>
        <p:nvSpPr>
          <p:cNvPr id="51" name="olay-no-259"/>
          <p:cNvSpPr/>
          <p:nvPr/>
        </p:nvSpPr>
        <p:spPr>
          <a:xfrm>
            <a:off x="9240012" y="3657600"/>
            <a:ext cx="365760" cy="365760"/>
          </a:xfrm>
          <a:prstGeom prst="ellipse">
            <a:avLst/>
          </a:prstGeom>
          <a:solidFill>
            <a:schemeClr val="accent2"/>
          </a:solidFill>
          <a:ln/>
        </p:spPr>
      </p:sp>
      <p:sp>
        <p:nvSpPr>
          <p:cNvPr id="52" name="metin-260"/>
          <p:cNvSpPr txBox="1"/>
          <p:nvPr/>
        </p:nvSpPr>
        <p:spPr>
          <a:xfrm>
            <a:off x="9240012" y="3657600"/>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53" name="metin-261"/>
          <p:cNvSpPr txBox="1"/>
          <p:nvPr/>
        </p:nvSpPr>
        <p:spPr>
          <a:xfrm>
            <a:off x="9724644" y="3657600"/>
            <a:ext cx="1828800" cy="365760"/>
          </a:xfrm>
          <a:prstGeom prst="rect">
            <a:avLst/>
          </a:prstGeom>
          <a:noFill/>
          <a:ln/>
        </p:spPr>
        <p:txBody>
          <a:bodyPr wrap="square" lIns="0" tIns="0" rIns="0" bIns="0" rtlCol="0" anchor="ctr"/>
          <a:lstStyle/>
          <a:p>
            <a:pPr indent="0" marL="0">
              <a:buNone/>
            </a:pPr>
            <a:r>
              <a:rPr lang="en-US" sz="1600" b="1" dirty="0">
                <a:solidFill>
                  <a:schemeClr val="tx1"/>
                </a:solidFill>
              </a:rPr>
              <a:t>23:00 · 4,2°C</a:t>
            </a:r>
            <a:endParaRPr lang="en-US" sz="1600" dirty="0"/>
          </a:p>
        </p:txBody>
      </p:sp>
      <p:sp>
        <p:nvSpPr>
          <p:cNvPr id="54" name="metin-262"/>
          <p:cNvSpPr txBox="1"/>
          <p:nvPr/>
        </p:nvSpPr>
        <p:spPr>
          <a:xfrm>
            <a:off x="9240012" y="4206240"/>
            <a:ext cx="2240280" cy="292608"/>
          </a:xfrm>
          <a:prstGeom prst="rect">
            <a:avLst/>
          </a:prstGeom>
          <a:noFill/>
          <a:ln/>
        </p:spPr>
        <p:txBody>
          <a:bodyPr wrap="square" lIns="0" tIns="0" rIns="0" bIns="0" rtlCol="0" anchor="t"/>
          <a:lstStyle/>
          <a:p>
            <a:pPr indent="0" marL="0">
              <a:buNone/>
            </a:pPr>
            <a:r>
              <a:rPr lang="en-US" sz="1300" dirty="0">
                <a:solidFill>
                  <a:schemeClr val="tx2"/>
                </a:solidFill>
              </a:rPr>
              <a:t>Gece: 1,50 ₺/kWh</a:t>
            </a:r>
            <a:endParaRPr lang="en-US" sz="1300" dirty="0"/>
          </a:p>
        </p:txBody>
      </p:sp>
      <p:sp>
        <p:nvSpPr>
          <p:cNvPr id="55" name="metin-263"/>
          <p:cNvSpPr txBox="1"/>
          <p:nvPr/>
        </p:nvSpPr>
        <p:spPr>
          <a:xfrm>
            <a:off x="9240012" y="4572000"/>
            <a:ext cx="2240280" cy="640080"/>
          </a:xfrm>
          <a:prstGeom prst="rect">
            <a:avLst/>
          </a:prstGeom>
          <a:noFill/>
          <a:ln/>
        </p:spPr>
        <p:txBody>
          <a:bodyPr wrap="square" lIns="0" tIns="0" rIns="0" bIns="0" rtlCol="0" anchor="t"/>
          <a:lstStyle/>
          <a:p>
            <a:pPr indent="0" marL="0">
              <a:buNone/>
            </a:pPr>
            <a:r>
              <a:rPr lang="en-US" sz="1500" b="1" dirty="0">
                <a:solidFill>
                  <a:schemeClr val="tx1"/>
                </a:solidFill>
              </a:rPr>
              <a:t>POMPA AÇIK · optimum sulama</a:t>
            </a:r>
            <a:endParaRPr lang="en-US" sz="1500" dirty="0"/>
          </a:p>
        </p:txBody>
      </p:sp>
      <p:sp>
        <p:nvSpPr>
          <p:cNvPr id="56" name="kart-264"/>
          <p:cNvSpPr/>
          <p:nvPr/>
        </p:nvSpPr>
        <p:spPr>
          <a:xfrm>
            <a:off x="548640" y="5577840"/>
            <a:ext cx="5440680" cy="548640"/>
          </a:xfrm>
          <a:prstGeom prst="roundRect">
            <a:avLst>
              <a:gd name="adj" fmla="val 20000"/>
            </a:avLst>
          </a:prstGeom>
          <a:solidFill>
            <a:srgbClr val="FCEFD6"/>
          </a:solidFill>
          <a:ln/>
        </p:spPr>
      </p:sp>
      <p:sp>
        <p:nvSpPr>
          <p:cNvPr id="57" name="ikon-zemin-265"/>
          <p:cNvSpPr/>
          <p:nvPr/>
        </p:nvSpPr>
        <p:spPr>
          <a:xfrm>
            <a:off x="685800" y="5641848"/>
            <a:ext cx="420624" cy="420624"/>
          </a:xfrm>
          <a:prstGeom prst="ellipse">
            <a:avLst/>
          </a:prstGeom>
          <a:solidFill>
            <a:schemeClr val="accent6"/>
          </a:solidFill>
          <a:ln/>
        </p:spPr>
      </p:sp>
      <p:pic>
        <p:nvPicPr>
          <p:cNvPr id="58" name="ikon-266" descr="preencoded.png">    </p:cNvPr>
          <p:cNvPicPr>
            <a:picLocks noChangeAspect="1"/>
          </p:cNvPicPr>
          <p:nvPr/>
        </p:nvPicPr>
        <p:blipFill>
          <a:blip r:embed="rId1"/>
          <a:stretch>
            <a:fillRect/>
          </a:stretch>
        </p:blipFill>
        <p:spPr>
          <a:xfrm>
            <a:off x="778337" y="5734385"/>
            <a:ext cx="235549" cy="235549"/>
          </a:xfrm>
          <a:prstGeom prst="rect">
            <a:avLst/>
          </a:prstGeom>
        </p:spPr>
      </p:pic>
      <p:sp>
        <p:nvSpPr>
          <p:cNvPr id="59" name="metin-267"/>
          <p:cNvSpPr txBox="1"/>
          <p:nvPr/>
        </p:nvSpPr>
        <p:spPr>
          <a:xfrm>
            <a:off x="1234440" y="5577840"/>
            <a:ext cx="4663440" cy="548640"/>
          </a:xfrm>
          <a:prstGeom prst="rect">
            <a:avLst/>
          </a:prstGeom>
          <a:noFill/>
          <a:ln/>
        </p:spPr>
        <p:txBody>
          <a:bodyPr wrap="square" lIns="0" tIns="0" rIns="0" bIns="0" rtlCol="0" anchor="ctr"/>
          <a:lstStyle/>
          <a:p>
            <a:pPr indent="0" marL="0">
              <a:buNone/>
            </a:pPr>
            <a:r>
              <a:rPr lang="en-US" sz="1400" b="1" dirty="0">
                <a:solidFill>
                  <a:schemeClr val="tx1"/>
                </a:solidFill>
              </a:rPr>
              <a:t>Tüm gün: </a:t>
            </a:r>
            <a:pPr indent="0" marL="0">
              <a:buNone/>
            </a:pPr>
            <a:r>
              <a:rPr lang="en-US" sz="1400" dirty="0">
                <a:solidFill>
                  <a:schemeClr val="tx1"/>
                </a:solidFill>
              </a:rPr>
              <a:t>yarın yağış → fertigasyon kilitli</a:t>
            </a:r>
            <a:endParaRPr lang="en-US" sz="1400" dirty="0"/>
          </a:p>
        </p:txBody>
      </p:sp>
      <p:sp>
        <p:nvSpPr>
          <p:cNvPr id="60" name="kart-268"/>
          <p:cNvSpPr/>
          <p:nvPr/>
        </p:nvSpPr>
        <p:spPr>
          <a:xfrm>
            <a:off x="6199632" y="5577840"/>
            <a:ext cx="5440680" cy="548640"/>
          </a:xfrm>
          <a:prstGeom prst="roundRect">
            <a:avLst>
              <a:gd name="adj" fmla="val 20000"/>
            </a:avLst>
          </a:prstGeom>
          <a:solidFill>
            <a:srgbClr val="D7F5EA"/>
          </a:solidFill>
          <a:ln/>
        </p:spPr>
      </p:sp>
      <p:sp>
        <p:nvSpPr>
          <p:cNvPr id="61" name="ikon-zemin-269"/>
          <p:cNvSpPr/>
          <p:nvPr/>
        </p:nvSpPr>
        <p:spPr>
          <a:xfrm>
            <a:off x="6336792" y="5641848"/>
            <a:ext cx="420624" cy="420624"/>
          </a:xfrm>
          <a:prstGeom prst="ellipse">
            <a:avLst/>
          </a:prstGeom>
          <a:solidFill>
            <a:schemeClr val="accent3"/>
          </a:solidFill>
          <a:ln/>
        </p:spPr>
      </p:sp>
      <p:pic>
        <p:nvPicPr>
          <p:cNvPr id="62" name="ikon-270" descr="preencoded.png">    </p:cNvPr>
          <p:cNvPicPr>
            <a:picLocks noChangeAspect="1"/>
          </p:cNvPicPr>
          <p:nvPr/>
        </p:nvPicPr>
        <p:blipFill>
          <a:blip r:embed="rId2"/>
          <a:stretch>
            <a:fillRect/>
          </a:stretch>
        </p:blipFill>
        <p:spPr>
          <a:xfrm>
            <a:off x="6429329" y="5734385"/>
            <a:ext cx="235549" cy="235549"/>
          </a:xfrm>
          <a:prstGeom prst="rect">
            <a:avLst/>
          </a:prstGeom>
        </p:spPr>
      </p:pic>
      <p:sp>
        <p:nvSpPr>
          <p:cNvPr id="63" name="metin-271"/>
          <p:cNvSpPr txBox="1"/>
          <p:nvPr/>
        </p:nvSpPr>
        <p:spPr>
          <a:xfrm>
            <a:off x="6885432" y="5577840"/>
            <a:ext cx="4663440" cy="548640"/>
          </a:xfrm>
          <a:prstGeom prst="rect">
            <a:avLst/>
          </a:prstGeom>
          <a:noFill/>
          <a:ln/>
        </p:spPr>
        <p:txBody>
          <a:bodyPr wrap="square" lIns="0" tIns="0" rIns="0" bIns="0" rtlCol="0" anchor="ctr"/>
          <a:lstStyle/>
          <a:p>
            <a:pPr indent="0" marL="0">
              <a:buNone/>
            </a:pPr>
            <a:r>
              <a:rPr lang="en-US" sz="1400" b="1" dirty="0">
                <a:solidFill>
                  <a:schemeClr val="tx1"/>
                </a:solidFill>
              </a:rPr>
              <a:t>Gece sulaması: </a:t>
            </a:r>
            <a:pPr indent="0" marL="0">
              <a:buNone/>
            </a:pPr>
            <a:r>
              <a:rPr lang="en-US" sz="1400" dirty="0">
                <a:solidFill>
                  <a:schemeClr val="tx1"/>
                </a:solidFill>
              </a:rPr>
              <a:t>2 sa × 15 kW = 45 ₺ (puantta 120 ₺)</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B6B6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8229600" cy="274320"/>
          </a:xfrm>
          <a:prstGeom prst="rect">
            <a:avLst/>
          </a:prstGeom>
          <a:noFill/>
          <a:ln/>
        </p:spPr>
        <p:txBody>
          <a:bodyPr wrap="square" lIns="0" tIns="0" rIns="0" bIns="0" rtlCol="0" anchor="t"/>
          <a:lstStyle/>
          <a:p>
            <a:pPr indent="0" marL="0">
              <a:buNone/>
            </a:pPr>
            <a:r>
              <a:rPr lang="en-US" sz="1200" b="1" spc="150" kern="0" dirty="0">
                <a:solidFill>
                  <a:schemeClr val="accent2"/>
                </a:solidFill>
              </a:rPr>
              <a:t>SÜRDÜRÜLEBİLİRLİK</a:t>
            </a:r>
            <a:endParaRPr lang="en-US" sz="1200" dirty="0"/>
          </a:p>
        </p:txBody>
      </p:sp>
      <p:sp>
        <p:nvSpPr>
          <p:cNvPr id="3" name="Text 0"/>
          <p:cNvSpPr/>
          <p:nvPr>
            <p:ph idx="101" type="title" hasCustomPrompt="1"/>
          </p:nvPr>
        </p:nvSpPr>
        <p:spPr>
          <a:xfrm>
            <a:off x="548640" y="621792"/>
            <a:ext cx="11091672" cy="731520"/>
          </a:xfrm>
          <a:prstGeom prst="rect">
            <a:avLst/>
          </a:prstGeom>
          <a:noFill/>
          <a:ln/>
        </p:spPr>
        <p:txBody>
          <a:bodyPr wrap="square" lIns="0" tIns="0" rIns="0" bIns="0" rtlCol="0" anchor="t"/>
          <a:lstStyle/>
          <a:p>
            <a:pPr algn="l" indent="0" marL="0">
              <a:buNone/>
            </a:pPr>
            <a:r>
              <a:rPr lang="en-US" sz="3000" b="1" dirty="0">
                <a:solidFill>
                  <a:schemeClr val="tx1"/>
                </a:solidFill>
              </a:rPr>
              <a:t>Her kaynak için ölçülebilir bir kural</a:t>
            </a:r>
            <a:endParaRPr lang="en-US" sz="3000" dirty="0"/>
          </a:p>
        </p:txBody>
      </p:sp>
      <p:sp>
        <p:nvSpPr>
          <p:cNvPr id="4" name="metin-272"/>
          <p:cNvSpPr txBox="1"/>
          <p:nvPr/>
        </p:nvSpPr>
        <p:spPr>
          <a:xfrm>
            <a:off x="1234440" y="1536192"/>
            <a:ext cx="1600200" cy="274320"/>
          </a:xfrm>
          <a:prstGeom prst="rect">
            <a:avLst/>
          </a:prstGeom>
          <a:noFill/>
          <a:ln/>
        </p:spPr>
        <p:txBody>
          <a:bodyPr wrap="square" lIns="0" tIns="0" rIns="0" bIns="0" rtlCol="0" anchor="t"/>
          <a:lstStyle/>
          <a:p>
            <a:pPr indent="0" marL="0">
              <a:buNone/>
            </a:pPr>
            <a:r>
              <a:rPr lang="en-US" sz="1100" b="1" spc="100" kern="0" dirty="0">
                <a:solidFill>
                  <a:schemeClr val="tx2"/>
                </a:solidFill>
              </a:rPr>
              <a:t>KAYNAK</a:t>
            </a:r>
            <a:endParaRPr lang="en-US" sz="1100" dirty="0"/>
          </a:p>
        </p:txBody>
      </p:sp>
      <p:sp>
        <p:nvSpPr>
          <p:cNvPr id="5" name="metin-273"/>
          <p:cNvSpPr txBox="1"/>
          <p:nvPr/>
        </p:nvSpPr>
        <p:spPr>
          <a:xfrm>
            <a:off x="2926080" y="1536192"/>
            <a:ext cx="2331720" cy="274320"/>
          </a:xfrm>
          <a:prstGeom prst="rect">
            <a:avLst/>
          </a:prstGeom>
          <a:noFill/>
          <a:ln/>
        </p:spPr>
        <p:txBody>
          <a:bodyPr wrap="square" lIns="0" tIns="0" rIns="0" bIns="0" rtlCol="0" anchor="t"/>
          <a:lstStyle/>
          <a:p>
            <a:pPr indent="0" marL="0">
              <a:buNone/>
            </a:pPr>
            <a:r>
              <a:rPr lang="en-US" sz="1100" b="1" spc="100" kern="0" dirty="0">
                <a:solidFill>
                  <a:schemeClr val="tx2"/>
                </a:solidFill>
              </a:rPr>
              <a:t>RİSK</a:t>
            </a:r>
            <a:endParaRPr lang="en-US" sz="1100" dirty="0"/>
          </a:p>
        </p:txBody>
      </p:sp>
      <p:sp>
        <p:nvSpPr>
          <p:cNvPr id="6" name="metin-274"/>
          <p:cNvSpPr txBox="1"/>
          <p:nvPr/>
        </p:nvSpPr>
        <p:spPr>
          <a:xfrm>
            <a:off x="5394960" y="1536192"/>
            <a:ext cx="3657600" cy="274320"/>
          </a:xfrm>
          <a:prstGeom prst="rect">
            <a:avLst/>
          </a:prstGeom>
          <a:noFill/>
          <a:ln/>
        </p:spPr>
        <p:txBody>
          <a:bodyPr wrap="square" lIns="0" tIns="0" rIns="0" bIns="0" rtlCol="0" anchor="t"/>
          <a:lstStyle/>
          <a:p>
            <a:pPr indent="0" marL="0">
              <a:buNone/>
            </a:pPr>
            <a:r>
              <a:rPr lang="en-US" sz="1100" b="1" spc="100" kern="0" dirty="0">
                <a:solidFill>
                  <a:schemeClr val="tx2"/>
                </a:solidFill>
              </a:rPr>
              <a:t>AGROGUARD KURALI</a:t>
            </a:r>
            <a:endParaRPr lang="en-US" sz="1100" dirty="0"/>
          </a:p>
        </p:txBody>
      </p:sp>
      <p:sp>
        <p:nvSpPr>
          <p:cNvPr id="7" name="metin-275"/>
          <p:cNvSpPr txBox="1"/>
          <p:nvPr/>
        </p:nvSpPr>
        <p:spPr>
          <a:xfrm>
            <a:off x="9189720" y="1536192"/>
            <a:ext cx="2331720" cy="274320"/>
          </a:xfrm>
          <a:prstGeom prst="rect">
            <a:avLst/>
          </a:prstGeom>
          <a:noFill/>
          <a:ln/>
        </p:spPr>
        <p:txBody>
          <a:bodyPr wrap="square" lIns="0" tIns="0" rIns="0" bIns="0" rtlCol="0" anchor="t"/>
          <a:lstStyle/>
          <a:p>
            <a:pPr indent="0" marL="0">
              <a:buNone/>
            </a:pPr>
            <a:r>
              <a:rPr lang="en-US" sz="1100" b="1" spc="100" kern="0" dirty="0">
                <a:solidFill>
                  <a:schemeClr val="tx2"/>
                </a:solidFill>
              </a:rPr>
              <a:t>ETKİ</a:t>
            </a:r>
            <a:endParaRPr lang="en-US" sz="1100" dirty="0"/>
          </a:p>
        </p:txBody>
      </p:sp>
      <p:sp>
        <p:nvSpPr>
          <p:cNvPr id="8" name="kart-276"/>
          <p:cNvSpPr/>
          <p:nvPr/>
        </p:nvSpPr>
        <p:spPr>
          <a:xfrm>
            <a:off x="548640" y="1847088"/>
            <a:ext cx="11091672" cy="649224"/>
          </a:xfrm>
          <a:prstGeom prst="roundRect">
            <a:avLst>
              <a:gd name="adj" fmla="val 16901"/>
            </a:avLst>
          </a:prstGeom>
          <a:solidFill>
            <a:schemeClr val="bg2"/>
          </a:solidFill>
          <a:ln/>
        </p:spPr>
      </p:sp>
      <p:sp>
        <p:nvSpPr>
          <p:cNvPr id="9" name="ikon-zemin-277"/>
          <p:cNvSpPr/>
          <p:nvPr/>
        </p:nvSpPr>
        <p:spPr>
          <a:xfrm>
            <a:off x="685800" y="1961388"/>
            <a:ext cx="420624" cy="420624"/>
          </a:xfrm>
          <a:prstGeom prst="ellipse">
            <a:avLst/>
          </a:prstGeom>
          <a:solidFill>
            <a:schemeClr val="accent4"/>
          </a:solidFill>
          <a:ln/>
        </p:spPr>
      </p:sp>
      <p:pic>
        <p:nvPicPr>
          <p:cNvPr id="10" name="ikon-278" descr="preencoded.png">    </p:cNvPr>
          <p:cNvPicPr>
            <a:picLocks noChangeAspect="1"/>
          </p:cNvPicPr>
          <p:nvPr/>
        </p:nvPicPr>
        <p:blipFill>
          <a:blip r:embed="rId1"/>
          <a:stretch>
            <a:fillRect/>
          </a:stretch>
        </p:blipFill>
        <p:spPr>
          <a:xfrm>
            <a:off x="778337" y="2053925"/>
            <a:ext cx="235549" cy="235549"/>
          </a:xfrm>
          <a:prstGeom prst="rect">
            <a:avLst/>
          </a:prstGeom>
        </p:spPr>
      </p:pic>
      <p:sp>
        <p:nvSpPr>
          <p:cNvPr id="11" name="metin-279"/>
          <p:cNvSpPr txBox="1"/>
          <p:nvPr/>
        </p:nvSpPr>
        <p:spPr>
          <a:xfrm>
            <a:off x="1234440" y="1847088"/>
            <a:ext cx="1600200" cy="649224"/>
          </a:xfrm>
          <a:prstGeom prst="rect">
            <a:avLst/>
          </a:prstGeom>
          <a:noFill/>
          <a:ln/>
        </p:spPr>
        <p:txBody>
          <a:bodyPr wrap="square" lIns="0" tIns="0" rIns="0" bIns="0" rtlCol="0" anchor="ctr"/>
          <a:lstStyle/>
          <a:p>
            <a:pPr indent="0" marL="0">
              <a:buNone/>
            </a:pPr>
            <a:r>
              <a:rPr lang="en-US" sz="1400" b="1" dirty="0">
                <a:solidFill>
                  <a:schemeClr val="tx1"/>
                </a:solidFill>
              </a:rPr>
              <a:t>Su</a:t>
            </a:r>
            <a:endParaRPr lang="en-US" sz="1400" dirty="0"/>
          </a:p>
        </p:txBody>
      </p:sp>
      <p:sp>
        <p:nvSpPr>
          <p:cNvPr id="12" name="metin-280"/>
          <p:cNvSpPr txBox="1"/>
          <p:nvPr/>
        </p:nvSpPr>
        <p:spPr>
          <a:xfrm>
            <a:off x="2926080" y="1847088"/>
            <a:ext cx="2331720" cy="649224"/>
          </a:xfrm>
          <a:prstGeom prst="rect">
            <a:avLst/>
          </a:prstGeom>
          <a:noFill/>
          <a:ln/>
        </p:spPr>
        <p:txBody>
          <a:bodyPr wrap="square" lIns="0" tIns="0" rIns="0" bIns="0" rtlCol="0" anchor="ctr"/>
          <a:lstStyle/>
          <a:p>
            <a:pPr indent="0" marL="0">
              <a:buNone/>
            </a:pPr>
            <a:r>
              <a:rPr lang="en-US" sz="1300" dirty="0">
                <a:solidFill>
                  <a:schemeClr val="tx2"/>
                </a:solidFill>
              </a:rPr>
              <a:t>Buharlaşma, gereksiz sulama</a:t>
            </a:r>
            <a:endParaRPr lang="en-US" sz="1300" dirty="0"/>
          </a:p>
        </p:txBody>
      </p:sp>
      <p:sp>
        <p:nvSpPr>
          <p:cNvPr id="13" name="metin-281"/>
          <p:cNvSpPr txBox="1"/>
          <p:nvPr/>
        </p:nvSpPr>
        <p:spPr>
          <a:xfrm>
            <a:off x="5394960" y="1847088"/>
            <a:ext cx="3657600" cy="649224"/>
          </a:xfrm>
          <a:prstGeom prst="rect">
            <a:avLst/>
          </a:prstGeom>
          <a:noFill/>
          <a:ln/>
        </p:spPr>
        <p:txBody>
          <a:bodyPr wrap="square" lIns="0" tIns="0" rIns="0" bIns="0" rtlCol="0" anchor="ctr"/>
          <a:lstStyle/>
          <a:p>
            <a:pPr indent="0" marL="0">
              <a:buNone/>
            </a:pPr>
            <a:r>
              <a:rPr lang="en-US" sz="1300" dirty="0">
                <a:solidFill>
                  <a:schemeClr val="tx1"/>
                </a:solidFill>
              </a:rPr>
              <a:t>Nem ≥ %40 ya da yağış varsa sulama yok; T &gt; 25°C gündüzde geceye ertele</a:t>
            </a:r>
            <a:endParaRPr lang="en-US" sz="1300" dirty="0"/>
          </a:p>
        </p:txBody>
      </p:sp>
      <p:sp>
        <p:nvSpPr>
          <p:cNvPr id="14" name="metin-282"/>
          <p:cNvSpPr txBox="1"/>
          <p:nvPr/>
        </p:nvSpPr>
        <p:spPr>
          <a:xfrm>
            <a:off x="9189720" y="1847088"/>
            <a:ext cx="2331720" cy="649224"/>
          </a:xfrm>
          <a:prstGeom prst="rect">
            <a:avLst/>
          </a:prstGeom>
          <a:noFill/>
          <a:ln/>
        </p:spPr>
        <p:txBody>
          <a:bodyPr wrap="square" lIns="0" tIns="0" rIns="0" bIns="0" rtlCol="0" anchor="ctr"/>
          <a:lstStyle/>
          <a:p>
            <a:pPr indent="0" marL="0">
              <a:buNone/>
            </a:pPr>
            <a:r>
              <a:rPr lang="en-US" sz="1300" b="1" dirty="0">
                <a:solidFill>
                  <a:schemeClr val="accent2"/>
                </a:solidFill>
              </a:rPr>
              <a:t>Aynı ihtiyaç için daha az su</a:t>
            </a:r>
            <a:endParaRPr lang="en-US" sz="1300" dirty="0"/>
          </a:p>
        </p:txBody>
      </p:sp>
      <p:sp>
        <p:nvSpPr>
          <p:cNvPr id="15" name="kart-283"/>
          <p:cNvSpPr/>
          <p:nvPr/>
        </p:nvSpPr>
        <p:spPr>
          <a:xfrm>
            <a:off x="548640" y="2569464"/>
            <a:ext cx="11091672" cy="649224"/>
          </a:xfrm>
          <a:prstGeom prst="roundRect">
            <a:avLst>
              <a:gd name="adj" fmla="val 16901"/>
            </a:avLst>
          </a:prstGeom>
          <a:solidFill>
            <a:srgbClr val="FFFFFF"/>
          </a:solidFill>
          <a:ln w="9525">
            <a:solidFill>
              <a:srgbClr val="DCE5E1"/>
            </a:solidFill>
            <a:prstDash val="solid"/>
          </a:ln>
        </p:spPr>
      </p:sp>
      <p:sp>
        <p:nvSpPr>
          <p:cNvPr id="16" name="ikon-zemin-284"/>
          <p:cNvSpPr/>
          <p:nvPr/>
        </p:nvSpPr>
        <p:spPr>
          <a:xfrm>
            <a:off x="685800" y="2683764"/>
            <a:ext cx="420624" cy="420624"/>
          </a:xfrm>
          <a:prstGeom prst="ellipse">
            <a:avLst/>
          </a:prstGeom>
          <a:solidFill>
            <a:schemeClr val="accent3"/>
          </a:solidFill>
          <a:ln/>
        </p:spPr>
      </p:sp>
      <p:pic>
        <p:nvPicPr>
          <p:cNvPr id="17" name="ikon-285" descr="preencoded.png">    </p:cNvPr>
          <p:cNvPicPr>
            <a:picLocks noChangeAspect="1"/>
          </p:cNvPicPr>
          <p:nvPr/>
        </p:nvPicPr>
        <p:blipFill>
          <a:blip r:embed="rId2"/>
          <a:stretch>
            <a:fillRect/>
          </a:stretch>
        </p:blipFill>
        <p:spPr>
          <a:xfrm>
            <a:off x="778337" y="2776301"/>
            <a:ext cx="235549" cy="235549"/>
          </a:xfrm>
          <a:prstGeom prst="rect">
            <a:avLst/>
          </a:prstGeom>
        </p:spPr>
      </p:pic>
      <p:sp>
        <p:nvSpPr>
          <p:cNvPr id="18" name="metin-286"/>
          <p:cNvSpPr txBox="1"/>
          <p:nvPr/>
        </p:nvSpPr>
        <p:spPr>
          <a:xfrm>
            <a:off x="1234440" y="2569464"/>
            <a:ext cx="1600200" cy="649224"/>
          </a:xfrm>
          <a:prstGeom prst="rect">
            <a:avLst/>
          </a:prstGeom>
          <a:noFill/>
          <a:ln/>
        </p:spPr>
        <p:txBody>
          <a:bodyPr wrap="square" lIns="0" tIns="0" rIns="0" bIns="0" rtlCol="0" anchor="ctr"/>
          <a:lstStyle/>
          <a:p>
            <a:pPr indent="0" marL="0">
              <a:buNone/>
            </a:pPr>
            <a:r>
              <a:rPr lang="en-US" sz="1400" b="1" dirty="0">
                <a:solidFill>
                  <a:schemeClr val="tx1"/>
                </a:solidFill>
              </a:rPr>
              <a:t>Enerji</a:t>
            </a:r>
            <a:endParaRPr lang="en-US" sz="1400" dirty="0"/>
          </a:p>
        </p:txBody>
      </p:sp>
      <p:sp>
        <p:nvSpPr>
          <p:cNvPr id="19" name="metin-287"/>
          <p:cNvSpPr txBox="1"/>
          <p:nvPr/>
        </p:nvSpPr>
        <p:spPr>
          <a:xfrm>
            <a:off x="2926080" y="2569464"/>
            <a:ext cx="2331720" cy="649224"/>
          </a:xfrm>
          <a:prstGeom prst="rect">
            <a:avLst/>
          </a:prstGeom>
          <a:noFill/>
          <a:ln/>
        </p:spPr>
        <p:txBody>
          <a:bodyPr wrap="square" lIns="0" tIns="0" rIns="0" bIns="0" rtlCol="0" anchor="ctr"/>
          <a:lstStyle/>
          <a:p>
            <a:pPr indent="0" marL="0">
              <a:buNone/>
            </a:pPr>
            <a:r>
              <a:rPr lang="en-US" sz="1300" dirty="0">
                <a:solidFill>
                  <a:schemeClr val="tx2"/>
                </a:solidFill>
              </a:rPr>
              <a:t>Puant saatte pompa</a:t>
            </a:r>
            <a:endParaRPr lang="en-US" sz="1300" dirty="0"/>
          </a:p>
        </p:txBody>
      </p:sp>
      <p:sp>
        <p:nvSpPr>
          <p:cNvPr id="20" name="metin-288"/>
          <p:cNvSpPr txBox="1"/>
          <p:nvPr/>
        </p:nvSpPr>
        <p:spPr>
          <a:xfrm>
            <a:off x="5394960" y="2569464"/>
            <a:ext cx="3657600" cy="649224"/>
          </a:xfrm>
          <a:prstGeom prst="rect">
            <a:avLst/>
          </a:prstGeom>
          <a:noFill/>
          <a:ln/>
        </p:spPr>
        <p:txBody>
          <a:bodyPr wrap="square" lIns="0" tIns="0" rIns="0" bIns="0" rtlCol="0" anchor="ctr"/>
          <a:lstStyle/>
          <a:p>
            <a:pPr indent="0" marL="0">
              <a:buNone/>
            </a:pPr>
            <a:r>
              <a:rPr lang="en-US" sz="1300" dirty="0">
                <a:solidFill>
                  <a:schemeClr val="tx1"/>
                </a:solidFill>
              </a:rPr>
              <a:t>Puantta ertele, sulamayı gece tarifesine kaydır</a:t>
            </a:r>
            <a:endParaRPr lang="en-US" sz="1300" dirty="0"/>
          </a:p>
        </p:txBody>
      </p:sp>
      <p:sp>
        <p:nvSpPr>
          <p:cNvPr id="21" name="metin-289"/>
          <p:cNvSpPr txBox="1"/>
          <p:nvPr/>
        </p:nvSpPr>
        <p:spPr>
          <a:xfrm>
            <a:off x="9189720" y="2569464"/>
            <a:ext cx="2331720" cy="649224"/>
          </a:xfrm>
          <a:prstGeom prst="rect">
            <a:avLst/>
          </a:prstGeom>
          <a:noFill/>
          <a:ln/>
        </p:spPr>
        <p:txBody>
          <a:bodyPr wrap="square" lIns="0" tIns="0" rIns="0" bIns="0" rtlCol="0" anchor="ctr"/>
          <a:lstStyle/>
          <a:p>
            <a:pPr indent="0" marL="0">
              <a:buNone/>
            </a:pPr>
            <a:r>
              <a:rPr lang="en-US" sz="1300" b="1" dirty="0">
                <a:solidFill>
                  <a:schemeClr val="accent2"/>
                </a:solidFill>
              </a:rPr>
              <a:t>2 saatlik sulama: 120 ₺ → 45 ₺</a:t>
            </a:r>
            <a:endParaRPr lang="en-US" sz="1300" dirty="0"/>
          </a:p>
        </p:txBody>
      </p:sp>
      <p:sp>
        <p:nvSpPr>
          <p:cNvPr id="22" name="kart-290"/>
          <p:cNvSpPr/>
          <p:nvPr/>
        </p:nvSpPr>
        <p:spPr>
          <a:xfrm>
            <a:off x="548640" y="3291840"/>
            <a:ext cx="11091672" cy="649224"/>
          </a:xfrm>
          <a:prstGeom prst="roundRect">
            <a:avLst>
              <a:gd name="adj" fmla="val 16901"/>
            </a:avLst>
          </a:prstGeom>
          <a:solidFill>
            <a:schemeClr val="bg2"/>
          </a:solidFill>
          <a:ln/>
        </p:spPr>
      </p:sp>
      <p:sp>
        <p:nvSpPr>
          <p:cNvPr id="23" name="ikon-zemin-291"/>
          <p:cNvSpPr/>
          <p:nvPr/>
        </p:nvSpPr>
        <p:spPr>
          <a:xfrm>
            <a:off x="685800" y="3406140"/>
            <a:ext cx="420624" cy="420624"/>
          </a:xfrm>
          <a:prstGeom prst="ellipse">
            <a:avLst/>
          </a:prstGeom>
          <a:solidFill>
            <a:schemeClr val="accent6"/>
          </a:solidFill>
          <a:ln/>
        </p:spPr>
      </p:sp>
      <p:pic>
        <p:nvPicPr>
          <p:cNvPr id="24" name="ikon-292" descr="preencoded.png">    </p:cNvPr>
          <p:cNvPicPr>
            <a:picLocks noChangeAspect="1"/>
          </p:cNvPicPr>
          <p:nvPr/>
        </p:nvPicPr>
        <p:blipFill>
          <a:blip r:embed="rId3"/>
          <a:stretch>
            <a:fillRect/>
          </a:stretch>
        </p:blipFill>
        <p:spPr>
          <a:xfrm>
            <a:off x="778337" y="3498677"/>
            <a:ext cx="235549" cy="235549"/>
          </a:xfrm>
          <a:prstGeom prst="rect">
            <a:avLst/>
          </a:prstGeom>
        </p:spPr>
      </p:pic>
      <p:sp>
        <p:nvSpPr>
          <p:cNvPr id="25" name="metin-293"/>
          <p:cNvSpPr txBox="1"/>
          <p:nvPr/>
        </p:nvSpPr>
        <p:spPr>
          <a:xfrm>
            <a:off x="1234440" y="3291840"/>
            <a:ext cx="1600200" cy="649224"/>
          </a:xfrm>
          <a:prstGeom prst="rect">
            <a:avLst/>
          </a:prstGeom>
          <a:noFill/>
          <a:ln/>
        </p:spPr>
        <p:txBody>
          <a:bodyPr wrap="square" lIns="0" tIns="0" rIns="0" bIns="0" rtlCol="0" anchor="ctr"/>
          <a:lstStyle/>
          <a:p>
            <a:pPr indent="0" marL="0">
              <a:buNone/>
            </a:pPr>
            <a:r>
              <a:rPr lang="en-US" sz="1400" b="1" dirty="0">
                <a:solidFill>
                  <a:schemeClr val="tx1"/>
                </a:solidFill>
              </a:rPr>
              <a:t>Toprak ve yeraltı suyu</a:t>
            </a:r>
            <a:endParaRPr lang="en-US" sz="1400" dirty="0"/>
          </a:p>
        </p:txBody>
      </p:sp>
      <p:sp>
        <p:nvSpPr>
          <p:cNvPr id="26" name="metin-294"/>
          <p:cNvSpPr txBox="1"/>
          <p:nvPr/>
        </p:nvSpPr>
        <p:spPr>
          <a:xfrm>
            <a:off x="2926080" y="3291840"/>
            <a:ext cx="2331720" cy="649224"/>
          </a:xfrm>
          <a:prstGeom prst="rect">
            <a:avLst/>
          </a:prstGeom>
          <a:noFill/>
          <a:ln/>
        </p:spPr>
        <p:txBody>
          <a:bodyPr wrap="square" lIns="0" tIns="0" rIns="0" bIns="0" rtlCol="0" anchor="ctr"/>
          <a:lstStyle/>
          <a:p>
            <a:pPr indent="0" marL="0">
              <a:buNone/>
            </a:pPr>
            <a:r>
              <a:rPr lang="en-US" sz="1300" dirty="0">
                <a:solidFill>
                  <a:schemeClr val="tx2"/>
                </a:solidFill>
              </a:rPr>
              <a:t>Gübrenin yıkanması, nitrat</a:t>
            </a:r>
            <a:endParaRPr lang="en-US" sz="1300" dirty="0"/>
          </a:p>
        </p:txBody>
      </p:sp>
      <p:sp>
        <p:nvSpPr>
          <p:cNvPr id="27" name="metin-295"/>
          <p:cNvSpPr txBox="1"/>
          <p:nvPr/>
        </p:nvSpPr>
        <p:spPr>
          <a:xfrm>
            <a:off x="5394960" y="3291840"/>
            <a:ext cx="3657600" cy="649224"/>
          </a:xfrm>
          <a:prstGeom prst="rect">
            <a:avLst/>
          </a:prstGeom>
          <a:noFill/>
          <a:ln/>
        </p:spPr>
        <p:txBody>
          <a:bodyPr wrap="square" lIns="0" tIns="0" rIns="0" bIns="0" rtlCol="0" anchor="ctr"/>
          <a:lstStyle/>
          <a:p>
            <a:pPr indent="0" marL="0">
              <a:buNone/>
            </a:pPr>
            <a:r>
              <a:rPr lang="en-US" sz="1300" dirty="0">
                <a:solidFill>
                  <a:schemeClr val="tx1"/>
                </a:solidFill>
              </a:rPr>
              <a:t>Bugün ya da yarın yağış varsa fertigasyon kilidi</a:t>
            </a:r>
            <a:endParaRPr lang="en-US" sz="1300" dirty="0"/>
          </a:p>
        </p:txBody>
      </p:sp>
      <p:sp>
        <p:nvSpPr>
          <p:cNvPr id="28" name="metin-296"/>
          <p:cNvSpPr txBox="1"/>
          <p:nvPr/>
        </p:nvSpPr>
        <p:spPr>
          <a:xfrm>
            <a:off x="9189720" y="3291840"/>
            <a:ext cx="2331720" cy="649224"/>
          </a:xfrm>
          <a:prstGeom prst="rect">
            <a:avLst/>
          </a:prstGeom>
          <a:noFill/>
          <a:ln/>
        </p:spPr>
        <p:txBody>
          <a:bodyPr wrap="square" lIns="0" tIns="0" rIns="0" bIns="0" rtlCol="0" anchor="ctr"/>
          <a:lstStyle/>
          <a:p>
            <a:pPr indent="0" marL="0">
              <a:buNone/>
            </a:pPr>
            <a:r>
              <a:rPr lang="en-US" sz="1300" b="1" dirty="0">
                <a:solidFill>
                  <a:schemeClr val="accent2"/>
                </a:solidFill>
              </a:rPr>
              <a:t>Gübre bitkide kalır</a:t>
            </a:r>
            <a:endParaRPr lang="en-US" sz="1300" dirty="0"/>
          </a:p>
        </p:txBody>
      </p:sp>
      <p:sp>
        <p:nvSpPr>
          <p:cNvPr id="29" name="kart-297"/>
          <p:cNvSpPr/>
          <p:nvPr/>
        </p:nvSpPr>
        <p:spPr>
          <a:xfrm>
            <a:off x="548640" y="4014216"/>
            <a:ext cx="11091672" cy="649224"/>
          </a:xfrm>
          <a:prstGeom prst="roundRect">
            <a:avLst>
              <a:gd name="adj" fmla="val 16901"/>
            </a:avLst>
          </a:prstGeom>
          <a:solidFill>
            <a:srgbClr val="FFFFFF"/>
          </a:solidFill>
          <a:ln w="9525">
            <a:solidFill>
              <a:srgbClr val="DCE5E1"/>
            </a:solidFill>
            <a:prstDash val="solid"/>
          </a:ln>
        </p:spPr>
      </p:sp>
      <p:sp>
        <p:nvSpPr>
          <p:cNvPr id="30" name="ikon-zemin-298"/>
          <p:cNvSpPr/>
          <p:nvPr/>
        </p:nvSpPr>
        <p:spPr>
          <a:xfrm>
            <a:off x="685800" y="4128516"/>
            <a:ext cx="420624" cy="420624"/>
          </a:xfrm>
          <a:prstGeom prst="ellipse">
            <a:avLst/>
          </a:prstGeom>
          <a:solidFill>
            <a:schemeClr val="accent5"/>
          </a:solidFill>
          <a:ln/>
        </p:spPr>
      </p:sp>
      <p:pic>
        <p:nvPicPr>
          <p:cNvPr id="31" name="ikon-299" descr="preencoded.png">    </p:cNvPr>
          <p:cNvPicPr>
            <a:picLocks noChangeAspect="1"/>
          </p:cNvPicPr>
          <p:nvPr/>
        </p:nvPicPr>
        <p:blipFill>
          <a:blip r:embed="rId4"/>
          <a:stretch>
            <a:fillRect/>
          </a:stretch>
        </p:blipFill>
        <p:spPr>
          <a:xfrm>
            <a:off x="778337" y="4221053"/>
            <a:ext cx="235549" cy="235549"/>
          </a:xfrm>
          <a:prstGeom prst="rect">
            <a:avLst/>
          </a:prstGeom>
        </p:spPr>
      </p:pic>
      <p:sp>
        <p:nvSpPr>
          <p:cNvPr id="32" name="metin-300"/>
          <p:cNvSpPr txBox="1"/>
          <p:nvPr/>
        </p:nvSpPr>
        <p:spPr>
          <a:xfrm>
            <a:off x="1234440" y="4014216"/>
            <a:ext cx="1600200" cy="649224"/>
          </a:xfrm>
          <a:prstGeom prst="rect">
            <a:avLst/>
          </a:prstGeom>
          <a:noFill/>
          <a:ln/>
        </p:spPr>
        <p:txBody>
          <a:bodyPr wrap="square" lIns="0" tIns="0" rIns="0" bIns="0" rtlCol="0" anchor="ctr"/>
          <a:lstStyle/>
          <a:p>
            <a:pPr indent="0" marL="0">
              <a:buNone/>
            </a:pPr>
            <a:r>
              <a:rPr lang="en-US" sz="1400" b="1" dirty="0">
                <a:solidFill>
                  <a:schemeClr val="tx1"/>
                </a:solidFill>
              </a:rPr>
              <a:t>Bitki koruma</a:t>
            </a:r>
            <a:endParaRPr lang="en-US" sz="1400" dirty="0"/>
          </a:p>
        </p:txBody>
      </p:sp>
      <p:sp>
        <p:nvSpPr>
          <p:cNvPr id="33" name="metin-301"/>
          <p:cNvSpPr txBox="1"/>
          <p:nvPr/>
        </p:nvSpPr>
        <p:spPr>
          <a:xfrm>
            <a:off x="2926080" y="4014216"/>
            <a:ext cx="2331720" cy="649224"/>
          </a:xfrm>
          <a:prstGeom prst="rect">
            <a:avLst/>
          </a:prstGeom>
          <a:noFill/>
          <a:ln/>
        </p:spPr>
        <p:txBody>
          <a:bodyPr wrap="square" lIns="0" tIns="0" rIns="0" bIns="0" rtlCol="0" anchor="ctr"/>
          <a:lstStyle/>
          <a:p>
            <a:pPr indent="0" marL="0">
              <a:buNone/>
            </a:pPr>
            <a:r>
              <a:rPr lang="en-US" sz="1300" dirty="0">
                <a:solidFill>
                  <a:schemeClr val="tx2"/>
                </a:solidFill>
              </a:rPr>
              <a:t>Takvime göre ilaçlama</a:t>
            </a:r>
            <a:endParaRPr lang="en-US" sz="1300" dirty="0"/>
          </a:p>
        </p:txBody>
      </p:sp>
      <p:sp>
        <p:nvSpPr>
          <p:cNvPr id="34" name="metin-302"/>
          <p:cNvSpPr txBox="1"/>
          <p:nvPr/>
        </p:nvSpPr>
        <p:spPr>
          <a:xfrm>
            <a:off x="5394960" y="4014216"/>
            <a:ext cx="3657600" cy="649224"/>
          </a:xfrm>
          <a:prstGeom prst="rect">
            <a:avLst/>
          </a:prstGeom>
          <a:noFill/>
          <a:ln/>
        </p:spPr>
        <p:txBody>
          <a:bodyPr wrap="square" lIns="0" tIns="0" rIns="0" bIns="0" rtlCol="0" anchor="ctr"/>
          <a:lstStyle/>
          <a:p>
            <a:pPr indent="0" marL="0">
              <a:buNone/>
            </a:pPr>
            <a:r>
              <a:rPr lang="en-US" sz="1300" dirty="0">
                <a:solidFill>
                  <a:schemeClr val="tx1"/>
                </a:solidFill>
              </a:rPr>
              <a:t>3 gün içinde nem &gt; %75 ve 15–25°C ise koruyucu ilaçlama önerisi</a:t>
            </a:r>
            <a:endParaRPr lang="en-US" sz="1300" dirty="0"/>
          </a:p>
        </p:txBody>
      </p:sp>
      <p:sp>
        <p:nvSpPr>
          <p:cNvPr id="35" name="metin-303"/>
          <p:cNvSpPr txBox="1"/>
          <p:nvPr/>
        </p:nvSpPr>
        <p:spPr>
          <a:xfrm>
            <a:off x="9189720" y="4014216"/>
            <a:ext cx="2331720" cy="649224"/>
          </a:xfrm>
          <a:prstGeom prst="rect">
            <a:avLst/>
          </a:prstGeom>
          <a:noFill/>
          <a:ln/>
        </p:spPr>
        <p:txBody>
          <a:bodyPr wrap="square" lIns="0" tIns="0" rIns="0" bIns="0" rtlCol="0" anchor="ctr"/>
          <a:lstStyle/>
          <a:p>
            <a:pPr indent="0" marL="0">
              <a:buNone/>
            </a:pPr>
            <a:r>
              <a:rPr lang="en-US" sz="1300" b="1" dirty="0">
                <a:solidFill>
                  <a:schemeClr val="accent2"/>
                </a:solidFill>
              </a:rPr>
              <a:t>İlaç yalnızca risk varken</a:t>
            </a:r>
            <a:endParaRPr lang="en-US" sz="1300" dirty="0"/>
          </a:p>
        </p:txBody>
      </p:sp>
      <p:sp>
        <p:nvSpPr>
          <p:cNvPr id="36" name="kart-304"/>
          <p:cNvSpPr/>
          <p:nvPr/>
        </p:nvSpPr>
        <p:spPr>
          <a:xfrm>
            <a:off x="548640" y="4736592"/>
            <a:ext cx="11091672" cy="649224"/>
          </a:xfrm>
          <a:prstGeom prst="roundRect">
            <a:avLst>
              <a:gd name="adj" fmla="val 16901"/>
            </a:avLst>
          </a:prstGeom>
          <a:solidFill>
            <a:schemeClr val="bg2"/>
          </a:solidFill>
          <a:ln/>
        </p:spPr>
      </p:sp>
      <p:sp>
        <p:nvSpPr>
          <p:cNvPr id="37" name="ikon-zemin-305"/>
          <p:cNvSpPr/>
          <p:nvPr/>
        </p:nvSpPr>
        <p:spPr>
          <a:xfrm>
            <a:off x="685800" y="4850892"/>
            <a:ext cx="420624" cy="420624"/>
          </a:xfrm>
          <a:prstGeom prst="ellipse">
            <a:avLst/>
          </a:prstGeom>
          <a:solidFill>
            <a:schemeClr val="accent4"/>
          </a:solidFill>
          <a:ln/>
        </p:spPr>
      </p:sp>
      <p:pic>
        <p:nvPicPr>
          <p:cNvPr id="38" name="ikon-306" descr="preencoded.png">    </p:cNvPr>
          <p:cNvPicPr>
            <a:picLocks noChangeAspect="1"/>
          </p:cNvPicPr>
          <p:nvPr/>
        </p:nvPicPr>
        <p:blipFill>
          <a:blip r:embed="rId5"/>
          <a:stretch>
            <a:fillRect/>
          </a:stretch>
        </p:blipFill>
        <p:spPr>
          <a:xfrm>
            <a:off x="778337" y="4943429"/>
            <a:ext cx="235549" cy="235549"/>
          </a:xfrm>
          <a:prstGeom prst="rect">
            <a:avLst/>
          </a:prstGeom>
        </p:spPr>
      </p:pic>
      <p:sp>
        <p:nvSpPr>
          <p:cNvPr id="39" name="metin-307"/>
          <p:cNvSpPr txBox="1"/>
          <p:nvPr/>
        </p:nvSpPr>
        <p:spPr>
          <a:xfrm>
            <a:off x="1234440" y="4736592"/>
            <a:ext cx="1600200" cy="649224"/>
          </a:xfrm>
          <a:prstGeom prst="rect">
            <a:avLst/>
          </a:prstGeom>
          <a:noFill/>
          <a:ln/>
        </p:spPr>
        <p:txBody>
          <a:bodyPr wrap="square" lIns="0" tIns="0" rIns="0" bIns="0" rtlCol="0" anchor="ctr"/>
          <a:lstStyle/>
          <a:p>
            <a:pPr indent="0" marL="0">
              <a:buNone/>
            </a:pPr>
            <a:r>
              <a:rPr lang="en-US" sz="1400" b="1" dirty="0">
                <a:solidFill>
                  <a:schemeClr val="tx1"/>
                </a:solidFill>
              </a:rPr>
              <a:t>Ürün</a:t>
            </a:r>
            <a:endParaRPr lang="en-US" sz="1400" dirty="0"/>
          </a:p>
        </p:txBody>
      </p:sp>
      <p:sp>
        <p:nvSpPr>
          <p:cNvPr id="40" name="metin-308"/>
          <p:cNvSpPr txBox="1"/>
          <p:nvPr/>
        </p:nvSpPr>
        <p:spPr>
          <a:xfrm>
            <a:off x="2926080" y="4736592"/>
            <a:ext cx="2331720" cy="649224"/>
          </a:xfrm>
          <a:prstGeom prst="rect">
            <a:avLst/>
          </a:prstGeom>
          <a:noFill/>
          <a:ln/>
        </p:spPr>
        <p:txBody>
          <a:bodyPr wrap="square" lIns="0" tIns="0" rIns="0" bIns="0" rtlCol="0" anchor="ctr"/>
          <a:lstStyle/>
          <a:p>
            <a:pPr indent="0" marL="0">
              <a:buNone/>
            </a:pPr>
            <a:r>
              <a:rPr lang="en-US" sz="1300" dirty="0">
                <a:solidFill>
                  <a:schemeClr val="tx2"/>
                </a:solidFill>
              </a:rPr>
              <a:t>Don, tomurcuk kaybı</a:t>
            </a:r>
            <a:endParaRPr lang="en-US" sz="1300" dirty="0"/>
          </a:p>
        </p:txBody>
      </p:sp>
      <p:sp>
        <p:nvSpPr>
          <p:cNvPr id="41" name="metin-309"/>
          <p:cNvSpPr txBox="1"/>
          <p:nvPr/>
        </p:nvSpPr>
        <p:spPr>
          <a:xfrm>
            <a:off x="5394960" y="4736592"/>
            <a:ext cx="3657600" cy="649224"/>
          </a:xfrm>
          <a:prstGeom prst="rect">
            <a:avLst/>
          </a:prstGeom>
          <a:noFill/>
          <a:ln/>
        </p:spPr>
        <p:txBody>
          <a:bodyPr wrap="square" lIns="0" tIns="0" rIns="0" bIns="0" rtlCol="0" anchor="ctr"/>
          <a:lstStyle/>
          <a:p>
            <a:pPr indent="0" marL="0">
              <a:buNone/>
            </a:pPr>
            <a:r>
              <a:rPr lang="en-US" sz="1300" dirty="0">
                <a:solidFill>
                  <a:schemeClr val="tx1"/>
                </a:solidFill>
              </a:rPr>
              <a:t>T ≤ 2°C → pompa otonom açılır (su ile koruma)</a:t>
            </a:r>
            <a:endParaRPr lang="en-US" sz="1300" dirty="0"/>
          </a:p>
        </p:txBody>
      </p:sp>
      <p:sp>
        <p:nvSpPr>
          <p:cNvPr id="42" name="metin-310"/>
          <p:cNvSpPr txBox="1"/>
          <p:nvPr/>
        </p:nvSpPr>
        <p:spPr>
          <a:xfrm>
            <a:off x="9189720" y="4736592"/>
            <a:ext cx="2331720" cy="649224"/>
          </a:xfrm>
          <a:prstGeom prst="rect">
            <a:avLst/>
          </a:prstGeom>
          <a:noFill/>
          <a:ln/>
        </p:spPr>
        <p:txBody>
          <a:bodyPr wrap="square" lIns="0" tIns="0" rIns="0" bIns="0" rtlCol="0" anchor="ctr"/>
          <a:lstStyle/>
          <a:p>
            <a:pPr indent="0" marL="0">
              <a:buNone/>
            </a:pPr>
            <a:r>
              <a:rPr lang="en-US" sz="1300" b="1" dirty="0">
                <a:solidFill>
                  <a:schemeClr val="accent2"/>
                </a:solidFill>
              </a:rPr>
              <a:t>Gece kaybı önlenir</a:t>
            </a:r>
            <a:endParaRPr lang="en-US" sz="1300" dirty="0"/>
          </a:p>
        </p:txBody>
      </p:sp>
      <p:sp>
        <p:nvSpPr>
          <p:cNvPr id="43" name="kart-311"/>
          <p:cNvSpPr/>
          <p:nvPr/>
        </p:nvSpPr>
        <p:spPr>
          <a:xfrm>
            <a:off x="548640" y="5458968"/>
            <a:ext cx="11091672" cy="649224"/>
          </a:xfrm>
          <a:prstGeom prst="roundRect">
            <a:avLst>
              <a:gd name="adj" fmla="val 16901"/>
            </a:avLst>
          </a:prstGeom>
          <a:solidFill>
            <a:srgbClr val="FFFFFF"/>
          </a:solidFill>
          <a:ln w="9525">
            <a:solidFill>
              <a:srgbClr val="DCE5E1"/>
            </a:solidFill>
            <a:prstDash val="solid"/>
          </a:ln>
        </p:spPr>
      </p:sp>
      <p:sp>
        <p:nvSpPr>
          <p:cNvPr id="44" name="ikon-zemin-312"/>
          <p:cNvSpPr/>
          <p:nvPr/>
        </p:nvSpPr>
        <p:spPr>
          <a:xfrm>
            <a:off x="685800" y="5573268"/>
            <a:ext cx="420624" cy="420624"/>
          </a:xfrm>
          <a:prstGeom prst="ellipse">
            <a:avLst/>
          </a:prstGeom>
          <a:solidFill>
            <a:schemeClr val="accent2"/>
          </a:solidFill>
          <a:ln/>
        </p:spPr>
      </p:sp>
      <p:pic>
        <p:nvPicPr>
          <p:cNvPr id="45" name="ikon-313" descr="preencoded.png">    </p:cNvPr>
          <p:cNvPicPr>
            <a:picLocks noChangeAspect="1"/>
          </p:cNvPicPr>
          <p:nvPr/>
        </p:nvPicPr>
        <p:blipFill>
          <a:blip r:embed="rId6"/>
          <a:stretch>
            <a:fillRect/>
          </a:stretch>
        </p:blipFill>
        <p:spPr>
          <a:xfrm>
            <a:off x="778337" y="5665805"/>
            <a:ext cx="235549" cy="235549"/>
          </a:xfrm>
          <a:prstGeom prst="rect">
            <a:avLst/>
          </a:prstGeom>
        </p:spPr>
      </p:pic>
      <p:sp>
        <p:nvSpPr>
          <p:cNvPr id="46" name="metin-314"/>
          <p:cNvSpPr txBox="1"/>
          <p:nvPr/>
        </p:nvSpPr>
        <p:spPr>
          <a:xfrm>
            <a:off x="1234440" y="5458968"/>
            <a:ext cx="1600200" cy="649224"/>
          </a:xfrm>
          <a:prstGeom prst="rect">
            <a:avLst/>
          </a:prstGeom>
          <a:noFill/>
          <a:ln/>
        </p:spPr>
        <p:txBody>
          <a:bodyPr wrap="square" lIns="0" tIns="0" rIns="0" bIns="0" rtlCol="0" anchor="ctr"/>
          <a:lstStyle/>
          <a:p>
            <a:pPr indent="0" marL="0">
              <a:buNone/>
            </a:pPr>
            <a:r>
              <a:rPr lang="en-US" sz="1400" b="1" dirty="0">
                <a:solidFill>
                  <a:schemeClr val="tx1"/>
                </a:solidFill>
              </a:rPr>
              <a:t>Çiftçi</a:t>
            </a:r>
            <a:endParaRPr lang="en-US" sz="1400" dirty="0"/>
          </a:p>
        </p:txBody>
      </p:sp>
      <p:sp>
        <p:nvSpPr>
          <p:cNvPr id="47" name="metin-315"/>
          <p:cNvSpPr txBox="1"/>
          <p:nvPr/>
        </p:nvSpPr>
        <p:spPr>
          <a:xfrm>
            <a:off x="2926080" y="5458968"/>
            <a:ext cx="2331720" cy="649224"/>
          </a:xfrm>
          <a:prstGeom prst="rect">
            <a:avLst/>
          </a:prstGeom>
          <a:noFill/>
          <a:ln/>
        </p:spPr>
        <p:txBody>
          <a:bodyPr wrap="square" lIns="0" tIns="0" rIns="0" bIns="0" rtlCol="0" anchor="ctr"/>
          <a:lstStyle/>
          <a:p>
            <a:pPr indent="0" marL="0">
              <a:buNone/>
            </a:pPr>
            <a:r>
              <a:rPr lang="en-US" sz="1300" dirty="0">
                <a:solidFill>
                  <a:schemeClr val="tx2"/>
                </a:solidFill>
              </a:rPr>
              <a:t>Görünmeyen maliyetler</a:t>
            </a:r>
            <a:endParaRPr lang="en-US" sz="1300" dirty="0"/>
          </a:p>
        </p:txBody>
      </p:sp>
      <p:sp>
        <p:nvSpPr>
          <p:cNvPr id="48" name="metin-316"/>
          <p:cNvSpPr txBox="1"/>
          <p:nvPr/>
        </p:nvSpPr>
        <p:spPr>
          <a:xfrm>
            <a:off x="5394960" y="5458968"/>
            <a:ext cx="3657600" cy="649224"/>
          </a:xfrm>
          <a:prstGeom prst="rect">
            <a:avLst/>
          </a:prstGeom>
          <a:noFill/>
          <a:ln/>
        </p:spPr>
        <p:txBody>
          <a:bodyPr wrap="square" lIns="0" tIns="0" rIns="0" bIns="0" rtlCol="0" anchor="ctr"/>
          <a:lstStyle/>
          <a:p>
            <a:pPr indent="0" marL="0">
              <a:buNone/>
            </a:pPr>
            <a:r>
              <a:rPr lang="en-US" sz="1300" dirty="0">
                <a:solidFill>
                  <a:schemeClr val="tx1"/>
                </a:solidFill>
              </a:rPr>
              <a:t>Dönüm başı maliyet / kâr, ROI, otomatik elektrik gideri</a:t>
            </a:r>
            <a:endParaRPr lang="en-US" sz="1300" dirty="0"/>
          </a:p>
        </p:txBody>
      </p:sp>
      <p:sp>
        <p:nvSpPr>
          <p:cNvPr id="49" name="metin-317"/>
          <p:cNvSpPr txBox="1"/>
          <p:nvPr/>
        </p:nvSpPr>
        <p:spPr>
          <a:xfrm>
            <a:off x="9189720" y="5458968"/>
            <a:ext cx="2331720" cy="649224"/>
          </a:xfrm>
          <a:prstGeom prst="rect">
            <a:avLst/>
          </a:prstGeom>
          <a:noFill/>
          <a:ln/>
        </p:spPr>
        <p:txBody>
          <a:bodyPr wrap="square" lIns="0" tIns="0" rIns="0" bIns="0" rtlCol="0" anchor="ctr"/>
          <a:lstStyle/>
          <a:p>
            <a:pPr indent="0" marL="0">
              <a:buNone/>
            </a:pPr>
            <a:r>
              <a:rPr lang="en-US" sz="1300" b="1" dirty="0">
                <a:solidFill>
                  <a:schemeClr val="accent2"/>
                </a:solidFill>
              </a:rPr>
              <a:t>Kararlar veriye dayanır</a:t>
            </a:r>
            <a:endParaRPr lang="en-US" sz="13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B6B6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8229600" cy="274320"/>
          </a:xfrm>
          <a:prstGeom prst="rect">
            <a:avLst/>
          </a:prstGeom>
          <a:noFill/>
          <a:ln/>
        </p:spPr>
        <p:txBody>
          <a:bodyPr wrap="square" lIns="0" tIns="0" rIns="0" bIns="0" rtlCol="0" anchor="t"/>
          <a:lstStyle/>
          <a:p>
            <a:pPr indent="0" marL="0">
              <a:buNone/>
            </a:pPr>
            <a:r>
              <a:rPr lang="en-US" sz="1200" b="1" spc="150" kern="0" dirty="0">
                <a:solidFill>
                  <a:schemeClr val="accent2"/>
                </a:solidFill>
              </a:rPr>
              <a:t>SU</a:t>
            </a:r>
            <a:endParaRPr lang="en-US" sz="1200" dirty="0"/>
          </a:p>
        </p:txBody>
      </p:sp>
      <p:sp>
        <p:nvSpPr>
          <p:cNvPr id="3" name="Text 0"/>
          <p:cNvSpPr/>
          <p:nvPr>
            <p:ph idx="101" type="title" hasCustomPrompt="1"/>
          </p:nvPr>
        </p:nvSpPr>
        <p:spPr>
          <a:xfrm>
            <a:off x="548640" y="621792"/>
            <a:ext cx="11091672" cy="731520"/>
          </a:xfrm>
          <a:prstGeom prst="rect">
            <a:avLst/>
          </a:prstGeom>
          <a:noFill/>
          <a:ln/>
        </p:spPr>
        <p:txBody>
          <a:bodyPr wrap="square" lIns="0" tIns="0" rIns="0" bIns="0" rtlCol="0" anchor="t"/>
          <a:lstStyle/>
          <a:p>
            <a:pPr algn="l" indent="0" marL="0">
              <a:buNone/>
            </a:pPr>
            <a:r>
              <a:rPr lang="en-US" sz="3000" b="1" dirty="0">
                <a:solidFill>
                  <a:schemeClr val="tx1"/>
                </a:solidFill>
              </a:rPr>
              <a:t>Yalnızca gerektiğinde ve buharlaşmanın en az olduğu saatte</a:t>
            </a:r>
            <a:endParaRPr lang="en-US" sz="3000" dirty="0"/>
          </a:p>
        </p:txBody>
      </p:sp>
      <p:sp>
        <p:nvSpPr>
          <p:cNvPr id="4" name="kart-318"/>
          <p:cNvSpPr/>
          <p:nvPr/>
        </p:nvSpPr>
        <p:spPr>
          <a:xfrm>
            <a:off x="548640" y="1600200"/>
            <a:ext cx="5212080" cy="1371600"/>
          </a:xfrm>
          <a:prstGeom prst="roundRect">
            <a:avLst>
              <a:gd name="adj" fmla="val 8000"/>
            </a:avLst>
          </a:prstGeom>
          <a:solidFill>
            <a:schemeClr val="bg2"/>
          </a:solidFill>
          <a:ln/>
        </p:spPr>
      </p:sp>
      <p:sp>
        <p:nvSpPr>
          <p:cNvPr id="5" name="ikon-zemin-319"/>
          <p:cNvSpPr/>
          <p:nvPr/>
        </p:nvSpPr>
        <p:spPr>
          <a:xfrm>
            <a:off x="777240" y="1828800"/>
            <a:ext cx="566928" cy="566928"/>
          </a:xfrm>
          <a:prstGeom prst="ellipse">
            <a:avLst/>
          </a:prstGeom>
          <a:solidFill>
            <a:schemeClr val="accent4"/>
          </a:solidFill>
          <a:ln/>
        </p:spPr>
      </p:sp>
      <p:pic>
        <p:nvPicPr>
          <p:cNvPr id="6" name="ikon-320" descr="preencoded.png">    </p:cNvPr>
          <p:cNvPicPr>
            <a:picLocks noChangeAspect="1"/>
          </p:cNvPicPr>
          <p:nvPr/>
        </p:nvPicPr>
        <p:blipFill>
          <a:blip r:embed="rId1"/>
          <a:stretch>
            <a:fillRect/>
          </a:stretch>
        </p:blipFill>
        <p:spPr>
          <a:xfrm>
            <a:off x="901964" y="1953524"/>
            <a:ext cx="317480" cy="317480"/>
          </a:xfrm>
          <a:prstGeom prst="rect">
            <a:avLst/>
          </a:prstGeom>
        </p:spPr>
      </p:pic>
      <p:sp>
        <p:nvSpPr>
          <p:cNvPr id="7" name="metin-321"/>
          <p:cNvSpPr txBox="1"/>
          <p:nvPr/>
        </p:nvSpPr>
        <p:spPr>
          <a:xfrm>
            <a:off x="1554480" y="1801368"/>
            <a:ext cx="4023360" cy="329184"/>
          </a:xfrm>
          <a:prstGeom prst="rect">
            <a:avLst/>
          </a:prstGeom>
          <a:noFill/>
          <a:ln/>
        </p:spPr>
        <p:txBody>
          <a:bodyPr wrap="square" lIns="0" tIns="0" rIns="0" bIns="0" rtlCol="0" anchor="t"/>
          <a:lstStyle/>
          <a:p>
            <a:pPr indent="0" marL="0">
              <a:buNone/>
            </a:pPr>
            <a:r>
              <a:rPr lang="en-US" sz="1700" b="1" dirty="0">
                <a:solidFill>
                  <a:schemeClr val="tx1"/>
                </a:solidFill>
              </a:rPr>
              <a:t>Eşik tabanlı sulama</a:t>
            </a:r>
            <a:endParaRPr lang="en-US" sz="1700" dirty="0"/>
          </a:p>
        </p:txBody>
      </p:sp>
      <p:sp>
        <p:nvSpPr>
          <p:cNvPr id="8" name="metin-322"/>
          <p:cNvSpPr txBox="1"/>
          <p:nvPr/>
        </p:nvSpPr>
        <p:spPr>
          <a:xfrm>
            <a:off x="1554480" y="2167128"/>
            <a:ext cx="4023360" cy="731520"/>
          </a:xfrm>
          <a:prstGeom prst="rect">
            <a:avLst/>
          </a:prstGeom>
          <a:noFill/>
          <a:ln/>
        </p:spPr>
        <p:txBody>
          <a:bodyPr wrap="square" lIns="0" tIns="0" rIns="0" bIns="0" rtlCol="0" anchor="t"/>
          <a:lstStyle/>
          <a:p>
            <a:pPr indent="0" marL="0">
              <a:buNone/>
            </a:pPr>
            <a:r>
              <a:rPr lang="en-US" sz="1400" dirty="0">
                <a:solidFill>
                  <a:schemeClr val="tx2"/>
                </a:solidFill>
              </a:rPr>
              <a:t>Pompa yalnızca toprak nemi %40’ın altına indiğinde ve yağış yokken devreye girer.</a:t>
            </a:r>
            <a:endParaRPr lang="en-US" sz="1400" dirty="0"/>
          </a:p>
        </p:txBody>
      </p:sp>
      <p:sp>
        <p:nvSpPr>
          <p:cNvPr id="9" name="kart-323"/>
          <p:cNvSpPr/>
          <p:nvPr/>
        </p:nvSpPr>
        <p:spPr>
          <a:xfrm>
            <a:off x="548640" y="3172968"/>
            <a:ext cx="5212080" cy="1371600"/>
          </a:xfrm>
          <a:prstGeom prst="roundRect">
            <a:avLst>
              <a:gd name="adj" fmla="val 8000"/>
            </a:avLst>
          </a:prstGeom>
          <a:solidFill>
            <a:schemeClr val="bg2"/>
          </a:solidFill>
          <a:ln/>
        </p:spPr>
      </p:sp>
      <p:sp>
        <p:nvSpPr>
          <p:cNvPr id="10" name="ikon-zemin-324"/>
          <p:cNvSpPr/>
          <p:nvPr/>
        </p:nvSpPr>
        <p:spPr>
          <a:xfrm>
            <a:off x="777240" y="3401568"/>
            <a:ext cx="566928" cy="566928"/>
          </a:xfrm>
          <a:prstGeom prst="ellipse">
            <a:avLst/>
          </a:prstGeom>
          <a:solidFill>
            <a:schemeClr val="accent3"/>
          </a:solidFill>
          <a:ln/>
        </p:spPr>
      </p:sp>
      <p:pic>
        <p:nvPicPr>
          <p:cNvPr id="11" name="ikon-325" descr="preencoded.png">    </p:cNvPr>
          <p:cNvPicPr>
            <a:picLocks noChangeAspect="1"/>
          </p:cNvPicPr>
          <p:nvPr/>
        </p:nvPicPr>
        <p:blipFill>
          <a:blip r:embed="rId2"/>
          <a:stretch>
            <a:fillRect/>
          </a:stretch>
        </p:blipFill>
        <p:spPr>
          <a:xfrm>
            <a:off x="901964" y="3526292"/>
            <a:ext cx="317480" cy="317480"/>
          </a:xfrm>
          <a:prstGeom prst="rect">
            <a:avLst/>
          </a:prstGeom>
        </p:spPr>
      </p:pic>
      <p:sp>
        <p:nvSpPr>
          <p:cNvPr id="12" name="metin-326"/>
          <p:cNvSpPr txBox="1"/>
          <p:nvPr/>
        </p:nvSpPr>
        <p:spPr>
          <a:xfrm>
            <a:off x="1554480" y="3374136"/>
            <a:ext cx="4023360" cy="329184"/>
          </a:xfrm>
          <a:prstGeom prst="rect">
            <a:avLst/>
          </a:prstGeom>
          <a:noFill/>
          <a:ln/>
        </p:spPr>
        <p:txBody>
          <a:bodyPr wrap="square" lIns="0" tIns="0" rIns="0" bIns="0" rtlCol="0" anchor="t"/>
          <a:lstStyle/>
          <a:p>
            <a:pPr indent="0" marL="0">
              <a:buNone/>
            </a:pPr>
            <a:r>
              <a:rPr lang="en-US" sz="1700" b="1" dirty="0">
                <a:solidFill>
                  <a:schemeClr val="tx1"/>
                </a:solidFill>
              </a:rPr>
              <a:t>Buharlaşma (ET) ertelemesi</a:t>
            </a:r>
            <a:endParaRPr lang="en-US" sz="1700" dirty="0"/>
          </a:p>
        </p:txBody>
      </p:sp>
      <p:sp>
        <p:nvSpPr>
          <p:cNvPr id="13" name="metin-327"/>
          <p:cNvSpPr txBox="1"/>
          <p:nvPr/>
        </p:nvSpPr>
        <p:spPr>
          <a:xfrm>
            <a:off x="1554480" y="3739896"/>
            <a:ext cx="4023360" cy="731520"/>
          </a:xfrm>
          <a:prstGeom prst="rect">
            <a:avLst/>
          </a:prstGeom>
          <a:noFill/>
          <a:ln/>
        </p:spPr>
        <p:txBody>
          <a:bodyPr wrap="square" lIns="0" tIns="0" rIns="0" bIns="0" rtlCol="0" anchor="t"/>
          <a:lstStyle/>
          <a:p>
            <a:pPr indent="0" marL="0">
              <a:buNone/>
            </a:pPr>
            <a:r>
              <a:rPr lang="en-US" sz="1400" dirty="0">
                <a:solidFill>
                  <a:schemeClr val="tx2"/>
                </a:solidFill>
              </a:rPr>
              <a:t>10:00–17:00 arasında T &gt; 25°C ise sulama geceye kayar; su köke serin saatte ulaşır.</a:t>
            </a:r>
            <a:endParaRPr lang="en-US" sz="1400" dirty="0"/>
          </a:p>
        </p:txBody>
      </p:sp>
      <p:sp>
        <p:nvSpPr>
          <p:cNvPr id="14" name="kart-328"/>
          <p:cNvSpPr/>
          <p:nvPr/>
        </p:nvSpPr>
        <p:spPr>
          <a:xfrm>
            <a:off x="548640" y="4745736"/>
            <a:ext cx="5212080" cy="1371600"/>
          </a:xfrm>
          <a:prstGeom prst="roundRect">
            <a:avLst>
              <a:gd name="adj" fmla="val 8000"/>
            </a:avLst>
          </a:prstGeom>
          <a:solidFill>
            <a:schemeClr val="bg2"/>
          </a:solidFill>
          <a:ln/>
        </p:spPr>
      </p:sp>
      <p:sp>
        <p:nvSpPr>
          <p:cNvPr id="15" name="ikon-zemin-329"/>
          <p:cNvSpPr/>
          <p:nvPr/>
        </p:nvSpPr>
        <p:spPr>
          <a:xfrm>
            <a:off x="777240" y="4974336"/>
            <a:ext cx="566928" cy="566928"/>
          </a:xfrm>
          <a:prstGeom prst="ellipse">
            <a:avLst/>
          </a:prstGeom>
          <a:solidFill>
            <a:schemeClr val="accent4"/>
          </a:solidFill>
          <a:ln/>
        </p:spPr>
      </p:sp>
      <p:pic>
        <p:nvPicPr>
          <p:cNvPr id="16" name="ikon-330" descr="preencoded.png">    </p:cNvPr>
          <p:cNvPicPr>
            <a:picLocks noChangeAspect="1"/>
          </p:cNvPicPr>
          <p:nvPr/>
        </p:nvPicPr>
        <p:blipFill>
          <a:blip r:embed="rId3"/>
          <a:stretch>
            <a:fillRect/>
          </a:stretch>
        </p:blipFill>
        <p:spPr>
          <a:xfrm>
            <a:off x="901964" y="5099060"/>
            <a:ext cx="317480" cy="317480"/>
          </a:xfrm>
          <a:prstGeom prst="rect">
            <a:avLst/>
          </a:prstGeom>
        </p:spPr>
      </p:pic>
      <p:sp>
        <p:nvSpPr>
          <p:cNvPr id="17" name="metin-331"/>
          <p:cNvSpPr txBox="1"/>
          <p:nvPr/>
        </p:nvSpPr>
        <p:spPr>
          <a:xfrm>
            <a:off x="1554480" y="4946904"/>
            <a:ext cx="4023360" cy="329184"/>
          </a:xfrm>
          <a:prstGeom prst="rect">
            <a:avLst/>
          </a:prstGeom>
          <a:noFill/>
          <a:ln/>
        </p:spPr>
        <p:txBody>
          <a:bodyPr wrap="square" lIns="0" tIns="0" rIns="0" bIns="0" rtlCol="0" anchor="t"/>
          <a:lstStyle/>
          <a:p>
            <a:pPr indent="0" marL="0">
              <a:buNone/>
            </a:pPr>
            <a:r>
              <a:rPr lang="en-US" sz="1700" b="1" dirty="0">
                <a:solidFill>
                  <a:schemeClr val="tx1"/>
                </a:solidFill>
              </a:rPr>
              <a:t>Yağmurda sulama yok</a:t>
            </a:r>
            <a:endParaRPr lang="en-US" sz="1700" dirty="0"/>
          </a:p>
        </p:txBody>
      </p:sp>
      <p:sp>
        <p:nvSpPr>
          <p:cNvPr id="18" name="metin-332"/>
          <p:cNvSpPr txBox="1"/>
          <p:nvPr/>
        </p:nvSpPr>
        <p:spPr>
          <a:xfrm>
            <a:off x="1554480" y="5312664"/>
            <a:ext cx="4023360" cy="731520"/>
          </a:xfrm>
          <a:prstGeom prst="rect">
            <a:avLst/>
          </a:prstGeom>
          <a:noFill/>
          <a:ln/>
        </p:spPr>
        <p:txBody>
          <a:bodyPr wrap="square" lIns="0" tIns="0" rIns="0" bIns="0" rtlCol="0" anchor="t"/>
          <a:lstStyle/>
          <a:p>
            <a:pPr indent="0" marL="0">
              <a:buNone/>
            </a:pPr>
            <a:r>
              <a:rPr lang="en-US" sz="1400" dirty="0">
                <a:solidFill>
                  <a:schemeClr val="tx2"/>
                </a:solidFill>
              </a:rPr>
              <a:t>Günlük yağış 0,5 mm’yi aşarsa sulama ihtiyacı oluşmaz; pompa çalışmaz.</a:t>
            </a:r>
            <a:endParaRPr lang="en-US" sz="1400" dirty="0"/>
          </a:p>
        </p:txBody>
      </p:sp>
      <p:sp>
        <p:nvSpPr>
          <p:cNvPr id="19" name="kart-333"/>
          <p:cNvSpPr/>
          <p:nvPr/>
        </p:nvSpPr>
        <p:spPr>
          <a:xfrm>
            <a:off x="6035040" y="1600200"/>
            <a:ext cx="3108960" cy="4526280"/>
          </a:xfrm>
          <a:prstGeom prst="roundRect">
            <a:avLst>
              <a:gd name="adj" fmla="val 3529"/>
            </a:avLst>
          </a:prstGeom>
          <a:solidFill>
            <a:schemeClr val="tx1"/>
          </a:solidFill>
          <a:ln/>
        </p:spPr>
      </p:sp>
      <p:sp>
        <p:nvSpPr>
          <p:cNvPr id="20" name="ikon-zemin-334"/>
          <p:cNvSpPr/>
          <p:nvPr/>
        </p:nvSpPr>
        <p:spPr>
          <a:xfrm>
            <a:off x="6309360" y="1874520"/>
            <a:ext cx="566928" cy="566928"/>
          </a:xfrm>
          <a:prstGeom prst="ellipse">
            <a:avLst/>
          </a:prstGeom>
          <a:solidFill>
            <a:schemeClr val="accent4"/>
          </a:solidFill>
          <a:ln/>
        </p:spPr>
      </p:sp>
      <p:pic>
        <p:nvPicPr>
          <p:cNvPr id="21" name="ikon-335" descr="preencoded.png">    </p:cNvPr>
          <p:cNvPicPr>
            <a:picLocks noChangeAspect="1"/>
          </p:cNvPicPr>
          <p:nvPr/>
        </p:nvPicPr>
        <p:blipFill>
          <a:blip r:embed="rId4"/>
          <a:stretch>
            <a:fillRect/>
          </a:stretch>
        </p:blipFill>
        <p:spPr>
          <a:xfrm>
            <a:off x="6434084" y="1999244"/>
            <a:ext cx="317480" cy="317480"/>
          </a:xfrm>
          <a:prstGeom prst="rect">
            <a:avLst/>
          </a:prstGeom>
        </p:spPr>
      </p:pic>
      <p:sp>
        <p:nvSpPr>
          <p:cNvPr id="22" name="metin-336"/>
          <p:cNvSpPr txBox="1"/>
          <p:nvPr/>
        </p:nvSpPr>
        <p:spPr>
          <a:xfrm>
            <a:off x="6995160" y="1874520"/>
            <a:ext cx="2011680" cy="566928"/>
          </a:xfrm>
          <a:prstGeom prst="rect">
            <a:avLst/>
          </a:prstGeom>
          <a:noFill/>
          <a:ln/>
        </p:spPr>
        <p:txBody>
          <a:bodyPr wrap="square" lIns="0" tIns="0" rIns="0" bIns="0" rtlCol="0" anchor="ctr"/>
          <a:lstStyle/>
          <a:p>
            <a:pPr indent="0" marL="0">
              <a:buNone/>
            </a:pPr>
            <a:r>
              <a:rPr lang="en-US" sz="1800" b="1" dirty="0">
                <a:solidFill>
                  <a:schemeClr val="bg1"/>
                </a:solidFill>
              </a:rPr>
              <a:t>Don koruması</a:t>
            </a:r>
            <a:endParaRPr lang="en-US" sz="1800" dirty="0"/>
          </a:p>
        </p:txBody>
      </p:sp>
      <p:sp>
        <p:nvSpPr>
          <p:cNvPr id="23" name="metin-337"/>
          <p:cNvSpPr txBox="1"/>
          <p:nvPr/>
        </p:nvSpPr>
        <p:spPr>
          <a:xfrm>
            <a:off x="6309360" y="2697480"/>
            <a:ext cx="2743200" cy="685800"/>
          </a:xfrm>
          <a:prstGeom prst="rect">
            <a:avLst/>
          </a:prstGeom>
          <a:noFill/>
          <a:ln/>
        </p:spPr>
        <p:txBody>
          <a:bodyPr wrap="square" lIns="0" tIns="0" rIns="0" bIns="0" rtlCol="0" anchor="t"/>
          <a:lstStyle/>
          <a:p>
            <a:pPr indent="0" marL="0">
              <a:buNone/>
            </a:pPr>
            <a:r>
              <a:rPr lang="en-US" sz="3800" b="1" dirty="0">
                <a:solidFill>
                  <a:schemeClr val="accent1"/>
                </a:solidFill>
              </a:rPr>
              <a:t>334 kJ/kg</a:t>
            </a:r>
            <a:endParaRPr lang="en-US" sz="3800" dirty="0"/>
          </a:p>
        </p:txBody>
      </p:sp>
      <p:sp>
        <p:nvSpPr>
          <p:cNvPr id="24" name="metin-338"/>
          <p:cNvSpPr txBox="1"/>
          <p:nvPr/>
        </p:nvSpPr>
        <p:spPr>
          <a:xfrm>
            <a:off x="6309360" y="3383280"/>
            <a:ext cx="2651760" cy="292608"/>
          </a:xfrm>
          <a:prstGeom prst="rect">
            <a:avLst/>
          </a:prstGeom>
          <a:noFill/>
          <a:ln/>
        </p:spPr>
        <p:txBody>
          <a:bodyPr wrap="square" lIns="0" tIns="0" rIns="0" bIns="0" rtlCol="0" anchor="t"/>
          <a:lstStyle/>
          <a:p>
            <a:pPr indent="0" marL="0">
              <a:buNone/>
            </a:pPr>
            <a:r>
              <a:rPr lang="en-US" sz="1400" dirty="0">
                <a:solidFill>
                  <a:schemeClr val="bg1"/>
                </a:solidFill>
              </a:rPr>
              <a:t>suyun donma gizli ısısı</a:t>
            </a:r>
            <a:endParaRPr lang="en-US" sz="1400" dirty="0"/>
          </a:p>
        </p:txBody>
      </p:sp>
      <p:sp>
        <p:nvSpPr>
          <p:cNvPr id="25" name="metin-339"/>
          <p:cNvSpPr txBox="1"/>
          <p:nvPr/>
        </p:nvSpPr>
        <p:spPr>
          <a:xfrm>
            <a:off x="6309360" y="3840480"/>
            <a:ext cx="2606040" cy="1005840"/>
          </a:xfrm>
          <a:prstGeom prst="rect">
            <a:avLst/>
          </a:prstGeom>
          <a:noFill/>
          <a:ln/>
        </p:spPr>
        <p:txBody>
          <a:bodyPr wrap="square" lIns="0" tIns="0" rIns="0" bIns="0" rtlCol="0" anchor="t"/>
          <a:lstStyle/>
          <a:p>
            <a:pPr indent="0" marL="0">
              <a:buNone/>
            </a:pPr>
            <a:r>
              <a:rPr lang="en-US" sz="1300" dirty="0">
                <a:solidFill>
                  <a:srgbClr val="A9C2B8"/>
                </a:solidFill>
              </a:rPr>
              <a:t>Püskürtülen su tomurcuğun üzerinde donarken ısı açığa çıkarır ve dokuyu 0°C civarında tutar.</a:t>
            </a:r>
            <a:endParaRPr lang="en-US" sz="1300" dirty="0"/>
          </a:p>
        </p:txBody>
      </p:sp>
      <p:sp>
        <p:nvSpPr>
          <p:cNvPr id="26" name="metin-340"/>
          <p:cNvSpPr txBox="1"/>
          <p:nvPr/>
        </p:nvSpPr>
        <p:spPr>
          <a:xfrm>
            <a:off x="6309360" y="4983480"/>
            <a:ext cx="2606040" cy="822960"/>
          </a:xfrm>
          <a:prstGeom prst="rect">
            <a:avLst/>
          </a:prstGeom>
          <a:noFill/>
          <a:ln/>
        </p:spPr>
        <p:txBody>
          <a:bodyPr wrap="square" lIns="0" tIns="0" rIns="0" bIns="0" rtlCol="0" anchor="t"/>
          <a:lstStyle/>
          <a:p>
            <a:pPr indent="0" marL="0">
              <a:buNone/>
            </a:pPr>
            <a:r>
              <a:rPr lang="en-US" sz="1300" b="1" dirty="0">
                <a:solidFill>
                  <a:schemeClr val="accent1"/>
                </a:solidFill>
              </a:rPr>
              <a:t>Kural: </a:t>
            </a:r>
            <a:pPr indent="0" marL="0">
              <a:buNone/>
            </a:pPr>
            <a:r>
              <a:rPr lang="en-US" sz="1300" dirty="0">
                <a:solidFill>
                  <a:schemeClr val="bg1"/>
                </a:solidFill>
              </a:rPr>
              <a:t>T ≤ 2°C → pompa açık; risk sürdükçe açık kalır.</a:t>
            </a:r>
            <a:endParaRPr lang="en-US" sz="1300" dirty="0"/>
          </a:p>
        </p:txBody>
      </p:sp>
      <p:sp>
        <p:nvSpPr>
          <p:cNvPr id="27" name="telefon-cerceve-341"/>
          <p:cNvSpPr/>
          <p:nvPr/>
        </p:nvSpPr>
        <p:spPr>
          <a:xfrm>
            <a:off x="9454896" y="1545336"/>
            <a:ext cx="2201255" cy="4636008"/>
          </a:xfrm>
          <a:prstGeom prst="roundRect">
            <a:avLst>
              <a:gd name="adj" fmla="val 9970"/>
            </a:avLst>
          </a:prstGeom>
          <a:solidFill>
            <a:srgbClr val="0B0F0D"/>
          </a:solidFill>
          <a:ln w="12700">
            <a:solidFill>
              <a:srgbClr val="2E3A35"/>
            </a:solidFill>
            <a:prstDash val="solid"/>
          </a:ln>
          <a:effectLst>
            <a:outerShdw sx="100000" sy="100000" kx="0" ky="0" algn="bl" rotWithShape="0" blurRad="127000" dist="38100" dir="5400000">
              <a:srgbClr val="000000">
                <a:alpha val="22000"/>
              </a:srgbClr>
            </a:outerShdw>
          </a:effectLst>
        </p:spPr>
      </p:sp>
      <p:pic>
        <p:nvPicPr>
          <p:cNvPr id="28" name="ekran-goruntusu-342" descr="AgroGuard AI mobil uygulama ekran görüntüsü">    </p:cNvPr>
          <p:cNvPicPr>
            <a:picLocks noChangeAspect="1"/>
          </p:cNvPicPr>
          <p:nvPr/>
        </p:nvPicPr>
        <p:blipFill>
          <a:blip r:embed="rId5"/>
          <a:stretch>
            <a:fillRect/>
          </a:stretch>
        </p:blipFill>
        <p:spPr>
          <a:xfrm>
            <a:off x="9509760" y="1600200"/>
            <a:ext cx="2091527" cy="4526280"/>
          </a:xfrm>
          <a:prstGeom prst="rect">
            <a:avLst/>
          </a:prstGeom>
        </p:spPr>
      </p:pic>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B6B6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8229600" cy="274320"/>
          </a:xfrm>
          <a:prstGeom prst="rect">
            <a:avLst/>
          </a:prstGeom>
          <a:noFill/>
          <a:ln/>
        </p:spPr>
        <p:txBody>
          <a:bodyPr wrap="square" lIns="0" tIns="0" rIns="0" bIns="0" rtlCol="0" anchor="t"/>
          <a:lstStyle/>
          <a:p>
            <a:pPr indent="0" marL="0">
              <a:buNone/>
            </a:pPr>
            <a:r>
              <a:rPr lang="en-US" sz="1200" b="1" spc="150" kern="0" dirty="0">
                <a:solidFill>
                  <a:schemeClr val="accent2"/>
                </a:solidFill>
              </a:rPr>
              <a:t>ENERJİ</a:t>
            </a:r>
            <a:endParaRPr lang="en-US" sz="1200" dirty="0"/>
          </a:p>
        </p:txBody>
      </p:sp>
      <p:sp>
        <p:nvSpPr>
          <p:cNvPr id="3" name="Text 0"/>
          <p:cNvSpPr/>
          <p:nvPr>
            <p:ph idx="101" type="title" hasCustomPrompt="1"/>
          </p:nvPr>
        </p:nvSpPr>
        <p:spPr>
          <a:xfrm>
            <a:off x="548640" y="621792"/>
            <a:ext cx="11091672" cy="731520"/>
          </a:xfrm>
          <a:prstGeom prst="rect">
            <a:avLst/>
          </a:prstGeom>
          <a:noFill/>
          <a:ln/>
        </p:spPr>
        <p:txBody>
          <a:bodyPr wrap="square" lIns="0" tIns="0" rIns="0" bIns="0" rtlCol="0" anchor="t"/>
          <a:lstStyle/>
          <a:p>
            <a:pPr algn="l" indent="0" marL="0">
              <a:buNone/>
            </a:pPr>
            <a:r>
              <a:rPr lang="en-US" sz="3000" b="1" dirty="0">
                <a:solidFill>
                  <a:schemeClr val="tx1"/>
                </a:solidFill>
              </a:rPr>
              <a:t>Pompayı puanttan geceye kaydırmak maliyeti %62,5 azaltıyor</a:t>
            </a:r>
            <a:endParaRPr lang="en-US" sz="3000" dirty="0"/>
          </a:p>
        </p:txBody>
      </p:sp>
      <p:graphicFrame>
        <p:nvGraphicFramePr>
          <p:cNvPr id="4" name="tarife-grafigi" descr=""/>
          <p:cNvGraphicFramePr/>
          <p:nvPr/>
        </p:nvGraphicFramePr>
        <p:xfrm>
          <a:off x="548640" y="1600200"/>
          <a:ext cx="6035040" cy="4526280"/>
        </p:xfrm>
        <a:graphic xmlns:a="http://schemas.openxmlformats.org/drawingml/2006/main">
          <a:graphicData uri="http://schemas.openxmlformats.org/drawingml/2006/chart">
            <c:chart xmlns:c="http://schemas.openxmlformats.org/drawingml/2006/chart" r:id="rId1"/>
          </a:graphicData>
        </a:graphic>
      </p:graphicFrame>
      <p:sp>
        <p:nvSpPr>
          <p:cNvPr id="5" name="kart-343"/>
          <p:cNvSpPr/>
          <p:nvPr/>
        </p:nvSpPr>
        <p:spPr>
          <a:xfrm>
            <a:off x="6949440" y="1600200"/>
            <a:ext cx="4690872" cy="548640"/>
          </a:xfrm>
          <a:prstGeom prst="roundRect">
            <a:avLst>
              <a:gd name="adj" fmla="val 20000"/>
            </a:avLst>
          </a:prstGeom>
          <a:solidFill>
            <a:schemeClr val="bg2"/>
          </a:solidFill>
          <a:ln/>
        </p:spPr>
      </p:sp>
      <p:sp>
        <p:nvSpPr>
          <p:cNvPr id="6" name="tarife-renk-344"/>
          <p:cNvSpPr/>
          <p:nvPr/>
        </p:nvSpPr>
        <p:spPr>
          <a:xfrm>
            <a:off x="7132320" y="1755648"/>
            <a:ext cx="237744" cy="237744"/>
          </a:xfrm>
          <a:prstGeom prst="ellipse">
            <a:avLst/>
          </a:prstGeom>
          <a:solidFill>
            <a:schemeClr val="accent1"/>
          </a:solidFill>
          <a:ln/>
        </p:spPr>
      </p:sp>
      <p:sp>
        <p:nvSpPr>
          <p:cNvPr id="7" name="metin-345"/>
          <p:cNvSpPr txBox="1"/>
          <p:nvPr/>
        </p:nvSpPr>
        <p:spPr>
          <a:xfrm>
            <a:off x="7543800" y="1600200"/>
            <a:ext cx="1097280" cy="548640"/>
          </a:xfrm>
          <a:prstGeom prst="rect">
            <a:avLst/>
          </a:prstGeom>
          <a:noFill/>
          <a:ln/>
        </p:spPr>
        <p:txBody>
          <a:bodyPr wrap="square" lIns="0" tIns="0" rIns="0" bIns="0" rtlCol="0" anchor="ctr"/>
          <a:lstStyle/>
          <a:p>
            <a:pPr indent="0" marL="0">
              <a:buNone/>
            </a:pPr>
            <a:r>
              <a:rPr lang="en-US" sz="1500" b="1" dirty="0">
                <a:solidFill>
                  <a:schemeClr val="tx1"/>
                </a:solidFill>
              </a:rPr>
              <a:t>Gece</a:t>
            </a:r>
            <a:endParaRPr lang="en-US" sz="1500" dirty="0"/>
          </a:p>
        </p:txBody>
      </p:sp>
      <p:sp>
        <p:nvSpPr>
          <p:cNvPr id="8" name="metin-346"/>
          <p:cNvSpPr txBox="1"/>
          <p:nvPr/>
        </p:nvSpPr>
        <p:spPr>
          <a:xfrm>
            <a:off x="8641080" y="1600200"/>
            <a:ext cx="1600200" cy="548640"/>
          </a:xfrm>
          <a:prstGeom prst="rect">
            <a:avLst/>
          </a:prstGeom>
          <a:noFill/>
          <a:ln/>
        </p:spPr>
        <p:txBody>
          <a:bodyPr wrap="square" lIns="0" tIns="0" rIns="0" bIns="0" rtlCol="0" anchor="ctr"/>
          <a:lstStyle/>
          <a:p>
            <a:pPr indent="0" marL="0">
              <a:buNone/>
            </a:pPr>
            <a:r>
              <a:rPr lang="en-US" sz="1300" dirty="0">
                <a:solidFill>
                  <a:schemeClr val="tx2"/>
                </a:solidFill>
              </a:rPr>
              <a:t>22:00 – 05:59</a:t>
            </a:r>
            <a:endParaRPr lang="en-US" sz="1300" dirty="0"/>
          </a:p>
        </p:txBody>
      </p:sp>
      <p:sp>
        <p:nvSpPr>
          <p:cNvPr id="9" name="metin-347"/>
          <p:cNvSpPr txBox="1"/>
          <p:nvPr/>
        </p:nvSpPr>
        <p:spPr>
          <a:xfrm>
            <a:off x="10241280" y="1600200"/>
            <a:ext cx="1234440" cy="548640"/>
          </a:xfrm>
          <a:prstGeom prst="rect">
            <a:avLst/>
          </a:prstGeom>
          <a:noFill/>
          <a:ln/>
        </p:spPr>
        <p:txBody>
          <a:bodyPr wrap="square" lIns="0" tIns="0" rIns="0" bIns="0" rtlCol="0" anchor="ctr"/>
          <a:lstStyle/>
          <a:p>
            <a:pPr algn="r" indent="0" marL="0">
              <a:buNone/>
            </a:pPr>
            <a:r>
              <a:rPr lang="en-US" sz="1500" b="1" dirty="0">
                <a:solidFill>
                  <a:schemeClr val="tx1"/>
                </a:solidFill>
              </a:rPr>
              <a:t>1,50 ₺/kWh</a:t>
            </a:r>
            <a:endParaRPr lang="en-US" sz="1500" dirty="0"/>
          </a:p>
        </p:txBody>
      </p:sp>
      <p:sp>
        <p:nvSpPr>
          <p:cNvPr id="10" name="kart-348"/>
          <p:cNvSpPr/>
          <p:nvPr/>
        </p:nvSpPr>
        <p:spPr>
          <a:xfrm>
            <a:off x="6949440" y="2258568"/>
            <a:ext cx="4690872" cy="548640"/>
          </a:xfrm>
          <a:prstGeom prst="roundRect">
            <a:avLst>
              <a:gd name="adj" fmla="val 20000"/>
            </a:avLst>
          </a:prstGeom>
          <a:solidFill>
            <a:schemeClr val="bg2"/>
          </a:solidFill>
          <a:ln/>
        </p:spPr>
      </p:sp>
      <p:sp>
        <p:nvSpPr>
          <p:cNvPr id="11" name="tarife-renk-349"/>
          <p:cNvSpPr/>
          <p:nvPr/>
        </p:nvSpPr>
        <p:spPr>
          <a:xfrm>
            <a:off x="7132320" y="2414016"/>
            <a:ext cx="237744" cy="237744"/>
          </a:xfrm>
          <a:prstGeom prst="ellipse">
            <a:avLst/>
          </a:prstGeom>
          <a:solidFill>
            <a:schemeClr val="accent3"/>
          </a:solidFill>
          <a:ln/>
        </p:spPr>
      </p:sp>
      <p:sp>
        <p:nvSpPr>
          <p:cNvPr id="12" name="metin-350"/>
          <p:cNvSpPr txBox="1"/>
          <p:nvPr/>
        </p:nvSpPr>
        <p:spPr>
          <a:xfrm>
            <a:off x="7543800" y="2258568"/>
            <a:ext cx="1097280" cy="548640"/>
          </a:xfrm>
          <a:prstGeom prst="rect">
            <a:avLst/>
          </a:prstGeom>
          <a:noFill/>
          <a:ln/>
        </p:spPr>
        <p:txBody>
          <a:bodyPr wrap="square" lIns="0" tIns="0" rIns="0" bIns="0" rtlCol="0" anchor="ctr"/>
          <a:lstStyle/>
          <a:p>
            <a:pPr indent="0" marL="0">
              <a:buNone/>
            </a:pPr>
            <a:r>
              <a:rPr lang="en-US" sz="1500" b="1" dirty="0">
                <a:solidFill>
                  <a:schemeClr val="tx1"/>
                </a:solidFill>
              </a:rPr>
              <a:t>Gündüz</a:t>
            </a:r>
            <a:endParaRPr lang="en-US" sz="1500" dirty="0"/>
          </a:p>
        </p:txBody>
      </p:sp>
      <p:sp>
        <p:nvSpPr>
          <p:cNvPr id="13" name="metin-351"/>
          <p:cNvSpPr txBox="1"/>
          <p:nvPr/>
        </p:nvSpPr>
        <p:spPr>
          <a:xfrm>
            <a:off x="8641080" y="2258568"/>
            <a:ext cx="1600200" cy="548640"/>
          </a:xfrm>
          <a:prstGeom prst="rect">
            <a:avLst/>
          </a:prstGeom>
          <a:noFill/>
          <a:ln/>
        </p:spPr>
        <p:txBody>
          <a:bodyPr wrap="square" lIns="0" tIns="0" rIns="0" bIns="0" rtlCol="0" anchor="ctr"/>
          <a:lstStyle/>
          <a:p>
            <a:pPr indent="0" marL="0">
              <a:buNone/>
            </a:pPr>
            <a:r>
              <a:rPr lang="en-US" sz="1300" dirty="0">
                <a:solidFill>
                  <a:schemeClr val="tx2"/>
                </a:solidFill>
              </a:rPr>
              <a:t>06:00 – 16:59</a:t>
            </a:r>
            <a:endParaRPr lang="en-US" sz="1300" dirty="0"/>
          </a:p>
        </p:txBody>
      </p:sp>
      <p:sp>
        <p:nvSpPr>
          <p:cNvPr id="14" name="metin-352"/>
          <p:cNvSpPr txBox="1"/>
          <p:nvPr/>
        </p:nvSpPr>
        <p:spPr>
          <a:xfrm>
            <a:off x="10241280" y="2258568"/>
            <a:ext cx="1234440" cy="548640"/>
          </a:xfrm>
          <a:prstGeom prst="rect">
            <a:avLst/>
          </a:prstGeom>
          <a:noFill/>
          <a:ln/>
        </p:spPr>
        <p:txBody>
          <a:bodyPr wrap="square" lIns="0" tIns="0" rIns="0" bIns="0" rtlCol="0" anchor="ctr"/>
          <a:lstStyle/>
          <a:p>
            <a:pPr algn="r" indent="0" marL="0">
              <a:buNone/>
            </a:pPr>
            <a:r>
              <a:rPr lang="en-US" sz="1500" b="1" dirty="0">
                <a:solidFill>
                  <a:schemeClr val="tx1"/>
                </a:solidFill>
              </a:rPr>
              <a:t>2,50 ₺/kWh</a:t>
            </a:r>
            <a:endParaRPr lang="en-US" sz="1500" dirty="0"/>
          </a:p>
        </p:txBody>
      </p:sp>
      <p:sp>
        <p:nvSpPr>
          <p:cNvPr id="15" name="kart-353"/>
          <p:cNvSpPr/>
          <p:nvPr/>
        </p:nvSpPr>
        <p:spPr>
          <a:xfrm>
            <a:off x="6949440" y="2916936"/>
            <a:ext cx="4690872" cy="548640"/>
          </a:xfrm>
          <a:prstGeom prst="roundRect">
            <a:avLst>
              <a:gd name="adj" fmla="val 20000"/>
            </a:avLst>
          </a:prstGeom>
          <a:solidFill>
            <a:schemeClr val="bg2"/>
          </a:solidFill>
          <a:ln/>
        </p:spPr>
      </p:sp>
      <p:sp>
        <p:nvSpPr>
          <p:cNvPr id="16" name="tarife-renk-354"/>
          <p:cNvSpPr/>
          <p:nvPr/>
        </p:nvSpPr>
        <p:spPr>
          <a:xfrm>
            <a:off x="7132320" y="3072384"/>
            <a:ext cx="237744" cy="237744"/>
          </a:xfrm>
          <a:prstGeom prst="ellipse">
            <a:avLst/>
          </a:prstGeom>
          <a:solidFill>
            <a:schemeClr val="accent5"/>
          </a:solidFill>
          <a:ln/>
        </p:spPr>
      </p:sp>
      <p:sp>
        <p:nvSpPr>
          <p:cNvPr id="17" name="metin-355"/>
          <p:cNvSpPr txBox="1"/>
          <p:nvPr/>
        </p:nvSpPr>
        <p:spPr>
          <a:xfrm>
            <a:off x="7543800" y="2916936"/>
            <a:ext cx="1097280" cy="548640"/>
          </a:xfrm>
          <a:prstGeom prst="rect">
            <a:avLst/>
          </a:prstGeom>
          <a:noFill/>
          <a:ln/>
        </p:spPr>
        <p:txBody>
          <a:bodyPr wrap="square" lIns="0" tIns="0" rIns="0" bIns="0" rtlCol="0" anchor="ctr"/>
          <a:lstStyle/>
          <a:p>
            <a:pPr indent="0" marL="0">
              <a:buNone/>
            </a:pPr>
            <a:r>
              <a:rPr lang="en-US" sz="1500" b="1" dirty="0">
                <a:solidFill>
                  <a:schemeClr val="tx1"/>
                </a:solidFill>
              </a:rPr>
              <a:t>Puant</a:t>
            </a:r>
            <a:endParaRPr lang="en-US" sz="1500" dirty="0"/>
          </a:p>
        </p:txBody>
      </p:sp>
      <p:sp>
        <p:nvSpPr>
          <p:cNvPr id="18" name="metin-356"/>
          <p:cNvSpPr txBox="1"/>
          <p:nvPr/>
        </p:nvSpPr>
        <p:spPr>
          <a:xfrm>
            <a:off x="8641080" y="2916936"/>
            <a:ext cx="1600200" cy="548640"/>
          </a:xfrm>
          <a:prstGeom prst="rect">
            <a:avLst/>
          </a:prstGeom>
          <a:noFill/>
          <a:ln/>
        </p:spPr>
        <p:txBody>
          <a:bodyPr wrap="square" lIns="0" tIns="0" rIns="0" bIns="0" rtlCol="0" anchor="ctr"/>
          <a:lstStyle/>
          <a:p>
            <a:pPr indent="0" marL="0">
              <a:buNone/>
            </a:pPr>
            <a:r>
              <a:rPr lang="en-US" sz="1300" dirty="0">
                <a:solidFill>
                  <a:schemeClr val="tx2"/>
                </a:solidFill>
              </a:rPr>
              <a:t>17:00 – 21:59</a:t>
            </a:r>
            <a:endParaRPr lang="en-US" sz="1300" dirty="0"/>
          </a:p>
        </p:txBody>
      </p:sp>
      <p:sp>
        <p:nvSpPr>
          <p:cNvPr id="19" name="metin-357"/>
          <p:cNvSpPr txBox="1"/>
          <p:nvPr/>
        </p:nvSpPr>
        <p:spPr>
          <a:xfrm>
            <a:off x="10241280" y="2916936"/>
            <a:ext cx="1234440" cy="548640"/>
          </a:xfrm>
          <a:prstGeom prst="rect">
            <a:avLst/>
          </a:prstGeom>
          <a:noFill/>
          <a:ln/>
        </p:spPr>
        <p:txBody>
          <a:bodyPr wrap="square" lIns="0" tIns="0" rIns="0" bIns="0" rtlCol="0" anchor="ctr"/>
          <a:lstStyle/>
          <a:p>
            <a:pPr algn="r" indent="0" marL="0">
              <a:buNone/>
            </a:pPr>
            <a:r>
              <a:rPr lang="en-US" sz="1500" b="1" dirty="0">
                <a:solidFill>
                  <a:schemeClr val="tx1"/>
                </a:solidFill>
              </a:rPr>
              <a:t>4,00 ₺/kWh</a:t>
            </a:r>
            <a:endParaRPr lang="en-US" sz="1500" dirty="0"/>
          </a:p>
        </p:txBody>
      </p:sp>
      <p:sp>
        <p:nvSpPr>
          <p:cNvPr id="20" name="kart-358"/>
          <p:cNvSpPr/>
          <p:nvPr/>
        </p:nvSpPr>
        <p:spPr>
          <a:xfrm>
            <a:off x="6949440" y="3657600"/>
            <a:ext cx="2231136" cy="1097280"/>
          </a:xfrm>
          <a:prstGeom prst="roundRect">
            <a:avLst>
              <a:gd name="adj" fmla="val 10000"/>
            </a:avLst>
          </a:prstGeom>
          <a:solidFill>
            <a:srgbClr val="D7F5EA"/>
          </a:solidFill>
          <a:ln/>
        </p:spPr>
      </p:sp>
      <p:sp>
        <p:nvSpPr>
          <p:cNvPr id="21" name="metin-359"/>
          <p:cNvSpPr txBox="1"/>
          <p:nvPr/>
        </p:nvSpPr>
        <p:spPr>
          <a:xfrm>
            <a:off x="7132320" y="3730752"/>
            <a:ext cx="1920240" cy="594360"/>
          </a:xfrm>
          <a:prstGeom prst="rect">
            <a:avLst/>
          </a:prstGeom>
          <a:noFill/>
          <a:ln/>
        </p:spPr>
        <p:txBody>
          <a:bodyPr wrap="square" lIns="0" tIns="0" rIns="0" bIns="0" rtlCol="0" anchor="t"/>
          <a:lstStyle/>
          <a:p>
            <a:pPr indent="0" marL="0">
              <a:buNone/>
            </a:pPr>
            <a:r>
              <a:rPr lang="en-US" sz="3200" b="1" dirty="0">
                <a:solidFill>
                  <a:schemeClr val="accent2"/>
                </a:solidFill>
              </a:rPr>
              <a:t>−%62,5</a:t>
            </a:r>
            <a:endParaRPr lang="en-US" sz="3200" dirty="0"/>
          </a:p>
        </p:txBody>
      </p:sp>
      <p:sp>
        <p:nvSpPr>
          <p:cNvPr id="22" name="metin-360"/>
          <p:cNvSpPr txBox="1"/>
          <p:nvPr/>
        </p:nvSpPr>
        <p:spPr>
          <a:xfrm>
            <a:off x="7132320" y="4343400"/>
            <a:ext cx="1920240" cy="292608"/>
          </a:xfrm>
          <a:prstGeom prst="rect">
            <a:avLst/>
          </a:prstGeom>
          <a:noFill/>
          <a:ln/>
        </p:spPr>
        <p:txBody>
          <a:bodyPr wrap="square" lIns="0" tIns="0" rIns="0" bIns="0" rtlCol="0" anchor="t"/>
          <a:lstStyle/>
          <a:p>
            <a:pPr indent="0" marL="0">
              <a:buNone/>
            </a:pPr>
            <a:r>
              <a:rPr lang="en-US" sz="1300" dirty="0">
                <a:solidFill>
                  <a:schemeClr val="tx1"/>
                </a:solidFill>
              </a:rPr>
              <a:t>puant → gece</a:t>
            </a:r>
            <a:endParaRPr lang="en-US" sz="1300" dirty="0"/>
          </a:p>
        </p:txBody>
      </p:sp>
      <p:sp>
        <p:nvSpPr>
          <p:cNvPr id="23" name="kart-361"/>
          <p:cNvSpPr/>
          <p:nvPr/>
        </p:nvSpPr>
        <p:spPr>
          <a:xfrm>
            <a:off x="9409176" y="3657600"/>
            <a:ext cx="2231136" cy="1097280"/>
          </a:xfrm>
          <a:prstGeom prst="roundRect">
            <a:avLst>
              <a:gd name="adj" fmla="val 10000"/>
            </a:avLst>
          </a:prstGeom>
          <a:solidFill>
            <a:srgbClr val="D7F5EA"/>
          </a:solidFill>
          <a:ln/>
        </p:spPr>
      </p:sp>
      <p:sp>
        <p:nvSpPr>
          <p:cNvPr id="24" name="metin-362"/>
          <p:cNvSpPr txBox="1"/>
          <p:nvPr/>
        </p:nvSpPr>
        <p:spPr>
          <a:xfrm>
            <a:off x="9592056" y="3730752"/>
            <a:ext cx="1920240" cy="594360"/>
          </a:xfrm>
          <a:prstGeom prst="rect">
            <a:avLst/>
          </a:prstGeom>
          <a:noFill/>
          <a:ln/>
        </p:spPr>
        <p:txBody>
          <a:bodyPr wrap="square" lIns="0" tIns="0" rIns="0" bIns="0" rtlCol="0" anchor="t"/>
          <a:lstStyle/>
          <a:p>
            <a:pPr indent="0" marL="0">
              <a:buNone/>
            </a:pPr>
            <a:r>
              <a:rPr lang="en-US" sz="3200" b="1" dirty="0">
                <a:solidFill>
                  <a:schemeClr val="accent2"/>
                </a:solidFill>
              </a:rPr>
              <a:t>−%40</a:t>
            </a:r>
            <a:endParaRPr lang="en-US" sz="3200" dirty="0"/>
          </a:p>
        </p:txBody>
      </p:sp>
      <p:sp>
        <p:nvSpPr>
          <p:cNvPr id="25" name="metin-363"/>
          <p:cNvSpPr txBox="1"/>
          <p:nvPr/>
        </p:nvSpPr>
        <p:spPr>
          <a:xfrm>
            <a:off x="9592056" y="4343400"/>
            <a:ext cx="1920240" cy="292608"/>
          </a:xfrm>
          <a:prstGeom prst="rect">
            <a:avLst/>
          </a:prstGeom>
          <a:noFill/>
          <a:ln/>
        </p:spPr>
        <p:txBody>
          <a:bodyPr wrap="square" lIns="0" tIns="0" rIns="0" bIns="0" rtlCol="0" anchor="t"/>
          <a:lstStyle/>
          <a:p>
            <a:pPr indent="0" marL="0">
              <a:buNone/>
            </a:pPr>
            <a:r>
              <a:rPr lang="en-US" sz="1300" dirty="0">
                <a:solidFill>
                  <a:schemeClr val="tx1"/>
                </a:solidFill>
              </a:rPr>
              <a:t>gündüz → gece</a:t>
            </a:r>
            <a:endParaRPr lang="en-US" sz="1300" dirty="0"/>
          </a:p>
        </p:txBody>
      </p:sp>
      <p:sp>
        <p:nvSpPr>
          <p:cNvPr id="26" name="metin-364"/>
          <p:cNvSpPr txBox="1"/>
          <p:nvPr/>
        </p:nvSpPr>
        <p:spPr>
          <a:xfrm>
            <a:off x="6949440" y="4937760"/>
            <a:ext cx="4690872" cy="914400"/>
          </a:xfrm>
          <a:prstGeom prst="rect">
            <a:avLst/>
          </a:prstGeom>
          <a:noFill/>
          <a:ln/>
        </p:spPr>
        <p:txBody>
          <a:bodyPr wrap="square" lIns="0" tIns="0" rIns="0" bIns="0" rtlCol="0" anchor="t"/>
          <a:lstStyle/>
          <a:p>
            <a:pPr indent="0" marL="0">
              <a:buNone/>
            </a:pPr>
            <a:r>
              <a:rPr lang="en-US" sz="1300" dirty="0">
                <a:solidFill>
                  <a:schemeClr val="tx1"/>
                </a:solidFill>
              </a:rPr>
              <a:t>Puant saatleri şebeke yükünün en yüksek olduğu saatler; yükü geceye kaydırmak şebekenin pik ihtiyacını da azaltır.</a:t>
            </a:r>
            <a:endParaRPr lang="en-US" sz="1300" dirty="0"/>
          </a:p>
          <a:p>
            <a:pPr indent="0" marL="0">
              <a:buNone/>
            </a:pPr>
            <a:r>
              <a:rPr lang="en-US" sz="600" dirty="0">
                <a:solidFill>
                  <a:schemeClr val="tx1"/>
                </a:solidFill>
              </a:rPr>
              <a:t> </a:t>
            </a:r>
            <a:endParaRPr lang="en-US" sz="1300" dirty="0"/>
          </a:p>
          <a:p>
            <a:pPr indent="0" marL="0">
              <a:buNone/>
            </a:pPr>
            <a:r>
              <a:rPr lang="en-US" sz="1300" dirty="0">
                <a:solidFill>
                  <a:schemeClr val="tx1"/>
                </a:solidFill>
              </a:rPr>
              <a:t>Her pompa çalışması </a:t>
            </a:r>
            <a:pPr indent="0" marL="0">
              <a:buNone/>
            </a:pPr>
            <a:r>
              <a:rPr lang="en-US" sz="1200" dirty="0">
                <a:solidFill>
                  <a:schemeClr val="tx1"/>
                </a:solidFill>
                <a:latin typeface="Courier New" pitchFamily="34" charset="0"/>
                <a:ea typeface="Courier New" pitchFamily="34" charset="-122"/>
                <a:cs typeface="Courier New" pitchFamily="34" charset="-120"/>
              </a:rPr>
              <a:t>/api/log-electricity</a:t>
            </a:r>
            <a:pPr indent="0" marL="0">
              <a:buNone/>
            </a:pPr>
            <a:r>
              <a:rPr lang="en-US" sz="1300" dirty="0">
                <a:solidFill>
                  <a:schemeClr val="tx1"/>
                </a:solidFill>
              </a:rPr>
              <a:t> ile muhasebeye gider olarak yazılır.</a:t>
            </a:r>
            <a:endParaRPr lang="en-US" sz="1300" dirty="0"/>
          </a:p>
        </p:txBody>
      </p:sp>
      <p:sp>
        <p:nvSpPr>
          <p:cNvPr id="27" name="metin-365"/>
          <p:cNvSpPr txBox="1"/>
          <p:nvPr/>
        </p:nvSpPr>
        <p:spPr>
          <a:xfrm>
            <a:off x="6949440" y="5870448"/>
            <a:ext cx="4690872" cy="274320"/>
          </a:xfrm>
          <a:prstGeom prst="rect">
            <a:avLst/>
          </a:prstGeom>
          <a:noFill/>
          <a:ln/>
        </p:spPr>
        <p:txBody>
          <a:bodyPr wrap="square" lIns="0" tIns="0" rIns="0" bIns="0" rtlCol="0" anchor="t"/>
          <a:lstStyle/>
          <a:p>
            <a:pPr indent="0" marL="0">
              <a:buNone/>
            </a:pPr>
            <a:r>
              <a:rPr lang="en-US" sz="1100" dirty="0">
                <a:solidFill>
                  <a:schemeClr val="tx2"/>
                </a:solidFill>
              </a:rPr>
              <a:t>Birim fiyatlar modeldeki örnek değerlerdir; saat dilimleri üç zamanlı tarifeye göredir.</a:t>
            </a:r>
            <a:endParaRPr lang="en-US" sz="11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B6B6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8229600" cy="274320"/>
          </a:xfrm>
          <a:prstGeom prst="rect">
            <a:avLst/>
          </a:prstGeom>
          <a:noFill/>
          <a:ln/>
        </p:spPr>
        <p:txBody>
          <a:bodyPr wrap="square" lIns="0" tIns="0" rIns="0" bIns="0" rtlCol="0" anchor="t"/>
          <a:lstStyle/>
          <a:p>
            <a:pPr indent="0" marL="0">
              <a:buNone/>
            </a:pPr>
            <a:r>
              <a:rPr lang="en-US" sz="1200" b="1" spc="150" kern="0" dirty="0">
                <a:solidFill>
                  <a:schemeClr val="accent2"/>
                </a:solidFill>
              </a:rPr>
              <a:t>TOPRAK VE YERALTI SUYU</a:t>
            </a:r>
            <a:endParaRPr lang="en-US" sz="1200" dirty="0"/>
          </a:p>
        </p:txBody>
      </p:sp>
      <p:sp>
        <p:nvSpPr>
          <p:cNvPr id="3" name="Text 0"/>
          <p:cNvSpPr/>
          <p:nvPr>
            <p:ph idx="101" type="title" hasCustomPrompt="1"/>
          </p:nvPr>
        </p:nvSpPr>
        <p:spPr>
          <a:xfrm>
            <a:off x="548640" y="621792"/>
            <a:ext cx="11091672" cy="731520"/>
          </a:xfrm>
          <a:prstGeom prst="rect">
            <a:avLst/>
          </a:prstGeom>
          <a:noFill/>
          <a:ln/>
        </p:spPr>
        <p:txBody>
          <a:bodyPr wrap="square" lIns="0" tIns="0" rIns="0" bIns="0" rtlCol="0" anchor="t"/>
          <a:lstStyle/>
          <a:p>
            <a:pPr algn="l" indent="0" marL="0">
              <a:buNone/>
            </a:pPr>
            <a:r>
              <a:rPr lang="en-US" sz="3000" b="1" dirty="0">
                <a:solidFill>
                  <a:schemeClr val="tx1"/>
                </a:solidFill>
              </a:rPr>
              <a:t>Gübre ve ilaç, ancak işe yarayacağı zaman</a:t>
            </a:r>
            <a:endParaRPr lang="en-US" sz="3000" dirty="0"/>
          </a:p>
        </p:txBody>
      </p:sp>
      <p:sp>
        <p:nvSpPr>
          <p:cNvPr id="4" name="kart-366"/>
          <p:cNvSpPr/>
          <p:nvPr/>
        </p:nvSpPr>
        <p:spPr>
          <a:xfrm>
            <a:off x="548640" y="1600200"/>
            <a:ext cx="3547872" cy="4526280"/>
          </a:xfrm>
          <a:prstGeom prst="roundRect">
            <a:avLst>
              <a:gd name="adj" fmla="val 3093"/>
            </a:avLst>
          </a:prstGeom>
          <a:solidFill>
            <a:schemeClr val="bg2"/>
          </a:solidFill>
          <a:ln/>
        </p:spPr>
      </p:sp>
      <p:sp>
        <p:nvSpPr>
          <p:cNvPr id="5" name="ikon-zemin-367"/>
          <p:cNvSpPr/>
          <p:nvPr/>
        </p:nvSpPr>
        <p:spPr>
          <a:xfrm>
            <a:off x="804672" y="1828800"/>
            <a:ext cx="603504" cy="603504"/>
          </a:xfrm>
          <a:prstGeom prst="ellipse">
            <a:avLst/>
          </a:prstGeom>
          <a:solidFill>
            <a:schemeClr val="accent6"/>
          </a:solidFill>
          <a:ln/>
        </p:spPr>
      </p:sp>
      <p:pic>
        <p:nvPicPr>
          <p:cNvPr id="6" name="ikon-368" descr="preencoded.png">    </p:cNvPr>
          <p:cNvPicPr>
            <a:picLocks noChangeAspect="1"/>
          </p:cNvPicPr>
          <p:nvPr/>
        </p:nvPicPr>
        <p:blipFill>
          <a:blip r:embed="rId1"/>
          <a:stretch>
            <a:fillRect/>
          </a:stretch>
        </p:blipFill>
        <p:spPr>
          <a:xfrm>
            <a:off x="937443" y="1961571"/>
            <a:ext cx="337962" cy="337962"/>
          </a:xfrm>
          <a:prstGeom prst="rect">
            <a:avLst/>
          </a:prstGeom>
        </p:spPr>
      </p:pic>
      <p:sp>
        <p:nvSpPr>
          <p:cNvPr id="7" name="metin-369"/>
          <p:cNvSpPr txBox="1"/>
          <p:nvPr/>
        </p:nvSpPr>
        <p:spPr>
          <a:xfrm>
            <a:off x="804672" y="2560320"/>
            <a:ext cx="3063240" cy="384048"/>
          </a:xfrm>
          <a:prstGeom prst="rect">
            <a:avLst/>
          </a:prstGeom>
          <a:noFill/>
          <a:ln/>
        </p:spPr>
        <p:txBody>
          <a:bodyPr wrap="square" lIns="0" tIns="0" rIns="0" bIns="0" rtlCol="0" anchor="t"/>
          <a:lstStyle/>
          <a:p>
            <a:pPr indent="0" marL="0">
              <a:buNone/>
            </a:pPr>
            <a:r>
              <a:rPr lang="en-US" sz="1900" b="1" dirty="0">
                <a:solidFill>
                  <a:schemeClr val="tx1"/>
                </a:solidFill>
              </a:rPr>
              <a:t>Fertigasyon kilidi</a:t>
            </a:r>
            <a:endParaRPr lang="en-US" sz="1900" dirty="0"/>
          </a:p>
        </p:txBody>
      </p:sp>
      <p:sp>
        <p:nvSpPr>
          <p:cNvPr id="8" name="metin-370"/>
          <p:cNvSpPr txBox="1"/>
          <p:nvPr/>
        </p:nvSpPr>
        <p:spPr>
          <a:xfrm>
            <a:off x="804672" y="3063240"/>
            <a:ext cx="3017520" cy="228600"/>
          </a:xfrm>
          <a:prstGeom prst="rect">
            <a:avLst/>
          </a:prstGeom>
          <a:noFill/>
          <a:ln/>
        </p:spPr>
        <p:txBody>
          <a:bodyPr wrap="square" lIns="0" tIns="0" rIns="0" bIns="0" rtlCol="0" anchor="t"/>
          <a:lstStyle/>
          <a:p>
            <a:pPr indent="0" marL="0">
              <a:buNone/>
            </a:pPr>
            <a:r>
              <a:rPr lang="en-US" sz="1100" b="1" spc="100" kern="0" dirty="0">
                <a:solidFill>
                  <a:schemeClr val="accent2"/>
                </a:solidFill>
              </a:rPr>
              <a:t>KURAL</a:t>
            </a:r>
            <a:endParaRPr lang="en-US" sz="1100" dirty="0"/>
          </a:p>
        </p:txBody>
      </p:sp>
      <p:sp>
        <p:nvSpPr>
          <p:cNvPr id="9" name="metin-371"/>
          <p:cNvSpPr txBox="1"/>
          <p:nvPr/>
        </p:nvSpPr>
        <p:spPr>
          <a:xfrm>
            <a:off x="804672" y="3310128"/>
            <a:ext cx="3063240" cy="868680"/>
          </a:xfrm>
          <a:prstGeom prst="rect">
            <a:avLst/>
          </a:prstGeom>
          <a:noFill/>
          <a:ln/>
        </p:spPr>
        <p:txBody>
          <a:bodyPr wrap="square" lIns="0" tIns="0" rIns="0" bIns="0" rtlCol="0" anchor="t"/>
          <a:lstStyle/>
          <a:p>
            <a:pPr indent="0" marL="0">
              <a:buNone/>
            </a:pPr>
            <a:r>
              <a:rPr lang="en-US" sz="1400" dirty="0">
                <a:solidFill>
                  <a:schemeClr val="tx1"/>
                </a:solidFill>
              </a:rPr>
              <a:t>Bugün veya yarın yağış &gt; 0,5 mm ise gübre uygulaması kilitlenir; ajandada uyarı çıkar.</a:t>
            </a:r>
            <a:endParaRPr lang="en-US" sz="1400" dirty="0"/>
          </a:p>
        </p:txBody>
      </p:sp>
      <p:sp>
        <p:nvSpPr>
          <p:cNvPr id="10" name="metin-372"/>
          <p:cNvSpPr txBox="1"/>
          <p:nvPr/>
        </p:nvSpPr>
        <p:spPr>
          <a:xfrm>
            <a:off x="804672" y="4224528"/>
            <a:ext cx="3017520" cy="228600"/>
          </a:xfrm>
          <a:prstGeom prst="rect">
            <a:avLst/>
          </a:prstGeom>
          <a:noFill/>
          <a:ln/>
        </p:spPr>
        <p:txBody>
          <a:bodyPr wrap="square" lIns="0" tIns="0" rIns="0" bIns="0" rtlCol="0" anchor="t"/>
          <a:lstStyle/>
          <a:p>
            <a:pPr indent="0" marL="0">
              <a:buNone/>
            </a:pPr>
            <a:r>
              <a:rPr lang="en-US" sz="1100" b="1" spc="100" kern="0" dirty="0">
                <a:solidFill>
                  <a:schemeClr val="accent2"/>
                </a:solidFill>
              </a:rPr>
              <a:t>NEDEN</a:t>
            </a:r>
            <a:endParaRPr lang="en-US" sz="1100" dirty="0"/>
          </a:p>
        </p:txBody>
      </p:sp>
      <p:sp>
        <p:nvSpPr>
          <p:cNvPr id="11" name="metin-373"/>
          <p:cNvSpPr txBox="1"/>
          <p:nvPr/>
        </p:nvSpPr>
        <p:spPr>
          <a:xfrm>
            <a:off x="804672" y="4471416"/>
            <a:ext cx="3063240" cy="960120"/>
          </a:xfrm>
          <a:prstGeom prst="rect">
            <a:avLst/>
          </a:prstGeom>
          <a:noFill/>
          <a:ln/>
        </p:spPr>
        <p:txBody>
          <a:bodyPr wrap="square" lIns="0" tIns="0" rIns="0" bIns="0" rtlCol="0" anchor="t"/>
          <a:lstStyle/>
          <a:p>
            <a:pPr indent="0" marL="0">
              <a:buNone/>
            </a:pPr>
            <a:r>
              <a:rPr lang="en-US" sz="1400" dirty="0">
                <a:solidFill>
                  <a:schemeClr val="tx1"/>
                </a:solidFill>
              </a:rPr>
              <a:t>Yağmurdan önce verilen azot yıkanarak nitrat halinde yeraltı suyuna taşınabilir.</a:t>
            </a:r>
            <a:endParaRPr lang="en-US" sz="1400" dirty="0"/>
          </a:p>
        </p:txBody>
      </p:sp>
      <p:sp>
        <p:nvSpPr>
          <p:cNvPr id="12" name="metin-374"/>
          <p:cNvSpPr txBox="1"/>
          <p:nvPr/>
        </p:nvSpPr>
        <p:spPr>
          <a:xfrm>
            <a:off x="804672" y="5532120"/>
            <a:ext cx="3063240" cy="457200"/>
          </a:xfrm>
          <a:prstGeom prst="rect">
            <a:avLst/>
          </a:prstGeom>
          <a:noFill/>
          <a:ln/>
        </p:spPr>
        <p:txBody>
          <a:bodyPr wrap="square" lIns="0" tIns="0" rIns="0" bIns="0" rtlCol="0" anchor="t"/>
          <a:lstStyle/>
          <a:p>
            <a:pPr indent="0" marL="0">
              <a:buNone/>
            </a:pPr>
            <a:r>
              <a:rPr lang="en-US" sz="1200" i="1" dirty="0">
                <a:solidFill>
                  <a:schemeClr val="tx2"/>
                </a:solidFill>
              </a:rPr>
              <a:t>İçme suyunda nitrat kılavuz değeri: 50 mg/L (WHO)</a:t>
            </a:r>
            <a:endParaRPr lang="en-US" sz="1200" dirty="0"/>
          </a:p>
        </p:txBody>
      </p:sp>
      <p:sp>
        <p:nvSpPr>
          <p:cNvPr id="13" name="kart-375"/>
          <p:cNvSpPr/>
          <p:nvPr/>
        </p:nvSpPr>
        <p:spPr>
          <a:xfrm>
            <a:off x="4325112" y="1600200"/>
            <a:ext cx="3547872" cy="4526280"/>
          </a:xfrm>
          <a:prstGeom prst="roundRect">
            <a:avLst>
              <a:gd name="adj" fmla="val 3093"/>
            </a:avLst>
          </a:prstGeom>
          <a:solidFill>
            <a:schemeClr val="bg2"/>
          </a:solidFill>
          <a:ln/>
        </p:spPr>
      </p:sp>
      <p:sp>
        <p:nvSpPr>
          <p:cNvPr id="14" name="ikon-zemin-376"/>
          <p:cNvSpPr/>
          <p:nvPr/>
        </p:nvSpPr>
        <p:spPr>
          <a:xfrm>
            <a:off x="4581144" y="1828800"/>
            <a:ext cx="603504" cy="603504"/>
          </a:xfrm>
          <a:prstGeom prst="ellipse">
            <a:avLst/>
          </a:prstGeom>
          <a:solidFill>
            <a:schemeClr val="accent5"/>
          </a:solidFill>
          <a:ln/>
        </p:spPr>
      </p:sp>
      <p:pic>
        <p:nvPicPr>
          <p:cNvPr id="15" name="ikon-377" descr="preencoded.png">    </p:cNvPr>
          <p:cNvPicPr>
            <a:picLocks noChangeAspect="1"/>
          </p:cNvPicPr>
          <p:nvPr/>
        </p:nvPicPr>
        <p:blipFill>
          <a:blip r:embed="rId2"/>
          <a:stretch>
            <a:fillRect/>
          </a:stretch>
        </p:blipFill>
        <p:spPr>
          <a:xfrm>
            <a:off x="4713915" y="1961571"/>
            <a:ext cx="337962" cy="337962"/>
          </a:xfrm>
          <a:prstGeom prst="rect">
            <a:avLst/>
          </a:prstGeom>
        </p:spPr>
      </p:pic>
      <p:sp>
        <p:nvSpPr>
          <p:cNvPr id="16" name="metin-378"/>
          <p:cNvSpPr txBox="1"/>
          <p:nvPr/>
        </p:nvSpPr>
        <p:spPr>
          <a:xfrm>
            <a:off x="4581144" y="2560320"/>
            <a:ext cx="3063240" cy="384048"/>
          </a:xfrm>
          <a:prstGeom prst="rect">
            <a:avLst/>
          </a:prstGeom>
          <a:noFill/>
          <a:ln/>
        </p:spPr>
        <p:txBody>
          <a:bodyPr wrap="square" lIns="0" tIns="0" rIns="0" bIns="0" rtlCol="0" anchor="t"/>
          <a:lstStyle/>
          <a:p>
            <a:pPr indent="0" marL="0">
              <a:buNone/>
            </a:pPr>
            <a:r>
              <a:rPr lang="en-US" sz="1900" b="1" dirty="0">
                <a:solidFill>
                  <a:schemeClr val="tx1"/>
                </a:solidFill>
              </a:rPr>
              <a:t>Hastalık riski tahmini</a:t>
            </a:r>
            <a:endParaRPr lang="en-US" sz="1900" dirty="0"/>
          </a:p>
        </p:txBody>
      </p:sp>
      <p:sp>
        <p:nvSpPr>
          <p:cNvPr id="17" name="metin-379"/>
          <p:cNvSpPr txBox="1"/>
          <p:nvPr/>
        </p:nvSpPr>
        <p:spPr>
          <a:xfrm>
            <a:off x="4581144" y="3063240"/>
            <a:ext cx="3017520" cy="228600"/>
          </a:xfrm>
          <a:prstGeom prst="rect">
            <a:avLst/>
          </a:prstGeom>
          <a:noFill/>
          <a:ln/>
        </p:spPr>
        <p:txBody>
          <a:bodyPr wrap="square" lIns="0" tIns="0" rIns="0" bIns="0" rtlCol="0" anchor="t"/>
          <a:lstStyle/>
          <a:p>
            <a:pPr indent="0" marL="0">
              <a:buNone/>
            </a:pPr>
            <a:r>
              <a:rPr lang="en-US" sz="1100" b="1" spc="100" kern="0" dirty="0">
                <a:solidFill>
                  <a:schemeClr val="accent2"/>
                </a:solidFill>
              </a:rPr>
              <a:t>KURAL</a:t>
            </a:r>
            <a:endParaRPr lang="en-US" sz="1100" dirty="0"/>
          </a:p>
        </p:txBody>
      </p:sp>
      <p:sp>
        <p:nvSpPr>
          <p:cNvPr id="18" name="metin-380"/>
          <p:cNvSpPr txBox="1"/>
          <p:nvPr/>
        </p:nvSpPr>
        <p:spPr>
          <a:xfrm>
            <a:off x="4581144" y="3310128"/>
            <a:ext cx="3063240" cy="868680"/>
          </a:xfrm>
          <a:prstGeom prst="rect">
            <a:avLst/>
          </a:prstGeom>
          <a:noFill/>
          <a:ln/>
        </p:spPr>
        <p:txBody>
          <a:bodyPr wrap="square" lIns="0" tIns="0" rIns="0" bIns="0" rtlCol="0" anchor="t"/>
          <a:lstStyle/>
          <a:p>
            <a:pPr indent="0" marL="0">
              <a:buNone/>
            </a:pPr>
            <a:r>
              <a:rPr lang="en-US" sz="1400" dirty="0">
                <a:solidFill>
                  <a:schemeClr val="tx1"/>
                </a:solidFill>
              </a:rPr>
              <a:t>Sonraki 3 günün birinde nem &gt; %75 ve sıcaklık 15–25°C ise mildiyö riski bildirilir.</a:t>
            </a:r>
            <a:endParaRPr lang="en-US" sz="1400" dirty="0"/>
          </a:p>
        </p:txBody>
      </p:sp>
      <p:sp>
        <p:nvSpPr>
          <p:cNvPr id="19" name="metin-381"/>
          <p:cNvSpPr txBox="1"/>
          <p:nvPr/>
        </p:nvSpPr>
        <p:spPr>
          <a:xfrm>
            <a:off x="4581144" y="4224528"/>
            <a:ext cx="3017520" cy="228600"/>
          </a:xfrm>
          <a:prstGeom prst="rect">
            <a:avLst/>
          </a:prstGeom>
          <a:noFill/>
          <a:ln/>
        </p:spPr>
        <p:txBody>
          <a:bodyPr wrap="square" lIns="0" tIns="0" rIns="0" bIns="0" rtlCol="0" anchor="t"/>
          <a:lstStyle/>
          <a:p>
            <a:pPr indent="0" marL="0">
              <a:buNone/>
            </a:pPr>
            <a:r>
              <a:rPr lang="en-US" sz="1100" b="1" spc="100" kern="0" dirty="0">
                <a:solidFill>
                  <a:schemeClr val="accent2"/>
                </a:solidFill>
              </a:rPr>
              <a:t>NEDEN</a:t>
            </a:r>
            <a:endParaRPr lang="en-US" sz="1100" dirty="0"/>
          </a:p>
        </p:txBody>
      </p:sp>
      <p:sp>
        <p:nvSpPr>
          <p:cNvPr id="20" name="metin-382"/>
          <p:cNvSpPr txBox="1"/>
          <p:nvPr/>
        </p:nvSpPr>
        <p:spPr>
          <a:xfrm>
            <a:off x="4581144" y="4471416"/>
            <a:ext cx="3063240" cy="960120"/>
          </a:xfrm>
          <a:prstGeom prst="rect">
            <a:avLst/>
          </a:prstGeom>
          <a:noFill/>
          <a:ln/>
        </p:spPr>
        <p:txBody>
          <a:bodyPr wrap="square" lIns="0" tIns="0" rIns="0" bIns="0" rtlCol="0" anchor="t"/>
          <a:lstStyle/>
          <a:p>
            <a:pPr indent="0" marL="0">
              <a:buNone/>
            </a:pPr>
            <a:r>
              <a:rPr lang="en-US" sz="1400" dirty="0">
                <a:solidFill>
                  <a:schemeClr val="tx1"/>
                </a:solidFill>
              </a:rPr>
              <a:t>Koruyucu ilaçlama takvime göre değil, risk oluştuğunda yapılır; gereksiz kimyasal azalır.</a:t>
            </a:r>
            <a:endParaRPr lang="en-US" sz="1400" dirty="0"/>
          </a:p>
        </p:txBody>
      </p:sp>
      <p:sp>
        <p:nvSpPr>
          <p:cNvPr id="21" name="metin-383"/>
          <p:cNvSpPr txBox="1"/>
          <p:nvPr/>
        </p:nvSpPr>
        <p:spPr>
          <a:xfrm>
            <a:off x="4581144" y="5532120"/>
            <a:ext cx="3063240" cy="457200"/>
          </a:xfrm>
          <a:prstGeom prst="rect">
            <a:avLst/>
          </a:prstGeom>
          <a:noFill/>
          <a:ln/>
        </p:spPr>
        <p:txBody>
          <a:bodyPr wrap="square" lIns="0" tIns="0" rIns="0" bIns="0" rtlCol="0" anchor="t"/>
          <a:lstStyle/>
          <a:p>
            <a:pPr indent="0" marL="0">
              <a:buNone/>
            </a:pPr>
            <a:r>
              <a:rPr lang="en-US" sz="1200" i="1" dirty="0">
                <a:solidFill>
                  <a:schemeClr val="tx2"/>
                </a:solidFill>
              </a:rPr>
              <a:t>Mobil rehberde 5 hastalık ve zararlı</a:t>
            </a:r>
            <a:endParaRPr lang="en-US" sz="1200" dirty="0"/>
          </a:p>
        </p:txBody>
      </p:sp>
      <p:sp>
        <p:nvSpPr>
          <p:cNvPr id="22" name="kart-384"/>
          <p:cNvSpPr/>
          <p:nvPr/>
        </p:nvSpPr>
        <p:spPr>
          <a:xfrm>
            <a:off x="8101584" y="1600200"/>
            <a:ext cx="3547872" cy="4526280"/>
          </a:xfrm>
          <a:prstGeom prst="roundRect">
            <a:avLst>
              <a:gd name="adj" fmla="val 3093"/>
            </a:avLst>
          </a:prstGeom>
          <a:solidFill>
            <a:schemeClr val="bg2"/>
          </a:solidFill>
          <a:ln/>
        </p:spPr>
      </p:sp>
      <p:sp>
        <p:nvSpPr>
          <p:cNvPr id="23" name="ikon-zemin-385"/>
          <p:cNvSpPr/>
          <p:nvPr/>
        </p:nvSpPr>
        <p:spPr>
          <a:xfrm>
            <a:off x="8357616" y="1828800"/>
            <a:ext cx="603504" cy="603504"/>
          </a:xfrm>
          <a:prstGeom prst="ellipse">
            <a:avLst/>
          </a:prstGeom>
          <a:solidFill>
            <a:schemeClr val="accent2"/>
          </a:solidFill>
          <a:ln/>
        </p:spPr>
      </p:sp>
      <p:pic>
        <p:nvPicPr>
          <p:cNvPr id="24" name="ikon-386" descr="preencoded.png">    </p:cNvPr>
          <p:cNvPicPr>
            <a:picLocks noChangeAspect="1"/>
          </p:cNvPicPr>
          <p:nvPr/>
        </p:nvPicPr>
        <p:blipFill>
          <a:blip r:embed="rId3"/>
          <a:stretch>
            <a:fillRect/>
          </a:stretch>
        </p:blipFill>
        <p:spPr>
          <a:xfrm>
            <a:off x="8490387" y="1961571"/>
            <a:ext cx="337962" cy="337962"/>
          </a:xfrm>
          <a:prstGeom prst="rect">
            <a:avLst/>
          </a:prstGeom>
        </p:spPr>
      </p:pic>
      <p:sp>
        <p:nvSpPr>
          <p:cNvPr id="25" name="metin-387"/>
          <p:cNvSpPr txBox="1"/>
          <p:nvPr/>
        </p:nvSpPr>
        <p:spPr>
          <a:xfrm>
            <a:off x="8357616" y="2560320"/>
            <a:ext cx="3063240" cy="384048"/>
          </a:xfrm>
          <a:prstGeom prst="rect">
            <a:avLst/>
          </a:prstGeom>
          <a:noFill/>
          <a:ln/>
        </p:spPr>
        <p:txBody>
          <a:bodyPr wrap="square" lIns="0" tIns="0" rIns="0" bIns="0" rtlCol="0" anchor="t"/>
          <a:lstStyle/>
          <a:p>
            <a:pPr indent="0" marL="0">
              <a:buNone/>
            </a:pPr>
            <a:r>
              <a:rPr lang="en-US" sz="1900" b="1" dirty="0">
                <a:solidFill>
                  <a:schemeClr val="tx1"/>
                </a:solidFill>
              </a:rPr>
              <a:t>Ekim nöbeti (münavebe)</a:t>
            </a:r>
            <a:endParaRPr lang="en-US" sz="1900" dirty="0"/>
          </a:p>
        </p:txBody>
      </p:sp>
      <p:sp>
        <p:nvSpPr>
          <p:cNvPr id="26" name="metin-388"/>
          <p:cNvSpPr txBox="1"/>
          <p:nvPr/>
        </p:nvSpPr>
        <p:spPr>
          <a:xfrm>
            <a:off x="8357616" y="3063240"/>
            <a:ext cx="3017520" cy="228600"/>
          </a:xfrm>
          <a:prstGeom prst="rect">
            <a:avLst/>
          </a:prstGeom>
          <a:noFill/>
          <a:ln/>
        </p:spPr>
        <p:txBody>
          <a:bodyPr wrap="square" lIns="0" tIns="0" rIns="0" bIns="0" rtlCol="0" anchor="t"/>
          <a:lstStyle/>
          <a:p>
            <a:pPr indent="0" marL="0">
              <a:buNone/>
            </a:pPr>
            <a:r>
              <a:rPr lang="en-US" sz="1100" b="1" spc="100" kern="0" dirty="0">
                <a:solidFill>
                  <a:schemeClr val="accent2"/>
                </a:solidFill>
              </a:rPr>
              <a:t>KURAL</a:t>
            </a:r>
            <a:endParaRPr lang="en-US" sz="1100" dirty="0"/>
          </a:p>
        </p:txBody>
      </p:sp>
      <p:sp>
        <p:nvSpPr>
          <p:cNvPr id="27" name="metin-389"/>
          <p:cNvSpPr txBox="1"/>
          <p:nvPr/>
        </p:nvSpPr>
        <p:spPr>
          <a:xfrm>
            <a:off x="8357616" y="3310128"/>
            <a:ext cx="3063240" cy="868680"/>
          </a:xfrm>
          <a:prstGeom prst="rect">
            <a:avLst/>
          </a:prstGeom>
          <a:noFill/>
          <a:ln/>
        </p:spPr>
        <p:txBody>
          <a:bodyPr wrap="square" lIns="0" tIns="0" rIns="0" bIns="0" rtlCol="0" anchor="t"/>
          <a:lstStyle/>
          <a:p>
            <a:pPr indent="0" marL="0">
              <a:buNone/>
            </a:pPr>
            <a:r>
              <a:rPr lang="en-US" sz="1400" dirty="0">
                <a:solidFill>
                  <a:schemeClr val="tx1"/>
                </a:solidFill>
              </a:rPr>
              <a:t>Azotu tükenen parselde mısır yerine baklagil önerilir.</a:t>
            </a:r>
            <a:endParaRPr lang="en-US" sz="1400" dirty="0"/>
          </a:p>
        </p:txBody>
      </p:sp>
      <p:sp>
        <p:nvSpPr>
          <p:cNvPr id="28" name="metin-390"/>
          <p:cNvSpPr txBox="1"/>
          <p:nvPr/>
        </p:nvSpPr>
        <p:spPr>
          <a:xfrm>
            <a:off x="8357616" y="4224528"/>
            <a:ext cx="3017520" cy="228600"/>
          </a:xfrm>
          <a:prstGeom prst="rect">
            <a:avLst/>
          </a:prstGeom>
          <a:noFill/>
          <a:ln/>
        </p:spPr>
        <p:txBody>
          <a:bodyPr wrap="square" lIns="0" tIns="0" rIns="0" bIns="0" rtlCol="0" anchor="t"/>
          <a:lstStyle/>
          <a:p>
            <a:pPr indent="0" marL="0">
              <a:buNone/>
            </a:pPr>
            <a:r>
              <a:rPr lang="en-US" sz="1100" b="1" spc="100" kern="0" dirty="0">
                <a:solidFill>
                  <a:schemeClr val="accent2"/>
                </a:solidFill>
              </a:rPr>
              <a:t>NEDEN</a:t>
            </a:r>
            <a:endParaRPr lang="en-US" sz="1100" dirty="0"/>
          </a:p>
        </p:txBody>
      </p:sp>
      <p:sp>
        <p:nvSpPr>
          <p:cNvPr id="29" name="metin-391"/>
          <p:cNvSpPr txBox="1"/>
          <p:nvPr/>
        </p:nvSpPr>
        <p:spPr>
          <a:xfrm>
            <a:off x="8357616" y="4471416"/>
            <a:ext cx="3063240" cy="960120"/>
          </a:xfrm>
          <a:prstGeom prst="rect">
            <a:avLst/>
          </a:prstGeom>
          <a:noFill/>
          <a:ln/>
        </p:spPr>
        <p:txBody>
          <a:bodyPr wrap="square" lIns="0" tIns="0" rIns="0" bIns="0" rtlCol="0" anchor="t"/>
          <a:lstStyle/>
          <a:p>
            <a:pPr indent="0" marL="0">
              <a:buNone/>
            </a:pPr>
            <a:r>
              <a:rPr lang="en-US" sz="1400" dirty="0">
                <a:solidFill>
                  <a:schemeClr val="tx1"/>
                </a:solidFill>
              </a:rPr>
              <a:t>Baklagiller kök nodüllerinde havadaki azotu bağlar; sentetik azot ihtiyacı azalır.</a:t>
            </a:r>
            <a:endParaRPr lang="en-US" sz="1400" dirty="0"/>
          </a:p>
        </p:txBody>
      </p:sp>
      <p:sp>
        <p:nvSpPr>
          <p:cNvPr id="30" name="metin-392"/>
          <p:cNvSpPr txBox="1"/>
          <p:nvPr/>
        </p:nvSpPr>
        <p:spPr>
          <a:xfrm>
            <a:off x="8357616" y="5532120"/>
            <a:ext cx="3063240" cy="457200"/>
          </a:xfrm>
          <a:prstGeom prst="rect">
            <a:avLst/>
          </a:prstGeom>
          <a:noFill/>
          <a:ln/>
        </p:spPr>
        <p:txBody>
          <a:bodyPr wrap="square" lIns="0" tIns="0" rIns="0" bIns="0" rtlCol="0" anchor="t"/>
          <a:lstStyle/>
          <a:p>
            <a:pPr indent="0" marL="0">
              <a:buNone/>
            </a:pPr>
            <a:r>
              <a:rPr lang="en-US" sz="1200" i="1" dirty="0">
                <a:solidFill>
                  <a:schemeClr val="tx2"/>
                </a:solidFill>
              </a:rPr>
              <a:t>Şu an kural tabanlı; sezon verisiyle kişiselleştirme planlı</a:t>
            </a:r>
            <a:endParaRPr lang="en-US" sz="12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B6B6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8229600" cy="274320"/>
          </a:xfrm>
          <a:prstGeom prst="rect">
            <a:avLst/>
          </a:prstGeom>
          <a:noFill/>
          <a:ln/>
        </p:spPr>
        <p:txBody>
          <a:bodyPr wrap="square" lIns="0" tIns="0" rIns="0" bIns="0" rtlCol="0" anchor="t"/>
          <a:lstStyle/>
          <a:p>
            <a:pPr indent="0" marL="0">
              <a:buNone/>
            </a:pPr>
            <a:r>
              <a:rPr lang="en-US" sz="1200" b="1" spc="150" kern="0" dirty="0">
                <a:solidFill>
                  <a:schemeClr val="accent2"/>
                </a:solidFill>
              </a:rPr>
              <a:t>ÇİFTÇİ</a:t>
            </a:r>
            <a:endParaRPr lang="en-US" sz="1200" dirty="0"/>
          </a:p>
        </p:txBody>
      </p:sp>
      <p:sp>
        <p:nvSpPr>
          <p:cNvPr id="3" name="Text 0"/>
          <p:cNvSpPr/>
          <p:nvPr>
            <p:ph idx="101" type="title" hasCustomPrompt="1"/>
          </p:nvPr>
        </p:nvSpPr>
        <p:spPr>
          <a:xfrm>
            <a:off x="548640" y="621792"/>
            <a:ext cx="11091672" cy="731520"/>
          </a:xfrm>
          <a:prstGeom prst="rect">
            <a:avLst/>
          </a:prstGeom>
          <a:noFill/>
          <a:ln/>
        </p:spPr>
        <p:txBody>
          <a:bodyPr wrap="square" lIns="0" tIns="0" rIns="0" bIns="0" rtlCol="0" anchor="t"/>
          <a:lstStyle/>
          <a:p>
            <a:pPr algn="l" indent="0" marL="0">
              <a:buNone/>
            </a:pPr>
            <a:r>
              <a:rPr lang="en-US" sz="3000" b="1" dirty="0">
                <a:solidFill>
                  <a:schemeClr val="tx1"/>
                </a:solidFill>
              </a:rPr>
              <a:t>Maliyeti görünür kılan, kontrolü çiftçide bırakan sistem</a:t>
            </a:r>
            <a:endParaRPr lang="en-US" sz="3000" dirty="0"/>
          </a:p>
        </p:txBody>
      </p:sp>
      <p:sp>
        <p:nvSpPr>
          <p:cNvPr id="4" name="metin-393"/>
          <p:cNvSpPr txBox="1"/>
          <p:nvPr/>
        </p:nvSpPr>
        <p:spPr>
          <a:xfrm>
            <a:off x="548640" y="1600200"/>
            <a:ext cx="4114800" cy="274320"/>
          </a:xfrm>
          <a:prstGeom prst="rect">
            <a:avLst/>
          </a:prstGeom>
          <a:noFill/>
          <a:ln/>
        </p:spPr>
        <p:txBody>
          <a:bodyPr wrap="square" lIns="0" tIns="0" rIns="0" bIns="0" rtlCol="0" anchor="t"/>
          <a:lstStyle/>
          <a:p>
            <a:pPr algn="ctr" indent="0" marL="0">
              <a:buNone/>
            </a:pPr>
            <a:r>
              <a:rPr lang="en-US" sz="1300" b="1" dirty="0">
                <a:solidFill>
                  <a:schemeClr val="tx1"/>
                </a:solidFill>
              </a:rPr>
              <a:t>Demo: 1. Tarla gider dağılımı</a:t>
            </a:r>
            <a:endParaRPr lang="en-US" sz="1300" dirty="0"/>
          </a:p>
        </p:txBody>
      </p:sp>
      <p:graphicFrame>
        <p:nvGraphicFramePr>
          <p:cNvPr id="5" name="gider-grafigi" descr=""/>
          <p:cNvGraphicFramePr/>
          <p:nvPr/>
        </p:nvGraphicFramePr>
        <p:xfrm>
          <a:off x="914400" y="1874520"/>
          <a:ext cx="3383280" cy="2606040"/>
        </p:xfrm>
        <a:graphic xmlns:a="http://schemas.openxmlformats.org/drawingml/2006/main">
          <a:graphicData uri="http://schemas.openxmlformats.org/drawingml/2006/chart">
            <c:chart xmlns:c="http://schemas.openxmlformats.org/drawingml/2006/chart" r:id="rId1"/>
          </a:graphicData>
        </a:graphic>
      </p:graphicFrame>
      <p:sp>
        <p:nvSpPr>
          <p:cNvPr id="6" name="metin-394"/>
          <p:cNvSpPr txBox="1"/>
          <p:nvPr/>
        </p:nvSpPr>
        <p:spPr>
          <a:xfrm>
            <a:off x="1874520" y="2852928"/>
            <a:ext cx="1463040" cy="640080"/>
          </a:xfrm>
          <a:prstGeom prst="rect">
            <a:avLst/>
          </a:prstGeom>
          <a:noFill/>
          <a:ln/>
        </p:spPr>
        <p:txBody>
          <a:bodyPr wrap="square" lIns="0" tIns="0" rIns="0" bIns="0" rtlCol="0" anchor="ctr"/>
          <a:lstStyle/>
          <a:p>
            <a:pPr algn="ctr" indent="0" marL="0">
              <a:buNone/>
            </a:pPr>
            <a:r>
              <a:rPr lang="en-US" sz="1600" b="1" dirty="0">
                <a:solidFill>
                  <a:schemeClr val="tx1"/>
                </a:solidFill>
              </a:rPr>
              <a:t>19.320 ₺</a:t>
            </a:r>
            <a:endParaRPr lang="en-US" sz="1400" dirty="0"/>
          </a:p>
          <a:p>
            <a:pPr algn="ctr" indent="0" marL="0">
              <a:buNone/>
            </a:pPr>
            <a:r>
              <a:rPr lang="en-US" sz="1100" dirty="0">
                <a:solidFill>
                  <a:schemeClr val="tx2"/>
                </a:solidFill>
              </a:rPr>
              <a:t>toplam gider</a:t>
            </a:r>
            <a:endParaRPr lang="en-US" sz="1400" dirty="0"/>
          </a:p>
        </p:txBody>
      </p:sp>
      <p:sp>
        <p:nvSpPr>
          <p:cNvPr id="7" name="lejant-renk-395"/>
          <p:cNvSpPr/>
          <p:nvPr/>
        </p:nvSpPr>
        <p:spPr>
          <a:xfrm>
            <a:off x="548640" y="4681728"/>
            <a:ext cx="182880" cy="182880"/>
          </a:xfrm>
          <a:prstGeom prst="rect">
            <a:avLst/>
          </a:prstGeom>
          <a:solidFill>
            <a:srgbClr val="20C997"/>
          </a:solidFill>
          <a:ln/>
        </p:spPr>
      </p:sp>
      <p:sp>
        <p:nvSpPr>
          <p:cNvPr id="8" name="metin-396"/>
          <p:cNvSpPr txBox="1"/>
          <p:nvPr/>
        </p:nvSpPr>
        <p:spPr>
          <a:xfrm>
            <a:off x="822960" y="4617720"/>
            <a:ext cx="1783080" cy="457200"/>
          </a:xfrm>
          <a:prstGeom prst="rect">
            <a:avLst/>
          </a:prstGeom>
          <a:noFill/>
          <a:ln/>
        </p:spPr>
        <p:txBody>
          <a:bodyPr wrap="square" lIns="0" tIns="0" rIns="0" bIns="0" rtlCol="0" anchor="t"/>
          <a:lstStyle/>
          <a:p>
            <a:pPr indent="0" marL="0">
              <a:buNone/>
            </a:pPr>
            <a:r>
              <a:rPr lang="en-US" sz="1100" b="1" dirty="0">
                <a:solidFill>
                  <a:schemeClr val="tx1"/>
                </a:solidFill>
              </a:rPr>
              <a:t>Tohum/Fide</a:t>
            </a:r>
            <a:endParaRPr lang="en-US" sz="1100" dirty="0"/>
          </a:p>
          <a:p>
            <a:pPr indent="0" marL="0">
              <a:buNone/>
            </a:pPr>
            <a:r>
              <a:rPr lang="en-US" sz="1100" dirty="0">
                <a:solidFill>
                  <a:schemeClr val="tx2"/>
                </a:solidFill>
              </a:rPr>
              <a:t>10.000 ₺ · %52</a:t>
            </a:r>
            <a:endParaRPr lang="en-US" sz="1100" dirty="0"/>
          </a:p>
        </p:txBody>
      </p:sp>
      <p:sp>
        <p:nvSpPr>
          <p:cNvPr id="9" name="lejant-renk-397"/>
          <p:cNvSpPr/>
          <p:nvPr/>
        </p:nvSpPr>
        <p:spPr>
          <a:xfrm>
            <a:off x="2651760" y="4681728"/>
            <a:ext cx="182880" cy="182880"/>
          </a:xfrm>
          <a:prstGeom prst="rect">
            <a:avLst/>
          </a:prstGeom>
          <a:solidFill>
            <a:srgbClr val="E89B1C"/>
          </a:solidFill>
          <a:ln/>
        </p:spPr>
      </p:sp>
      <p:sp>
        <p:nvSpPr>
          <p:cNvPr id="10" name="metin-398"/>
          <p:cNvSpPr txBox="1"/>
          <p:nvPr/>
        </p:nvSpPr>
        <p:spPr>
          <a:xfrm>
            <a:off x="2926080" y="4617720"/>
            <a:ext cx="1783080" cy="457200"/>
          </a:xfrm>
          <a:prstGeom prst="rect">
            <a:avLst/>
          </a:prstGeom>
          <a:noFill/>
          <a:ln/>
        </p:spPr>
        <p:txBody>
          <a:bodyPr wrap="square" lIns="0" tIns="0" rIns="0" bIns="0" rtlCol="0" anchor="t"/>
          <a:lstStyle/>
          <a:p>
            <a:pPr indent="0" marL="0">
              <a:buNone/>
            </a:pPr>
            <a:r>
              <a:rPr lang="en-US" sz="1100" b="1" dirty="0">
                <a:solidFill>
                  <a:schemeClr val="tx1"/>
                </a:solidFill>
              </a:rPr>
              <a:t>Mazot/Yakıt</a:t>
            </a:r>
            <a:endParaRPr lang="en-US" sz="1100" dirty="0"/>
          </a:p>
          <a:p>
            <a:pPr indent="0" marL="0">
              <a:buNone/>
            </a:pPr>
            <a:r>
              <a:rPr lang="en-US" sz="1100" dirty="0">
                <a:solidFill>
                  <a:schemeClr val="tx2"/>
                </a:solidFill>
              </a:rPr>
              <a:t>4.000 ₺ · %21</a:t>
            </a:r>
            <a:endParaRPr lang="en-US" sz="1100" dirty="0"/>
          </a:p>
        </p:txBody>
      </p:sp>
      <p:sp>
        <p:nvSpPr>
          <p:cNvPr id="11" name="lejant-renk-399"/>
          <p:cNvSpPr/>
          <p:nvPr/>
        </p:nvSpPr>
        <p:spPr>
          <a:xfrm>
            <a:off x="548640" y="5157216"/>
            <a:ext cx="182880" cy="182880"/>
          </a:xfrm>
          <a:prstGeom prst="rect">
            <a:avLst/>
          </a:prstGeom>
          <a:solidFill>
            <a:srgbClr val="8A6A4A"/>
          </a:solidFill>
          <a:ln/>
        </p:spPr>
      </p:sp>
      <p:sp>
        <p:nvSpPr>
          <p:cNvPr id="12" name="metin-400"/>
          <p:cNvSpPr txBox="1"/>
          <p:nvPr/>
        </p:nvSpPr>
        <p:spPr>
          <a:xfrm>
            <a:off x="822960" y="5093208"/>
            <a:ext cx="1783080" cy="457200"/>
          </a:xfrm>
          <a:prstGeom prst="rect">
            <a:avLst/>
          </a:prstGeom>
          <a:noFill/>
          <a:ln/>
        </p:spPr>
        <p:txBody>
          <a:bodyPr wrap="square" lIns="0" tIns="0" rIns="0" bIns="0" rtlCol="0" anchor="t"/>
          <a:lstStyle/>
          <a:p>
            <a:pPr indent="0" marL="0">
              <a:buNone/>
            </a:pPr>
            <a:r>
              <a:rPr lang="en-US" sz="1100" b="1" dirty="0">
                <a:solidFill>
                  <a:schemeClr val="tx1"/>
                </a:solidFill>
              </a:rPr>
              <a:t>Gübre</a:t>
            </a:r>
            <a:endParaRPr lang="en-US" sz="1100" dirty="0"/>
          </a:p>
          <a:p>
            <a:pPr indent="0" marL="0">
              <a:buNone/>
            </a:pPr>
            <a:r>
              <a:rPr lang="en-US" sz="1100" dirty="0">
                <a:solidFill>
                  <a:schemeClr val="tx2"/>
                </a:solidFill>
              </a:rPr>
              <a:t>2.500 ₺ · %13</a:t>
            </a:r>
            <a:endParaRPr lang="en-US" sz="1100" dirty="0"/>
          </a:p>
        </p:txBody>
      </p:sp>
      <p:sp>
        <p:nvSpPr>
          <p:cNvPr id="13" name="lejant-renk-401"/>
          <p:cNvSpPr/>
          <p:nvPr/>
        </p:nvSpPr>
        <p:spPr>
          <a:xfrm>
            <a:off x="2651760" y="5157216"/>
            <a:ext cx="182880" cy="182880"/>
          </a:xfrm>
          <a:prstGeom prst="rect">
            <a:avLst/>
          </a:prstGeom>
          <a:solidFill>
            <a:srgbClr val="9AA8A2"/>
          </a:solidFill>
          <a:ln/>
        </p:spPr>
      </p:sp>
      <p:sp>
        <p:nvSpPr>
          <p:cNvPr id="14" name="metin-402"/>
          <p:cNvSpPr txBox="1"/>
          <p:nvPr/>
        </p:nvSpPr>
        <p:spPr>
          <a:xfrm>
            <a:off x="2926080" y="5093208"/>
            <a:ext cx="1783080" cy="457200"/>
          </a:xfrm>
          <a:prstGeom prst="rect">
            <a:avLst/>
          </a:prstGeom>
          <a:noFill/>
          <a:ln/>
        </p:spPr>
        <p:txBody>
          <a:bodyPr wrap="square" lIns="0" tIns="0" rIns="0" bIns="0" rtlCol="0" anchor="t"/>
          <a:lstStyle/>
          <a:p>
            <a:pPr indent="0" marL="0">
              <a:buNone/>
            </a:pPr>
            <a:r>
              <a:rPr lang="en-US" sz="1100" b="1" dirty="0">
                <a:solidFill>
                  <a:schemeClr val="tx1"/>
                </a:solidFill>
              </a:rPr>
              <a:t>Diğer</a:t>
            </a:r>
            <a:endParaRPr lang="en-US" sz="1100" dirty="0"/>
          </a:p>
          <a:p>
            <a:pPr indent="0" marL="0">
              <a:buNone/>
            </a:pPr>
            <a:r>
              <a:rPr lang="en-US" sz="1100" dirty="0">
                <a:solidFill>
                  <a:schemeClr val="tx2"/>
                </a:solidFill>
              </a:rPr>
              <a:t>1.500 ₺ · %8</a:t>
            </a:r>
            <a:endParaRPr lang="en-US" sz="1100" dirty="0"/>
          </a:p>
        </p:txBody>
      </p:sp>
      <p:sp>
        <p:nvSpPr>
          <p:cNvPr id="15" name="lejant-renk-403"/>
          <p:cNvSpPr/>
          <p:nvPr/>
        </p:nvSpPr>
        <p:spPr>
          <a:xfrm>
            <a:off x="548640" y="5632704"/>
            <a:ext cx="182880" cy="182880"/>
          </a:xfrm>
          <a:prstGeom prst="rect">
            <a:avLst/>
          </a:prstGeom>
          <a:solidFill>
            <a:srgbClr val="D9483B"/>
          </a:solidFill>
          <a:ln/>
        </p:spPr>
      </p:sp>
      <p:sp>
        <p:nvSpPr>
          <p:cNvPr id="16" name="metin-404"/>
          <p:cNvSpPr txBox="1"/>
          <p:nvPr/>
        </p:nvSpPr>
        <p:spPr>
          <a:xfrm>
            <a:off x="822960" y="5568696"/>
            <a:ext cx="1783080" cy="457200"/>
          </a:xfrm>
          <a:prstGeom prst="rect">
            <a:avLst/>
          </a:prstGeom>
          <a:noFill/>
          <a:ln/>
        </p:spPr>
        <p:txBody>
          <a:bodyPr wrap="square" lIns="0" tIns="0" rIns="0" bIns="0" rtlCol="0" anchor="t"/>
          <a:lstStyle/>
          <a:p>
            <a:pPr indent="0" marL="0">
              <a:buNone/>
            </a:pPr>
            <a:r>
              <a:rPr lang="en-US" sz="1100" b="1" dirty="0">
                <a:solidFill>
                  <a:schemeClr val="tx1"/>
                </a:solidFill>
              </a:rPr>
              <a:t>Zirai İlaç</a:t>
            </a:r>
            <a:endParaRPr lang="en-US" sz="1100" dirty="0"/>
          </a:p>
          <a:p>
            <a:pPr indent="0" marL="0">
              <a:buNone/>
            </a:pPr>
            <a:r>
              <a:rPr lang="en-US" sz="1100" dirty="0">
                <a:solidFill>
                  <a:schemeClr val="tx2"/>
                </a:solidFill>
              </a:rPr>
              <a:t>1.200 ₺ · %6</a:t>
            </a:r>
            <a:endParaRPr lang="en-US" sz="1100" dirty="0"/>
          </a:p>
        </p:txBody>
      </p:sp>
      <p:sp>
        <p:nvSpPr>
          <p:cNvPr id="17" name="lejant-renk-405"/>
          <p:cNvSpPr/>
          <p:nvPr/>
        </p:nvSpPr>
        <p:spPr>
          <a:xfrm>
            <a:off x="2651760" y="5632704"/>
            <a:ext cx="182880" cy="182880"/>
          </a:xfrm>
          <a:prstGeom prst="rect">
            <a:avLst/>
          </a:prstGeom>
          <a:solidFill>
            <a:srgbClr val="2F80C8"/>
          </a:solidFill>
          <a:ln/>
        </p:spPr>
      </p:sp>
      <p:sp>
        <p:nvSpPr>
          <p:cNvPr id="18" name="metin-406"/>
          <p:cNvSpPr txBox="1"/>
          <p:nvPr/>
        </p:nvSpPr>
        <p:spPr>
          <a:xfrm>
            <a:off x="2926080" y="5568696"/>
            <a:ext cx="1783080" cy="457200"/>
          </a:xfrm>
          <a:prstGeom prst="rect">
            <a:avLst/>
          </a:prstGeom>
          <a:noFill/>
          <a:ln/>
        </p:spPr>
        <p:txBody>
          <a:bodyPr wrap="square" lIns="0" tIns="0" rIns="0" bIns="0" rtlCol="0" anchor="t"/>
          <a:lstStyle/>
          <a:p>
            <a:pPr indent="0" marL="0">
              <a:buNone/>
            </a:pPr>
            <a:r>
              <a:rPr lang="en-US" sz="1100" b="1" dirty="0">
                <a:solidFill>
                  <a:schemeClr val="tx1"/>
                </a:solidFill>
              </a:rPr>
              <a:t>Elektrik/Sondaj</a:t>
            </a:r>
            <a:endParaRPr lang="en-US" sz="1100" dirty="0"/>
          </a:p>
          <a:p>
            <a:pPr indent="0" marL="0">
              <a:buNone/>
            </a:pPr>
            <a:r>
              <a:rPr lang="en-US" sz="1100" dirty="0">
                <a:solidFill>
                  <a:schemeClr val="tx2"/>
                </a:solidFill>
              </a:rPr>
              <a:t>120 ₺ · %0,6</a:t>
            </a:r>
            <a:endParaRPr lang="en-US" sz="1100" dirty="0"/>
          </a:p>
        </p:txBody>
      </p:sp>
      <p:sp>
        <p:nvSpPr>
          <p:cNvPr id="19" name="kart-407"/>
          <p:cNvSpPr/>
          <p:nvPr/>
        </p:nvSpPr>
        <p:spPr>
          <a:xfrm>
            <a:off x="4892040" y="1600200"/>
            <a:ext cx="2286000" cy="1371600"/>
          </a:xfrm>
          <a:prstGeom prst="roundRect">
            <a:avLst>
              <a:gd name="adj" fmla="val 8000"/>
            </a:avLst>
          </a:prstGeom>
          <a:solidFill>
            <a:srgbClr val="D7F5EA"/>
          </a:solidFill>
          <a:ln/>
        </p:spPr>
      </p:sp>
      <p:sp>
        <p:nvSpPr>
          <p:cNvPr id="20" name="metin-408"/>
          <p:cNvSpPr txBox="1"/>
          <p:nvPr/>
        </p:nvSpPr>
        <p:spPr>
          <a:xfrm>
            <a:off x="5074920" y="1801368"/>
            <a:ext cx="2011680" cy="548640"/>
          </a:xfrm>
          <a:prstGeom prst="rect">
            <a:avLst/>
          </a:prstGeom>
          <a:noFill/>
          <a:ln/>
        </p:spPr>
        <p:txBody>
          <a:bodyPr wrap="square" lIns="0" tIns="0" rIns="0" bIns="0" rtlCol="0" anchor="t"/>
          <a:lstStyle/>
          <a:p>
            <a:pPr indent="0" marL="0">
              <a:buNone/>
            </a:pPr>
            <a:r>
              <a:rPr lang="en-US" sz="2800" b="1" dirty="0">
                <a:solidFill>
                  <a:schemeClr val="accent2"/>
                </a:solidFill>
              </a:rPr>
              <a:t>386,40 ₺</a:t>
            </a:r>
            <a:endParaRPr lang="en-US" sz="2800" dirty="0"/>
          </a:p>
        </p:txBody>
      </p:sp>
      <p:sp>
        <p:nvSpPr>
          <p:cNvPr id="21" name="metin-409"/>
          <p:cNvSpPr txBox="1"/>
          <p:nvPr/>
        </p:nvSpPr>
        <p:spPr>
          <a:xfrm>
            <a:off x="5074920" y="2404872"/>
            <a:ext cx="2011680" cy="320040"/>
          </a:xfrm>
          <a:prstGeom prst="rect">
            <a:avLst/>
          </a:prstGeom>
          <a:noFill/>
          <a:ln/>
        </p:spPr>
        <p:txBody>
          <a:bodyPr wrap="square" lIns="0" tIns="0" rIns="0" bIns="0" rtlCol="0" anchor="t"/>
          <a:lstStyle/>
          <a:p>
            <a:pPr indent="0" marL="0">
              <a:buNone/>
            </a:pPr>
            <a:r>
              <a:rPr lang="en-US" sz="1300" dirty="0">
                <a:solidFill>
                  <a:schemeClr val="tx1"/>
                </a:solidFill>
              </a:rPr>
              <a:t>dönüm başı maliyet</a:t>
            </a:r>
            <a:endParaRPr lang="en-US" sz="1300" dirty="0"/>
          </a:p>
        </p:txBody>
      </p:sp>
      <p:sp>
        <p:nvSpPr>
          <p:cNvPr id="22" name="kart-410"/>
          <p:cNvSpPr/>
          <p:nvPr/>
        </p:nvSpPr>
        <p:spPr>
          <a:xfrm>
            <a:off x="4892040" y="3177540"/>
            <a:ext cx="2286000" cy="1371600"/>
          </a:xfrm>
          <a:prstGeom prst="roundRect">
            <a:avLst>
              <a:gd name="adj" fmla="val 8000"/>
            </a:avLst>
          </a:prstGeom>
          <a:solidFill>
            <a:srgbClr val="D7F5EA"/>
          </a:solidFill>
          <a:ln/>
        </p:spPr>
      </p:sp>
      <p:sp>
        <p:nvSpPr>
          <p:cNvPr id="23" name="metin-411"/>
          <p:cNvSpPr txBox="1"/>
          <p:nvPr/>
        </p:nvSpPr>
        <p:spPr>
          <a:xfrm>
            <a:off x="5074920" y="3378708"/>
            <a:ext cx="2011680" cy="548640"/>
          </a:xfrm>
          <a:prstGeom prst="rect">
            <a:avLst/>
          </a:prstGeom>
          <a:noFill/>
          <a:ln/>
        </p:spPr>
        <p:txBody>
          <a:bodyPr wrap="square" lIns="0" tIns="0" rIns="0" bIns="0" rtlCol="0" anchor="t"/>
          <a:lstStyle/>
          <a:p>
            <a:pPr indent="0" marL="0">
              <a:buNone/>
            </a:pPr>
            <a:r>
              <a:rPr lang="en-US" sz="2800" b="1" dirty="0">
                <a:solidFill>
                  <a:schemeClr val="accent2"/>
                </a:solidFill>
              </a:rPr>
              <a:t>53,60 ₺</a:t>
            </a:r>
            <a:endParaRPr lang="en-US" sz="2800" dirty="0"/>
          </a:p>
        </p:txBody>
      </p:sp>
      <p:sp>
        <p:nvSpPr>
          <p:cNvPr id="24" name="metin-412"/>
          <p:cNvSpPr txBox="1"/>
          <p:nvPr/>
        </p:nvSpPr>
        <p:spPr>
          <a:xfrm>
            <a:off x="5074920" y="3982212"/>
            <a:ext cx="2011680" cy="320040"/>
          </a:xfrm>
          <a:prstGeom prst="rect">
            <a:avLst/>
          </a:prstGeom>
          <a:noFill/>
          <a:ln/>
        </p:spPr>
        <p:txBody>
          <a:bodyPr wrap="square" lIns="0" tIns="0" rIns="0" bIns="0" rtlCol="0" anchor="t"/>
          <a:lstStyle/>
          <a:p>
            <a:pPr indent="0" marL="0">
              <a:buNone/>
            </a:pPr>
            <a:r>
              <a:rPr lang="en-US" sz="1300" dirty="0">
                <a:solidFill>
                  <a:schemeClr val="tx1"/>
                </a:solidFill>
              </a:rPr>
              <a:t>dönüm başı kâr</a:t>
            </a:r>
            <a:endParaRPr lang="en-US" sz="1300" dirty="0"/>
          </a:p>
        </p:txBody>
      </p:sp>
      <p:sp>
        <p:nvSpPr>
          <p:cNvPr id="25" name="kart-413"/>
          <p:cNvSpPr/>
          <p:nvPr/>
        </p:nvSpPr>
        <p:spPr>
          <a:xfrm>
            <a:off x="4892040" y="4754880"/>
            <a:ext cx="2286000" cy="1371600"/>
          </a:xfrm>
          <a:prstGeom prst="roundRect">
            <a:avLst>
              <a:gd name="adj" fmla="val 8000"/>
            </a:avLst>
          </a:prstGeom>
          <a:solidFill>
            <a:srgbClr val="D7F5EA"/>
          </a:solidFill>
          <a:ln/>
        </p:spPr>
      </p:sp>
      <p:sp>
        <p:nvSpPr>
          <p:cNvPr id="26" name="metin-414"/>
          <p:cNvSpPr txBox="1"/>
          <p:nvPr/>
        </p:nvSpPr>
        <p:spPr>
          <a:xfrm>
            <a:off x="5074920" y="4956048"/>
            <a:ext cx="2011680" cy="548640"/>
          </a:xfrm>
          <a:prstGeom prst="rect">
            <a:avLst/>
          </a:prstGeom>
          <a:noFill/>
          <a:ln/>
        </p:spPr>
        <p:txBody>
          <a:bodyPr wrap="square" lIns="0" tIns="0" rIns="0" bIns="0" rtlCol="0" anchor="t"/>
          <a:lstStyle/>
          <a:p>
            <a:pPr indent="0" marL="0">
              <a:buNone/>
            </a:pPr>
            <a:r>
              <a:rPr lang="en-US" sz="2800" b="1" dirty="0">
                <a:solidFill>
                  <a:schemeClr val="accent2"/>
                </a:solidFill>
              </a:rPr>
              <a:t>%13,9</a:t>
            </a:r>
            <a:endParaRPr lang="en-US" sz="2800" dirty="0"/>
          </a:p>
        </p:txBody>
      </p:sp>
      <p:sp>
        <p:nvSpPr>
          <p:cNvPr id="27" name="metin-415"/>
          <p:cNvSpPr txBox="1"/>
          <p:nvPr/>
        </p:nvSpPr>
        <p:spPr>
          <a:xfrm>
            <a:off x="5074920" y="5559552"/>
            <a:ext cx="2011680" cy="320040"/>
          </a:xfrm>
          <a:prstGeom prst="rect">
            <a:avLst/>
          </a:prstGeom>
          <a:noFill/>
          <a:ln/>
        </p:spPr>
        <p:txBody>
          <a:bodyPr wrap="square" lIns="0" tIns="0" rIns="0" bIns="0" rtlCol="0" anchor="t"/>
          <a:lstStyle/>
          <a:p>
            <a:pPr indent="0" marL="0">
              <a:buNone/>
            </a:pPr>
            <a:r>
              <a:rPr lang="en-US" sz="1300" dirty="0">
                <a:solidFill>
                  <a:schemeClr val="tx1"/>
                </a:solidFill>
              </a:rPr>
              <a:t>ROI (net / gider)</a:t>
            </a:r>
            <a:endParaRPr lang="en-US" sz="1300" dirty="0"/>
          </a:p>
        </p:txBody>
      </p:sp>
      <p:sp>
        <p:nvSpPr>
          <p:cNvPr id="28" name="kart-416"/>
          <p:cNvSpPr/>
          <p:nvPr/>
        </p:nvSpPr>
        <p:spPr>
          <a:xfrm>
            <a:off x="7406640" y="1600200"/>
            <a:ext cx="4233672" cy="1005840"/>
          </a:xfrm>
          <a:prstGeom prst="roundRect">
            <a:avLst>
              <a:gd name="adj" fmla="val 10909"/>
            </a:avLst>
          </a:prstGeom>
          <a:solidFill>
            <a:schemeClr val="bg2"/>
          </a:solidFill>
          <a:ln/>
        </p:spPr>
      </p:sp>
      <p:sp>
        <p:nvSpPr>
          <p:cNvPr id="29" name="ikon-zemin-417"/>
          <p:cNvSpPr/>
          <p:nvPr/>
        </p:nvSpPr>
        <p:spPr>
          <a:xfrm>
            <a:off x="7589520" y="1828800"/>
            <a:ext cx="512064" cy="512064"/>
          </a:xfrm>
          <a:prstGeom prst="ellipse">
            <a:avLst/>
          </a:prstGeom>
          <a:solidFill>
            <a:schemeClr val="accent3"/>
          </a:solidFill>
          <a:ln/>
        </p:spPr>
      </p:sp>
      <p:pic>
        <p:nvPicPr>
          <p:cNvPr id="30" name="ikon-418" descr="preencoded.png">    </p:cNvPr>
          <p:cNvPicPr>
            <a:picLocks noChangeAspect="1"/>
          </p:cNvPicPr>
          <p:nvPr/>
        </p:nvPicPr>
        <p:blipFill>
          <a:blip r:embed="rId2"/>
          <a:stretch>
            <a:fillRect/>
          </a:stretch>
        </p:blipFill>
        <p:spPr>
          <a:xfrm>
            <a:off x="7702174" y="1941454"/>
            <a:ext cx="286756" cy="286756"/>
          </a:xfrm>
          <a:prstGeom prst="rect">
            <a:avLst/>
          </a:prstGeom>
        </p:spPr>
      </p:pic>
      <p:sp>
        <p:nvSpPr>
          <p:cNvPr id="31" name="metin-419"/>
          <p:cNvSpPr txBox="1"/>
          <p:nvPr/>
        </p:nvSpPr>
        <p:spPr>
          <a:xfrm>
            <a:off x="8275320" y="1709928"/>
            <a:ext cx="3246120" cy="301752"/>
          </a:xfrm>
          <a:prstGeom prst="rect">
            <a:avLst/>
          </a:prstGeom>
          <a:noFill/>
          <a:ln/>
        </p:spPr>
        <p:txBody>
          <a:bodyPr wrap="square" lIns="0" tIns="0" rIns="0" bIns="0" rtlCol="0" anchor="t"/>
          <a:lstStyle/>
          <a:p>
            <a:pPr indent="0" marL="0">
              <a:buNone/>
            </a:pPr>
            <a:r>
              <a:rPr lang="en-US" sz="1500" b="1" dirty="0">
                <a:solidFill>
                  <a:schemeClr val="tx1"/>
                </a:solidFill>
              </a:rPr>
              <a:t>Açıklanabilir karar</a:t>
            </a:r>
            <a:endParaRPr lang="en-US" sz="1500" dirty="0"/>
          </a:p>
        </p:txBody>
      </p:sp>
      <p:sp>
        <p:nvSpPr>
          <p:cNvPr id="32" name="metin-420"/>
          <p:cNvSpPr txBox="1"/>
          <p:nvPr/>
        </p:nvSpPr>
        <p:spPr>
          <a:xfrm>
            <a:off x="8275320" y="2020824"/>
            <a:ext cx="3246120" cy="548640"/>
          </a:xfrm>
          <a:prstGeom prst="rect">
            <a:avLst/>
          </a:prstGeom>
          <a:noFill/>
          <a:ln/>
        </p:spPr>
        <p:txBody>
          <a:bodyPr wrap="square" lIns="0" tIns="0" rIns="0" bIns="0" rtlCol="0" anchor="t"/>
          <a:lstStyle/>
          <a:p>
            <a:pPr indent="0" marL="0">
              <a:buNone/>
            </a:pPr>
            <a:r>
              <a:rPr lang="en-US" sz="1300" dirty="0">
                <a:solidFill>
                  <a:schemeClr val="tx2"/>
                </a:solidFill>
              </a:rPr>
              <a:t>Her pompa kararı tek cümlelik gerekçesiyle gösterilir.</a:t>
            </a:r>
            <a:endParaRPr lang="en-US" sz="1300" dirty="0"/>
          </a:p>
        </p:txBody>
      </p:sp>
      <p:sp>
        <p:nvSpPr>
          <p:cNvPr id="33" name="kart-421"/>
          <p:cNvSpPr/>
          <p:nvPr/>
        </p:nvSpPr>
        <p:spPr>
          <a:xfrm>
            <a:off x="7406640" y="2747772"/>
            <a:ext cx="4233672" cy="1005840"/>
          </a:xfrm>
          <a:prstGeom prst="roundRect">
            <a:avLst>
              <a:gd name="adj" fmla="val 10909"/>
            </a:avLst>
          </a:prstGeom>
          <a:solidFill>
            <a:schemeClr val="bg2"/>
          </a:solidFill>
          <a:ln/>
        </p:spPr>
      </p:sp>
      <p:sp>
        <p:nvSpPr>
          <p:cNvPr id="34" name="ikon-zemin-422"/>
          <p:cNvSpPr/>
          <p:nvPr/>
        </p:nvSpPr>
        <p:spPr>
          <a:xfrm>
            <a:off x="7589520" y="2976372"/>
            <a:ext cx="512064" cy="512064"/>
          </a:xfrm>
          <a:prstGeom prst="ellipse">
            <a:avLst/>
          </a:prstGeom>
          <a:solidFill>
            <a:schemeClr val="accent2"/>
          </a:solidFill>
          <a:ln/>
        </p:spPr>
      </p:sp>
      <p:pic>
        <p:nvPicPr>
          <p:cNvPr id="35" name="ikon-423" descr="preencoded.png">    </p:cNvPr>
          <p:cNvPicPr>
            <a:picLocks noChangeAspect="1"/>
          </p:cNvPicPr>
          <p:nvPr/>
        </p:nvPicPr>
        <p:blipFill>
          <a:blip r:embed="rId3"/>
          <a:stretch>
            <a:fillRect/>
          </a:stretch>
        </p:blipFill>
        <p:spPr>
          <a:xfrm>
            <a:off x="7702174" y="3089026"/>
            <a:ext cx="286756" cy="286756"/>
          </a:xfrm>
          <a:prstGeom prst="rect">
            <a:avLst/>
          </a:prstGeom>
        </p:spPr>
      </p:pic>
      <p:sp>
        <p:nvSpPr>
          <p:cNvPr id="36" name="metin-424"/>
          <p:cNvSpPr txBox="1"/>
          <p:nvPr/>
        </p:nvSpPr>
        <p:spPr>
          <a:xfrm>
            <a:off x="8275320" y="2857500"/>
            <a:ext cx="3246120" cy="301752"/>
          </a:xfrm>
          <a:prstGeom prst="rect">
            <a:avLst/>
          </a:prstGeom>
          <a:noFill/>
          <a:ln/>
        </p:spPr>
        <p:txBody>
          <a:bodyPr wrap="square" lIns="0" tIns="0" rIns="0" bIns="0" rtlCol="0" anchor="t"/>
          <a:lstStyle/>
          <a:p>
            <a:pPr indent="0" marL="0">
              <a:buNone/>
            </a:pPr>
            <a:r>
              <a:rPr lang="en-US" sz="1500" b="1" dirty="0">
                <a:solidFill>
                  <a:schemeClr val="tx1"/>
                </a:solidFill>
              </a:rPr>
              <a:t>Kontrol çiftçide</a:t>
            </a:r>
            <a:endParaRPr lang="en-US" sz="1500" dirty="0"/>
          </a:p>
        </p:txBody>
      </p:sp>
      <p:sp>
        <p:nvSpPr>
          <p:cNvPr id="37" name="metin-425"/>
          <p:cNvSpPr txBox="1"/>
          <p:nvPr/>
        </p:nvSpPr>
        <p:spPr>
          <a:xfrm>
            <a:off x="8275320" y="3168396"/>
            <a:ext cx="3246120" cy="548640"/>
          </a:xfrm>
          <a:prstGeom prst="rect">
            <a:avLst/>
          </a:prstGeom>
          <a:noFill/>
          <a:ln/>
        </p:spPr>
        <p:txBody>
          <a:bodyPr wrap="square" lIns="0" tIns="0" rIns="0" bIns="0" rtlCol="0" anchor="t"/>
          <a:lstStyle/>
          <a:p>
            <a:pPr indent="0" marL="0">
              <a:buNone/>
            </a:pPr>
            <a:r>
              <a:rPr lang="en-US" sz="1300" dirty="0">
                <a:solidFill>
                  <a:schemeClr val="tx2"/>
                </a:solidFill>
              </a:rPr>
              <a:t>Otonom / Açık / Kapalı: tek dokunuşla manuel müdahale.</a:t>
            </a:r>
            <a:endParaRPr lang="en-US" sz="1300" dirty="0"/>
          </a:p>
        </p:txBody>
      </p:sp>
      <p:sp>
        <p:nvSpPr>
          <p:cNvPr id="38" name="kart-426"/>
          <p:cNvSpPr/>
          <p:nvPr/>
        </p:nvSpPr>
        <p:spPr>
          <a:xfrm>
            <a:off x="7406640" y="3895344"/>
            <a:ext cx="4233672" cy="1005840"/>
          </a:xfrm>
          <a:prstGeom prst="roundRect">
            <a:avLst>
              <a:gd name="adj" fmla="val 10909"/>
            </a:avLst>
          </a:prstGeom>
          <a:solidFill>
            <a:schemeClr val="bg2"/>
          </a:solidFill>
          <a:ln/>
        </p:spPr>
      </p:sp>
      <p:sp>
        <p:nvSpPr>
          <p:cNvPr id="39" name="ikon-zemin-427"/>
          <p:cNvSpPr/>
          <p:nvPr/>
        </p:nvSpPr>
        <p:spPr>
          <a:xfrm>
            <a:off x="7589520" y="4123944"/>
            <a:ext cx="512064" cy="512064"/>
          </a:xfrm>
          <a:prstGeom prst="ellipse">
            <a:avLst/>
          </a:prstGeom>
          <a:solidFill>
            <a:schemeClr val="accent6"/>
          </a:solidFill>
          <a:ln/>
        </p:spPr>
      </p:sp>
      <p:pic>
        <p:nvPicPr>
          <p:cNvPr id="40" name="ikon-428" descr="preencoded.png">    </p:cNvPr>
          <p:cNvPicPr>
            <a:picLocks noChangeAspect="1"/>
          </p:cNvPicPr>
          <p:nvPr/>
        </p:nvPicPr>
        <p:blipFill>
          <a:blip r:embed="rId4"/>
          <a:stretch>
            <a:fillRect/>
          </a:stretch>
        </p:blipFill>
        <p:spPr>
          <a:xfrm>
            <a:off x="7702174" y="4236598"/>
            <a:ext cx="286756" cy="286756"/>
          </a:xfrm>
          <a:prstGeom prst="rect">
            <a:avLst/>
          </a:prstGeom>
        </p:spPr>
      </p:pic>
      <p:sp>
        <p:nvSpPr>
          <p:cNvPr id="41" name="metin-429"/>
          <p:cNvSpPr txBox="1"/>
          <p:nvPr/>
        </p:nvSpPr>
        <p:spPr>
          <a:xfrm>
            <a:off x="8275320" y="4005072"/>
            <a:ext cx="3246120" cy="301752"/>
          </a:xfrm>
          <a:prstGeom prst="rect">
            <a:avLst/>
          </a:prstGeom>
          <a:noFill/>
          <a:ln/>
        </p:spPr>
        <p:txBody>
          <a:bodyPr wrap="square" lIns="0" tIns="0" rIns="0" bIns="0" rtlCol="0" anchor="t"/>
          <a:lstStyle/>
          <a:p>
            <a:pPr indent="0" marL="0">
              <a:buNone/>
            </a:pPr>
            <a:r>
              <a:rPr lang="en-US" sz="1500" b="1" dirty="0">
                <a:solidFill>
                  <a:schemeClr val="tx1"/>
                </a:solidFill>
              </a:rPr>
              <a:t>İzlenebilirlik</a:t>
            </a:r>
            <a:endParaRPr lang="en-US" sz="1500" dirty="0"/>
          </a:p>
        </p:txBody>
      </p:sp>
      <p:sp>
        <p:nvSpPr>
          <p:cNvPr id="42" name="metin-430"/>
          <p:cNvSpPr txBox="1"/>
          <p:nvPr/>
        </p:nvSpPr>
        <p:spPr>
          <a:xfrm>
            <a:off x="8275320" y="4315968"/>
            <a:ext cx="3246120" cy="548640"/>
          </a:xfrm>
          <a:prstGeom prst="rect">
            <a:avLst/>
          </a:prstGeom>
          <a:noFill/>
          <a:ln/>
        </p:spPr>
        <p:txBody>
          <a:bodyPr wrap="square" lIns="0" tIns="0" rIns="0" bIns="0" rtlCol="0" anchor="t"/>
          <a:lstStyle/>
          <a:p>
            <a:pPr indent="0" marL="0">
              <a:buNone/>
            </a:pPr>
            <a:r>
              <a:rPr lang="en-US" sz="1300" dirty="0">
                <a:solidFill>
                  <a:schemeClr val="tx2"/>
                </a:solidFill>
              </a:rPr>
              <a:t>Tarla bazlı işlem kayıtları düzenli kayıt tutmayı alışkanlık yapar.</a:t>
            </a:r>
            <a:endParaRPr lang="en-US" sz="1300" dirty="0"/>
          </a:p>
        </p:txBody>
      </p:sp>
      <p:sp>
        <p:nvSpPr>
          <p:cNvPr id="43" name="kart-431"/>
          <p:cNvSpPr/>
          <p:nvPr/>
        </p:nvSpPr>
        <p:spPr>
          <a:xfrm>
            <a:off x="7406640" y="5042916"/>
            <a:ext cx="4233672" cy="1005840"/>
          </a:xfrm>
          <a:prstGeom prst="roundRect">
            <a:avLst>
              <a:gd name="adj" fmla="val 10909"/>
            </a:avLst>
          </a:prstGeom>
          <a:solidFill>
            <a:schemeClr val="bg2"/>
          </a:solidFill>
          <a:ln/>
        </p:spPr>
      </p:sp>
      <p:sp>
        <p:nvSpPr>
          <p:cNvPr id="44" name="ikon-zemin-432"/>
          <p:cNvSpPr/>
          <p:nvPr/>
        </p:nvSpPr>
        <p:spPr>
          <a:xfrm>
            <a:off x="7589520" y="5271516"/>
            <a:ext cx="512064" cy="512064"/>
          </a:xfrm>
          <a:prstGeom prst="ellipse">
            <a:avLst/>
          </a:prstGeom>
          <a:solidFill>
            <a:schemeClr val="accent4"/>
          </a:solidFill>
          <a:ln/>
        </p:spPr>
      </p:sp>
      <p:pic>
        <p:nvPicPr>
          <p:cNvPr id="45" name="ikon-433" descr="preencoded.png">    </p:cNvPr>
          <p:cNvPicPr>
            <a:picLocks noChangeAspect="1"/>
          </p:cNvPicPr>
          <p:nvPr/>
        </p:nvPicPr>
        <p:blipFill>
          <a:blip r:embed="rId5"/>
          <a:stretch>
            <a:fillRect/>
          </a:stretch>
        </p:blipFill>
        <p:spPr>
          <a:xfrm>
            <a:off x="7702174" y="5384170"/>
            <a:ext cx="286756" cy="286756"/>
          </a:xfrm>
          <a:prstGeom prst="rect">
            <a:avLst/>
          </a:prstGeom>
        </p:spPr>
      </p:pic>
      <p:sp>
        <p:nvSpPr>
          <p:cNvPr id="46" name="metin-434"/>
          <p:cNvSpPr txBox="1"/>
          <p:nvPr/>
        </p:nvSpPr>
        <p:spPr>
          <a:xfrm>
            <a:off x="8275320" y="5152644"/>
            <a:ext cx="3246120" cy="301752"/>
          </a:xfrm>
          <a:prstGeom prst="rect">
            <a:avLst/>
          </a:prstGeom>
          <a:noFill/>
          <a:ln/>
        </p:spPr>
        <p:txBody>
          <a:bodyPr wrap="square" lIns="0" tIns="0" rIns="0" bIns="0" rtlCol="0" anchor="t"/>
          <a:lstStyle/>
          <a:p>
            <a:pPr indent="0" marL="0">
              <a:buNone/>
            </a:pPr>
            <a:r>
              <a:rPr lang="en-US" sz="1500" b="1" dirty="0">
                <a:solidFill>
                  <a:schemeClr val="tx1"/>
                </a:solidFill>
              </a:rPr>
              <a:t>Finansmana erişim</a:t>
            </a:r>
            <a:endParaRPr lang="en-US" sz="1500" dirty="0"/>
          </a:p>
        </p:txBody>
      </p:sp>
      <p:sp>
        <p:nvSpPr>
          <p:cNvPr id="47" name="metin-435"/>
          <p:cNvSpPr txBox="1"/>
          <p:nvPr/>
        </p:nvSpPr>
        <p:spPr>
          <a:xfrm>
            <a:off x="8275320" y="5463540"/>
            <a:ext cx="3246120" cy="548640"/>
          </a:xfrm>
          <a:prstGeom prst="rect">
            <a:avLst/>
          </a:prstGeom>
          <a:noFill/>
          <a:ln/>
        </p:spPr>
        <p:txBody>
          <a:bodyPr wrap="square" lIns="0" tIns="0" rIns="0" bIns="0" rtlCol="0" anchor="t"/>
          <a:lstStyle/>
          <a:p>
            <a:pPr indent="0" marL="0">
              <a:buNone/>
            </a:pPr>
            <a:r>
              <a:rPr lang="en-US" sz="1300" dirty="0">
                <a:solidFill>
                  <a:schemeClr val="tx2"/>
                </a:solidFill>
              </a:rPr>
              <a:t>Gelir-gider ve dönüm başı analiz, kredi raporunun temel verisi.</a:t>
            </a:r>
            <a:endParaRPr lang="en-US" sz="13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B6B6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8229600" cy="274320"/>
          </a:xfrm>
          <a:prstGeom prst="rect">
            <a:avLst/>
          </a:prstGeom>
          <a:noFill/>
          <a:ln/>
        </p:spPr>
        <p:txBody>
          <a:bodyPr wrap="square" lIns="0" tIns="0" rIns="0" bIns="0" rtlCol="0" anchor="t"/>
          <a:lstStyle/>
          <a:p>
            <a:pPr indent="0" marL="0">
              <a:buNone/>
            </a:pPr>
            <a:r>
              <a:rPr lang="en-US" sz="1200" b="1" spc="150" kern="0" dirty="0">
                <a:solidFill>
                  <a:schemeClr val="accent2"/>
                </a:solidFill>
              </a:rPr>
              <a:t>WEB PANELİ</a:t>
            </a:r>
            <a:endParaRPr lang="en-US" sz="1200" dirty="0"/>
          </a:p>
        </p:txBody>
      </p:sp>
      <p:sp>
        <p:nvSpPr>
          <p:cNvPr id="3" name="Text 0"/>
          <p:cNvSpPr/>
          <p:nvPr>
            <p:ph idx="101" type="title" hasCustomPrompt="1"/>
          </p:nvPr>
        </p:nvSpPr>
        <p:spPr>
          <a:xfrm>
            <a:off x="548640" y="621792"/>
            <a:ext cx="11091672" cy="731520"/>
          </a:xfrm>
          <a:prstGeom prst="rect">
            <a:avLst/>
          </a:prstGeom>
          <a:noFill/>
          <a:ln/>
        </p:spPr>
        <p:txBody>
          <a:bodyPr wrap="square" lIns="0" tIns="0" rIns="0" bIns="0" rtlCol="0" anchor="t"/>
          <a:lstStyle/>
          <a:p>
            <a:pPr algn="l" indent="0" marL="0">
              <a:buNone/>
            </a:pPr>
            <a:r>
              <a:rPr lang="en-US" sz="3000" b="1" dirty="0">
                <a:solidFill>
                  <a:schemeClr val="tx1"/>
                </a:solidFill>
              </a:rPr>
              <a:t>Web paneli: masaüstünde tüm tarlanın tek ekranda görünümü</a:t>
            </a:r>
            <a:endParaRPr lang="en-US" sz="3000" dirty="0"/>
          </a:p>
        </p:txBody>
      </p:sp>
      <p:sp>
        <p:nvSpPr>
          <p:cNvPr id="4" name="web-cerceve"/>
          <p:cNvSpPr/>
          <p:nvPr/>
        </p:nvSpPr>
        <p:spPr>
          <a:xfrm>
            <a:off x="548640" y="1600200"/>
            <a:ext cx="7040880" cy="4400550"/>
          </a:xfrm>
          <a:prstGeom prst="roundRect">
            <a:avLst>
              <a:gd name="adj" fmla="val 2078"/>
            </a:avLst>
          </a:prstGeom>
          <a:solidFill>
            <a:srgbClr val="121212"/>
          </a:solidFill>
          <a:ln w="9525">
            <a:solidFill>
              <a:srgbClr val="C9D6D1"/>
            </a:solidFill>
            <a:prstDash val="solid"/>
          </a:ln>
          <a:effectLst>
            <a:outerShdw sx="100000" sy="100000" kx="0" ky="0" algn="bl" rotWithShape="0" blurRad="127000" dist="38100" dir="5400000">
              <a:srgbClr val="000000">
                <a:alpha val="22000"/>
              </a:srgbClr>
            </a:outerShdw>
          </a:effectLst>
        </p:spPr>
      </p:sp>
      <p:pic>
        <p:nvPicPr>
          <p:cNvPr id="5" name="web-ekran-goruntusu" descr="AgroGuard AI web paneli gösterge paneli ekran görüntüsü">    </p:cNvPr>
          <p:cNvPicPr>
            <a:picLocks noChangeAspect="1"/>
          </p:cNvPicPr>
          <p:nvPr/>
        </p:nvPicPr>
        <p:blipFill>
          <a:blip r:embed="rId1"/>
          <a:stretch>
            <a:fillRect/>
          </a:stretch>
        </p:blipFill>
        <p:spPr>
          <a:xfrm>
            <a:off x="548640" y="1600200"/>
            <a:ext cx="7040880" cy="4400550"/>
          </a:xfrm>
          <a:prstGeom prst="rect">
            <a:avLst/>
          </a:prstGeom>
        </p:spPr>
      </p:pic>
      <p:sp>
        <p:nvSpPr>
          <p:cNvPr id="6" name="ikon-zemin-436"/>
          <p:cNvSpPr/>
          <p:nvPr/>
        </p:nvSpPr>
        <p:spPr>
          <a:xfrm>
            <a:off x="7955280" y="1673352"/>
            <a:ext cx="438912" cy="438912"/>
          </a:xfrm>
          <a:prstGeom prst="ellipse">
            <a:avLst/>
          </a:prstGeom>
          <a:solidFill>
            <a:schemeClr val="accent2"/>
          </a:solidFill>
          <a:ln/>
        </p:spPr>
      </p:sp>
      <p:pic>
        <p:nvPicPr>
          <p:cNvPr id="7" name="ikon-437" descr="preencoded.png">    </p:cNvPr>
          <p:cNvPicPr>
            <a:picLocks noChangeAspect="1"/>
          </p:cNvPicPr>
          <p:nvPr/>
        </p:nvPicPr>
        <p:blipFill>
          <a:blip r:embed="rId2"/>
          <a:stretch>
            <a:fillRect/>
          </a:stretch>
        </p:blipFill>
        <p:spPr>
          <a:xfrm>
            <a:off x="8051841" y="1769913"/>
            <a:ext cx="245791" cy="245791"/>
          </a:xfrm>
          <a:prstGeom prst="rect">
            <a:avLst/>
          </a:prstGeom>
        </p:spPr>
      </p:pic>
      <p:sp>
        <p:nvSpPr>
          <p:cNvPr id="8" name="metin-438"/>
          <p:cNvSpPr txBox="1"/>
          <p:nvPr/>
        </p:nvSpPr>
        <p:spPr>
          <a:xfrm>
            <a:off x="8549640" y="1618488"/>
            <a:ext cx="3090672" cy="292608"/>
          </a:xfrm>
          <a:prstGeom prst="rect">
            <a:avLst/>
          </a:prstGeom>
          <a:noFill/>
          <a:ln/>
        </p:spPr>
        <p:txBody>
          <a:bodyPr wrap="square" lIns="0" tIns="0" rIns="0" bIns="0" rtlCol="0" anchor="t"/>
          <a:lstStyle/>
          <a:p>
            <a:pPr indent="0" marL="0">
              <a:buNone/>
            </a:pPr>
            <a:r>
              <a:rPr lang="en-US" sz="1500" b="1" dirty="0">
                <a:solidFill>
                  <a:schemeClr val="tx1"/>
                </a:solidFill>
              </a:rPr>
              <a:t>Gösterge Paneli</a:t>
            </a:r>
            <a:endParaRPr lang="en-US" sz="1500" dirty="0"/>
          </a:p>
        </p:txBody>
      </p:sp>
      <p:sp>
        <p:nvSpPr>
          <p:cNvPr id="9" name="metin-439"/>
          <p:cNvSpPr txBox="1"/>
          <p:nvPr/>
        </p:nvSpPr>
        <p:spPr>
          <a:xfrm>
            <a:off x="8549640" y="1911096"/>
            <a:ext cx="3090672" cy="274320"/>
          </a:xfrm>
          <a:prstGeom prst="rect">
            <a:avLst/>
          </a:prstGeom>
          <a:noFill/>
          <a:ln/>
        </p:spPr>
        <p:txBody>
          <a:bodyPr wrap="square" lIns="0" tIns="0" rIns="0" bIns="0" rtlCol="0" anchor="t"/>
          <a:lstStyle/>
          <a:p>
            <a:pPr indent="0" marL="0">
              <a:buNone/>
            </a:pPr>
            <a:r>
              <a:rPr lang="en-US" sz="1200" dirty="0">
                <a:solidFill>
                  <a:schemeClr val="tx2"/>
                </a:solidFill>
              </a:rPr>
              <a:t>Hava, tarife, pompa, sistem kararı</a:t>
            </a:r>
            <a:endParaRPr lang="en-US" sz="1200" dirty="0"/>
          </a:p>
        </p:txBody>
      </p:sp>
      <p:sp>
        <p:nvSpPr>
          <p:cNvPr id="10" name="ikon-zemin-440"/>
          <p:cNvSpPr/>
          <p:nvPr/>
        </p:nvSpPr>
        <p:spPr>
          <a:xfrm>
            <a:off x="7955280" y="2350008"/>
            <a:ext cx="438912" cy="438912"/>
          </a:xfrm>
          <a:prstGeom prst="ellipse">
            <a:avLst/>
          </a:prstGeom>
          <a:solidFill>
            <a:schemeClr val="accent2"/>
          </a:solidFill>
          <a:ln/>
        </p:spPr>
      </p:sp>
      <p:pic>
        <p:nvPicPr>
          <p:cNvPr id="11" name="ikon-441" descr="preencoded.png">    </p:cNvPr>
          <p:cNvPicPr>
            <a:picLocks noChangeAspect="1"/>
          </p:cNvPicPr>
          <p:nvPr/>
        </p:nvPicPr>
        <p:blipFill>
          <a:blip r:embed="rId3"/>
          <a:stretch>
            <a:fillRect/>
          </a:stretch>
        </p:blipFill>
        <p:spPr>
          <a:xfrm>
            <a:off x="8051841" y="2446569"/>
            <a:ext cx="245791" cy="245791"/>
          </a:xfrm>
          <a:prstGeom prst="rect">
            <a:avLst/>
          </a:prstGeom>
        </p:spPr>
      </p:pic>
      <p:sp>
        <p:nvSpPr>
          <p:cNvPr id="12" name="metin-442"/>
          <p:cNvSpPr txBox="1"/>
          <p:nvPr/>
        </p:nvSpPr>
        <p:spPr>
          <a:xfrm>
            <a:off x="8549640" y="2295144"/>
            <a:ext cx="3090672" cy="292608"/>
          </a:xfrm>
          <a:prstGeom prst="rect">
            <a:avLst/>
          </a:prstGeom>
          <a:noFill/>
          <a:ln/>
        </p:spPr>
        <p:txBody>
          <a:bodyPr wrap="square" lIns="0" tIns="0" rIns="0" bIns="0" rtlCol="0" anchor="t"/>
          <a:lstStyle/>
          <a:p>
            <a:pPr indent="0" marL="0">
              <a:buNone/>
            </a:pPr>
            <a:r>
              <a:rPr lang="en-US" sz="1500" b="1" dirty="0">
                <a:solidFill>
                  <a:schemeClr val="tx1"/>
                </a:solidFill>
              </a:rPr>
              <a:t>Su &amp; Don Koruması</a:t>
            </a:r>
            <a:endParaRPr lang="en-US" sz="1500" dirty="0"/>
          </a:p>
        </p:txBody>
      </p:sp>
      <p:sp>
        <p:nvSpPr>
          <p:cNvPr id="13" name="metin-443"/>
          <p:cNvSpPr txBox="1"/>
          <p:nvPr/>
        </p:nvSpPr>
        <p:spPr>
          <a:xfrm>
            <a:off x="8549640" y="2587752"/>
            <a:ext cx="3090672" cy="274320"/>
          </a:xfrm>
          <a:prstGeom prst="rect">
            <a:avLst/>
          </a:prstGeom>
          <a:noFill/>
          <a:ln/>
        </p:spPr>
        <p:txBody>
          <a:bodyPr wrap="square" lIns="0" tIns="0" rIns="0" bIns="0" rtlCol="0" anchor="t"/>
          <a:lstStyle/>
          <a:p>
            <a:pPr indent="0" marL="0">
              <a:buNone/>
            </a:pPr>
            <a:r>
              <a:rPr lang="en-US" sz="1200" dirty="0">
                <a:solidFill>
                  <a:schemeClr val="tx2"/>
                </a:solidFill>
              </a:rPr>
              <a:t>Toprak nemi, don riski, pompa modu</a:t>
            </a:r>
            <a:endParaRPr lang="en-US" sz="1200" dirty="0"/>
          </a:p>
        </p:txBody>
      </p:sp>
      <p:sp>
        <p:nvSpPr>
          <p:cNvPr id="14" name="ikon-zemin-444"/>
          <p:cNvSpPr/>
          <p:nvPr/>
        </p:nvSpPr>
        <p:spPr>
          <a:xfrm>
            <a:off x="7955280" y="3026664"/>
            <a:ext cx="438912" cy="438912"/>
          </a:xfrm>
          <a:prstGeom prst="ellipse">
            <a:avLst/>
          </a:prstGeom>
          <a:solidFill>
            <a:schemeClr val="accent2"/>
          </a:solidFill>
          <a:ln/>
        </p:spPr>
      </p:sp>
      <p:pic>
        <p:nvPicPr>
          <p:cNvPr id="15" name="ikon-445" descr="preencoded.png">    </p:cNvPr>
          <p:cNvPicPr>
            <a:picLocks noChangeAspect="1"/>
          </p:cNvPicPr>
          <p:nvPr/>
        </p:nvPicPr>
        <p:blipFill>
          <a:blip r:embed="rId4"/>
          <a:stretch>
            <a:fillRect/>
          </a:stretch>
        </p:blipFill>
        <p:spPr>
          <a:xfrm>
            <a:off x="8051841" y="3123225"/>
            <a:ext cx="245791" cy="245791"/>
          </a:xfrm>
          <a:prstGeom prst="rect">
            <a:avLst/>
          </a:prstGeom>
        </p:spPr>
      </p:pic>
      <p:sp>
        <p:nvSpPr>
          <p:cNvPr id="16" name="metin-446"/>
          <p:cNvSpPr txBox="1"/>
          <p:nvPr/>
        </p:nvSpPr>
        <p:spPr>
          <a:xfrm>
            <a:off x="8549640" y="2971800"/>
            <a:ext cx="3090672" cy="292608"/>
          </a:xfrm>
          <a:prstGeom prst="rect">
            <a:avLst/>
          </a:prstGeom>
          <a:noFill/>
          <a:ln/>
        </p:spPr>
        <p:txBody>
          <a:bodyPr wrap="square" lIns="0" tIns="0" rIns="0" bIns="0" rtlCol="0" anchor="t"/>
          <a:lstStyle/>
          <a:p>
            <a:pPr indent="0" marL="0">
              <a:buNone/>
            </a:pPr>
            <a:r>
              <a:rPr lang="en-US" sz="1500" b="1" dirty="0">
                <a:solidFill>
                  <a:schemeClr val="tx1"/>
                </a:solidFill>
              </a:rPr>
              <a:t>Enerji Optimizasyonu</a:t>
            </a:r>
            <a:endParaRPr lang="en-US" sz="1500" dirty="0"/>
          </a:p>
        </p:txBody>
      </p:sp>
      <p:sp>
        <p:nvSpPr>
          <p:cNvPr id="17" name="metin-447"/>
          <p:cNvSpPr txBox="1"/>
          <p:nvPr/>
        </p:nvSpPr>
        <p:spPr>
          <a:xfrm>
            <a:off x="8549640" y="3264408"/>
            <a:ext cx="3090672" cy="274320"/>
          </a:xfrm>
          <a:prstGeom prst="rect">
            <a:avLst/>
          </a:prstGeom>
          <a:noFill/>
          <a:ln/>
        </p:spPr>
        <p:txBody>
          <a:bodyPr wrap="square" lIns="0" tIns="0" rIns="0" bIns="0" rtlCol="0" anchor="t"/>
          <a:lstStyle/>
          <a:p>
            <a:pPr indent="0" marL="0">
              <a:buNone/>
            </a:pPr>
            <a:r>
              <a:rPr lang="en-US" sz="1200" dirty="0">
                <a:solidFill>
                  <a:schemeClr val="tx2"/>
                </a:solidFill>
              </a:rPr>
              <a:t>Tarife tablosu, tasarruf raporu</a:t>
            </a:r>
            <a:endParaRPr lang="en-US" sz="1200" dirty="0"/>
          </a:p>
        </p:txBody>
      </p:sp>
      <p:sp>
        <p:nvSpPr>
          <p:cNvPr id="18" name="ikon-zemin-448"/>
          <p:cNvSpPr/>
          <p:nvPr/>
        </p:nvSpPr>
        <p:spPr>
          <a:xfrm>
            <a:off x="7955280" y="3703320"/>
            <a:ext cx="438912" cy="438912"/>
          </a:xfrm>
          <a:prstGeom prst="ellipse">
            <a:avLst/>
          </a:prstGeom>
          <a:solidFill>
            <a:schemeClr val="accent2"/>
          </a:solidFill>
          <a:ln/>
        </p:spPr>
      </p:sp>
      <p:pic>
        <p:nvPicPr>
          <p:cNvPr id="19" name="ikon-449" descr="preencoded.png">    </p:cNvPr>
          <p:cNvPicPr>
            <a:picLocks noChangeAspect="1"/>
          </p:cNvPicPr>
          <p:nvPr/>
        </p:nvPicPr>
        <p:blipFill>
          <a:blip r:embed="rId5"/>
          <a:stretch>
            <a:fillRect/>
          </a:stretch>
        </p:blipFill>
        <p:spPr>
          <a:xfrm>
            <a:off x="8051841" y="3799881"/>
            <a:ext cx="245791" cy="245791"/>
          </a:xfrm>
          <a:prstGeom prst="rect">
            <a:avLst/>
          </a:prstGeom>
        </p:spPr>
      </p:pic>
      <p:sp>
        <p:nvSpPr>
          <p:cNvPr id="20" name="metin-450"/>
          <p:cNvSpPr txBox="1"/>
          <p:nvPr/>
        </p:nvSpPr>
        <p:spPr>
          <a:xfrm>
            <a:off x="8549640" y="3648456"/>
            <a:ext cx="3090672" cy="292608"/>
          </a:xfrm>
          <a:prstGeom prst="rect">
            <a:avLst/>
          </a:prstGeom>
          <a:noFill/>
          <a:ln/>
        </p:spPr>
        <p:txBody>
          <a:bodyPr wrap="square" lIns="0" tIns="0" rIns="0" bIns="0" rtlCol="0" anchor="t"/>
          <a:lstStyle/>
          <a:p>
            <a:pPr indent="0" marL="0">
              <a:buNone/>
            </a:pPr>
            <a:r>
              <a:rPr lang="en-US" sz="1500" b="1" dirty="0">
                <a:solidFill>
                  <a:schemeClr val="tx1"/>
                </a:solidFill>
              </a:rPr>
              <a:t>Zirai Ajanda</a:t>
            </a:r>
            <a:endParaRPr lang="en-US" sz="1500" dirty="0"/>
          </a:p>
        </p:txBody>
      </p:sp>
      <p:sp>
        <p:nvSpPr>
          <p:cNvPr id="21" name="metin-451"/>
          <p:cNvSpPr txBox="1"/>
          <p:nvPr/>
        </p:nvSpPr>
        <p:spPr>
          <a:xfrm>
            <a:off x="8549640" y="3941064"/>
            <a:ext cx="3090672" cy="274320"/>
          </a:xfrm>
          <a:prstGeom prst="rect">
            <a:avLst/>
          </a:prstGeom>
          <a:noFill/>
          <a:ln/>
        </p:spPr>
        <p:txBody>
          <a:bodyPr wrap="square" lIns="0" tIns="0" rIns="0" bIns="0" rtlCol="0" anchor="t"/>
          <a:lstStyle/>
          <a:p>
            <a:pPr indent="0" marL="0">
              <a:buNone/>
            </a:pPr>
            <a:r>
              <a:rPr lang="en-US" sz="1200" dirty="0">
                <a:solidFill>
                  <a:schemeClr val="tx2"/>
                </a:solidFill>
              </a:rPr>
              <a:t>Aylık takvim, hava ikonları, olaylar</a:t>
            </a:r>
            <a:endParaRPr lang="en-US" sz="1200" dirty="0"/>
          </a:p>
        </p:txBody>
      </p:sp>
      <p:sp>
        <p:nvSpPr>
          <p:cNvPr id="22" name="ikon-zemin-452"/>
          <p:cNvSpPr/>
          <p:nvPr/>
        </p:nvSpPr>
        <p:spPr>
          <a:xfrm>
            <a:off x="7955280" y="4379976"/>
            <a:ext cx="438912" cy="438912"/>
          </a:xfrm>
          <a:prstGeom prst="ellipse">
            <a:avLst/>
          </a:prstGeom>
          <a:solidFill>
            <a:schemeClr val="accent2"/>
          </a:solidFill>
          <a:ln/>
        </p:spPr>
      </p:sp>
      <p:pic>
        <p:nvPicPr>
          <p:cNvPr id="23" name="ikon-453" descr="preencoded.png">    </p:cNvPr>
          <p:cNvPicPr>
            <a:picLocks noChangeAspect="1"/>
          </p:cNvPicPr>
          <p:nvPr/>
        </p:nvPicPr>
        <p:blipFill>
          <a:blip r:embed="rId6"/>
          <a:stretch>
            <a:fillRect/>
          </a:stretch>
        </p:blipFill>
        <p:spPr>
          <a:xfrm>
            <a:off x="8051841" y="4476537"/>
            <a:ext cx="245791" cy="245791"/>
          </a:xfrm>
          <a:prstGeom prst="rect">
            <a:avLst/>
          </a:prstGeom>
        </p:spPr>
      </p:pic>
      <p:sp>
        <p:nvSpPr>
          <p:cNvPr id="24" name="metin-454"/>
          <p:cNvSpPr txBox="1"/>
          <p:nvPr/>
        </p:nvSpPr>
        <p:spPr>
          <a:xfrm>
            <a:off x="8549640" y="4325112"/>
            <a:ext cx="3090672" cy="292608"/>
          </a:xfrm>
          <a:prstGeom prst="rect">
            <a:avLst/>
          </a:prstGeom>
          <a:noFill/>
          <a:ln/>
        </p:spPr>
        <p:txBody>
          <a:bodyPr wrap="square" lIns="0" tIns="0" rIns="0" bIns="0" rtlCol="0" anchor="t"/>
          <a:lstStyle/>
          <a:p>
            <a:pPr indent="0" marL="0">
              <a:buNone/>
            </a:pPr>
            <a:r>
              <a:rPr lang="en-US" sz="1500" b="1" dirty="0">
                <a:solidFill>
                  <a:schemeClr val="tx1"/>
                </a:solidFill>
              </a:rPr>
              <a:t>Ön Muhasebe</a:t>
            </a:r>
            <a:endParaRPr lang="en-US" sz="1500" dirty="0"/>
          </a:p>
        </p:txBody>
      </p:sp>
      <p:sp>
        <p:nvSpPr>
          <p:cNvPr id="25" name="metin-455"/>
          <p:cNvSpPr txBox="1"/>
          <p:nvPr/>
        </p:nvSpPr>
        <p:spPr>
          <a:xfrm>
            <a:off x="8549640" y="4617720"/>
            <a:ext cx="3090672" cy="274320"/>
          </a:xfrm>
          <a:prstGeom prst="rect">
            <a:avLst/>
          </a:prstGeom>
          <a:noFill/>
          <a:ln/>
        </p:spPr>
        <p:txBody>
          <a:bodyPr wrap="square" lIns="0" tIns="0" rIns="0" bIns="0" rtlCol="0" anchor="t"/>
          <a:lstStyle/>
          <a:p>
            <a:pPr indent="0" marL="0">
              <a:buNone/>
            </a:pPr>
            <a:r>
              <a:rPr lang="en-US" sz="1200" dirty="0">
                <a:solidFill>
                  <a:schemeClr val="tx2"/>
                </a:solidFill>
              </a:rPr>
              <a:t>Gelir-gider, dönüm başı, gider grafiği</a:t>
            </a:r>
            <a:endParaRPr lang="en-US" sz="1200" dirty="0"/>
          </a:p>
        </p:txBody>
      </p:sp>
      <p:sp>
        <p:nvSpPr>
          <p:cNvPr id="26" name="ikon-zemin-456"/>
          <p:cNvSpPr/>
          <p:nvPr/>
        </p:nvSpPr>
        <p:spPr>
          <a:xfrm>
            <a:off x="7955280" y="5056632"/>
            <a:ext cx="438912" cy="438912"/>
          </a:xfrm>
          <a:prstGeom prst="ellipse">
            <a:avLst/>
          </a:prstGeom>
          <a:solidFill>
            <a:schemeClr val="accent2"/>
          </a:solidFill>
          <a:ln/>
        </p:spPr>
      </p:sp>
      <p:pic>
        <p:nvPicPr>
          <p:cNvPr id="27" name="ikon-457" descr="preencoded.png">    </p:cNvPr>
          <p:cNvPicPr>
            <a:picLocks noChangeAspect="1"/>
          </p:cNvPicPr>
          <p:nvPr/>
        </p:nvPicPr>
        <p:blipFill>
          <a:blip r:embed="rId7"/>
          <a:stretch>
            <a:fillRect/>
          </a:stretch>
        </p:blipFill>
        <p:spPr>
          <a:xfrm>
            <a:off x="8051841" y="5153193"/>
            <a:ext cx="245791" cy="245791"/>
          </a:xfrm>
          <a:prstGeom prst="rect">
            <a:avLst/>
          </a:prstGeom>
        </p:spPr>
      </p:pic>
      <p:sp>
        <p:nvSpPr>
          <p:cNvPr id="28" name="metin-458"/>
          <p:cNvSpPr txBox="1"/>
          <p:nvPr/>
        </p:nvSpPr>
        <p:spPr>
          <a:xfrm>
            <a:off x="8549640" y="5001768"/>
            <a:ext cx="3090672" cy="292608"/>
          </a:xfrm>
          <a:prstGeom prst="rect">
            <a:avLst/>
          </a:prstGeom>
          <a:noFill/>
          <a:ln/>
        </p:spPr>
        <p:txBody>
          <a:bodyPr wrap="square" lIns="0" tIns="0" rIns="0" bIns="0" rtlCol="0" anchor="t"/>
          <a:lstStyle/>
          <a:p>
            <a:pPr indent="0" marL="0">
              <a:buNone/>
            </a:pPr>
            <a:r>
              <a:rPr lang="en-US" sz="1500" b="1" dirty="0">
                <a:solidFill>
                  <a:schemeClr val="tx1"/>
                </a:solidFill>
              </a:rPr>
              <a:t>Tarla Önerileri</a:t>
            </a:r>
            <a:endParaRPr lang="en-US" sz="1500" dirty="0"/>
          </a:p>
        </p:txBody>
      </p:sp>
      <p:sp>
        <p:nvSpPr>
          <p:cNvPr id="29" name="metin-459"/>
          <p:cNvSpPr txBox="1"/>
          <p:nvPr/>
        </p:nvSpPr>
        <p:spPr>
          <a:xfrm>
            <a:off x="8549640" y="5294376"/>
            <a:ext cx="3090672" cy="274320"/>
          </a:xfrm>
          <a:prstGeom prst="rect">
            <a:avLst/>
          </a:prstGeom>
          <a:noFill/>
          <a:ln/>
        </p:spPr>
        <p:txBody>
          <a:bodyPr wrap="square" lIns="0" tIns="0" rIns="0" bIns="0" rtlCol="0" anchor="t"/>
          <a:lstStyle/>
          <a:p>
            <a:pPr indent="0" marL="0">
              <a:buNone/>
            </a:pPr>
            <a:r>
              <a:rPr lang="en-US" sz="1200" dirty="0">
                <a:solidFill>
                  <a:schemeClr val="tx2"/>
                </a:solidFill>
              </a:rPr>
              <a:t>Öneriler ve hastalık rehberi</a:t>
            </a:r>
            <a:endParaRPr lang="en-US" sz="1200" dirty="0"/>
          </a:p>
        </p:txBody>
      </p:sp>
      <p:sp>
        <p:nvSpPr>
          <p:cNvPr id="30" name="kart-460"/>
          <p:cNvSpPr/>
          <p:nvPr/>
        </p:nvSpPr>
        <p:spPr>
          <a:xfrm>
            <a:off x="7955280" y="5669280"/>
            <a:ext cx="3685032" cy="457200"/>
          </a:xfrm>
          <a:prstGeom prst="roundRect">
            <a:avLst>
              <a:gd name="adj" fmla="val 24000"/>
            </a:avLst>
          </a:prstGeom>
          <a:solidFill>
            <a:srgbClr val="EEF4F1"/>
          </a:solidFill>
          <a:ln/>
        </p:spPr>
      </p:sp>
      <p:sp>
        <p:nvSpPr>
          <p:cNvPr id="31" name="metin-461"/>
          <p:cNvSpPr txBox="1"/>
          <p:nvPr/>
        </p:nvSpPr>
        <p:spPr>
          <a:xfrm>
            <a:off x="8092440" y="5669280"/>
            <a:ext cx="3474720" cy="457200"/>
          </a:xfrm>
          <a:prstGeom prst="rect">
            <a:avLst/>
          </a:prstGeom>
          <a:noFill/>
          <a:ln/>
        </p:spPr>
        <p:txBody>
          <a:bodyPr wrap="square" lIns="0" tIns="0" rIns="0" bIns="0" rtlCol="0" anchor="ctr"/>
          <a:lstStyle/>
          <a:p>
            <a:pPr indent="0" marL="0">
              <a:buNone/>
            </a:pPr>
            <a:r>
              <a:rPr lang="en-US" sz="1300" b="1" dirty="0">
                <a:solidFill>
                  <a:schemeClr val="tx2"/>
                </a:solidFill>
              </a:rPr>
              <a:t>Flask · Jinja2 · Bootstrap 5 · Chart.js</a:t>
            </a:r>
            <a:endParaRPr lang="en-US" sz="13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B6B6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8229600" cy="274320"/>
          </a:xfrm>
          <a:prstGeom prst="rect">
            <a:avLst/>
          </a:prstGeom>
          <a:noFill/>
          <a:ln/>
        </p:spPr>
        <p:txBody>
          <a:bodyPr wrap="square" lIns="0" tIns="0" rIns="0" bIns="0" rtlCol="0" anchor="t"/>
          <a:lstStyle/>
          <a:p>
            <a:pPr indent="0" marL="0">
              <a:buNone/>
            </a:pPr>
            <a:r>
              <a:rPr lang="en-US" sz="1200" b="1" spc="150" kern="0" dirty="0">
                <a:solidFill>
                  <a:schemeClr val="accent2"/>
                </a:solidFill>
              </a:rPr>
              <a:t>ANDROİD UYGULAMASI</a:t>
            </a:r>
            <a:endParaRPr lang="en-US" sz="1200" dirty="0"/>
          </a:p>
        </p:txBody>
      </p:sp>
      <p:sp>
        <p:nvSpPr>
          <p:cNvPr id="3" name="Text 0"/>
          <p:cNvSpPr/>
          <p:nvPr>
            <p:ph idx="101" type="title" hasCustomPrompt="1"/>
          </p:nvPr>
        </p:nvSpPr>
        <p:spPr>
          <a:xfrm>
            <a:off x="548640" y="621792"/>
            <a:ext cx="11091672" cy="731520"/>
          </a:xfrm>
          <a:prstGeom prst="rect">
            <a:avLst/>
          </a:prstGeom>
          <a:noFill/>
          <a:ln/>
        </p:spPr>
        <p:txBody>
          <a:bodyPr wrap="square" lIns="0" tIns="0" rIns="0" bIns="0" rtlCol="0" anchor="t"/>
          <a:lstStyle/>
          <a:p>
            <a:pPr algn="l" indent="0" marL="0">
              <a:buNone/>
            </a:pPr>
            <a:r>
              <a:rPr lang="en-US" sz="3000" b="1" dirty="0">
                <a:solidFill>
                  <a:schemeClr val="tx1"/>
                </a:solidFill>
              </a:rPr>
              <a:t>Aynı karar motoru, tarlada cepte</a:t>
            </a:r>
            <a:endParaRPr lang="en-US" sz="3000" dirty="0"/>
          </a:p>
        </p:txBody>
      </p:sp>
      <p:sp>
        <p:nvSpPr>
          <p:cNvPr id="4" name="telefon-cerceve-462"/>
          <p:cNvSpPr/>
          <p:nvPr/>
        </p:nvSpPr>
        <p:spPr>
          <a:xfrm>
            <a:off x="548640" y="1572768"/>
            <a:ext cx="2222382" cy="4681728"/>
          </a:xfrm>
          <a:prstGeom prst="roundRect">
            <a:avLst>
              <a:gd name="adj" fmla="val 9875"/>
            </a:avLst>
          </a:prstGeom>
          <a:solidFill>
            <a:srgbClr val="0B0F0D"/>
          </a:solidFill>
          <a:ln w="12700">
            <a:solidFill>
              <a:srgbClr val="2E3A35"/>
            </a:solidFill>
            <a:prstDash val="solid"/>
          </a:ln>
          <a:effectLst>
            <a:outerShdw sx="100000" sy="100000" kx="0" ky="0" algn="bl" rotWithShape="0" blurRad="127000" dist="38100" dir="5400000">
              <a:srgbClr val="000000">
                <a:alpha val="22000"/>
              </a:srgbClr>
            </a:outerShdw>
          </a:effectLst>
        </p:spPr>
      </p:sp>
      <p:pic>
        <p:nvPicPr>
          <p:cNvPr id="5" name="ekran-goruntusu-463" descr="AgroGuard AI mobil uygulama ekran görüntüsü">    </p:cNvPr>
          <p:cNvPicPr>
            <a:picLocks noChangeAspect="1"/>
          </p:cNvPicPr>
          <p:nvPr/>
        </p:nvPicPr>
        <p:blipFill>
          <a:blip r:embed="rId1"/>
          <a:stretch>
            <a:fillRect/>
          </a:stretch>
        </p:blipFill>
        <p:spPr>
          <a:xfrm>
            <a:off x="603504" y="1627632"/>
            <a:ext cx="2112654" cy="4572000"/>
          </a:xfrm>
          <a:prstGeom prst="rect">
            <a:avLst/>
          </a:prstGeom>
        </p:spPr>
      </p:pic>
      <p:sp>
        <p:nvSpPr>
          <p:cNvPr id="6" name="telefon-cerceve-464"/>
          <p:cNvSpPr/>
          <p:nvPr/>
        </p:nvSpPr>
        <p:spPr>
          <a:xfrm>
            <a:off x="2953902" y="1572768"/>
            <a:ext cx="2222382" cy="4681728"/>
          </a:xfrm>
          <a:prstGeom prst="roundRect">
            <a:avLst>
              <a:gd name="adj" fmla="val 9875"/>
            </a:avLst>
          </a:prstGeom>
          <a:solidFill>
            <a:srgbClr val="0B0F0D"/>
          </a:solidFill>
          <a:ln w="12700">
            <a:solidFill>
              <a:srgbClr val="2E3A35"/>
            </a:solidFill>
            <a:prstDash val="solid"/>
          </a:ln>
          <a:effectLst>
            <a:outerShdw sx="100000" sy="100000" kx="0" ky="0" algn="bl" rotWithShape="0" blurRad="127000" dist="38100" dir="5400000">
              <a:srgbClr val="000000">
                <a:alpha val="22000"/>
              </a:srgbClr>
            </a:outerShdw>
          </a:effectLst>
        </p:spPr>
      </p:sp>
      <p:pic>
        <p:nvPicPr>
          <p:cNvPr id="7" name="ekran-goruntusu-465" descr="AgroGuard AI mobil uygulama ekran görüntüsü">    </p:cNvPr>
          <p:cNvPicPr>
            <a:picLocks noChangeAspect="1"/>
          </p:cNvPicPr>
          <p:nvPr/>
        </p:nvPicPr>
        <p:blipFill>
          <a:blip r:embed="rId2"/>
          <a:stretch>
            <a:fillRect/>
          </a:stretch>
        </p:blipFill>
        <p:spPr>
          <a:xfrm>
            <a:off x="3008766" y="1627632"/>
            <a:ext cx="2112654" cy="4572000"/>
          </a:xfrm>
          <a:prstGeom prst="rect">
            <a:avLst/>
          </a:prstGeom>
        </p:spPr>
      </p:pic>
      <p:sp>
        <p:nvSpPr>
          <p:cNvPr id="8" name="telefon-cerceve-466"/>
          <p:cNvSpPr/>
          <p:nvPr/>
        </p:nvSpPr>
        <p:spPr>
          <a:xfrm>
            <a:off x="5359164" y="1572768"/>
            <a:ext cx="2222382" cy="4681728"/>
          </a:xfrm>
          <a:prstGeom prst="roundRect">
            <a:avLst>
              <a:gd name="adj" fmla="val 9875"/>
            </a:avLst>
          </a:prstGeom>
          <a:solidFill>
            <a:srgbClr val="0B0F0D"/>
          </a:solidFill>
          <a:ln w="12700">
            <a:solidFill>
              <a:srgbClr val="2E3A35"/>
            </a:solidFill>
            <a:prstDash val="solid"/>
          </a:ln>
          <a:effectLst>
            <a:outerShdw sx="100000" sy="100000" kx="0" ky="0" algn="bl" rotWithShape="0" blurRad="127000" dist="38100" dir="5400000">
              <a:srgbClr val="000000">
                <a:alpha val="22000"/>
              </a:srgbClr>
            </a:outerShdw>
          </a:effectLst>
        </p:spPr>
      </p:sp>
      <p:pic>
        <p:nvPicPr>
          <p:cNvPr id="9" name="ekran-goruntusu-467" descr="AgroGuard AI mobil uygulama ekran görüntüsü">    </p:cNvPr>
          <p:cNvPicPr>
            <a:picLocks noChangeAspect="1"/>
          </p:cNvPicPr>
          <p:nvPr/>
        </p:nvPicPr>
        <p:blipFill>
          <a:blip r:embed="rId3"/>
          <a:stretch>
            <a:fillRect/>
          </a:stretch>
        </p:blipFill>
        <p:spPr>
          <a:xfrm>
            <a:off x="5414028" y="1627632"/>
            <a:ext cx="2112654" cy="4572000"/>
          </a:xfrm>
          <a:prstGeom prst="rect">
            <a:avLst/>
          </a:prstGeom>
        </p:spPr>
      </p:pic>
      <p:sp>
        <p:nvSpPr>
          <p:cNvPr id="10" name="kart-468"/>
          <p:cNvSpPr/>
          <p:nvPr/>
        </p:nvSpPr>
        <p:spPr>
          <a:xfrm>
            <a:off x="7726680" y="1600200"/>
            <a:ext cx="3913632" cy="786384"/>
          </a:xfrm>
          <a:prstGeom prst="roundRect">
            <a:avLst>
              <a:gd name="adj" fmla="val 13953"/>
            </a:avLst>
          </a:prstGeom>
          <a:solidFill>
            <a:schemeClr val="bg2"/>
          </a:solidFill>
          <a:ln/>
        </p:spPr>
      </p:sp>
      <p:sp>
        <p:nvSpPr>
          <p:cNvPr id="11" name="ikon-zemin-469"/>
          <p:cNvSpPr/>
          <p:nvPr/>
        </p:nvSpPr>
        <p:spPr>
          <a:xfrm>
            <a:off x="7882128" y="1755648"/>
            <a:ext cx="475488" cy="475488"/>
          </a:xfrm>
          <a:prstGeom prst="ellipse">
            <a:avLst/>
          </a:prstGeom>
          <a:solidFill>
            <a:schemeClr val="accent2"/>
          </a:solidFill>
          <a:ln/>
        </p:spPr>
      </p:sp>
      <p:pic>
        <p:nvPicPr>
          <p:cNvPr id="12" name="ikon-470" descr="preencoded.png">    </p:cNvPr>
          <p:cNvPicPr>
            <a:picLocks noChangeAspect="1"/>
          </p:cNvPicPr>
          <p:nvPr/>
        </p:nvPicPr>
        <p:blipFill>
          <a:blip r:embed="rId4"/>
          <a:stretch>
            <a:fillRect/>
          </a:stretch>
        </p:blipFill>
        <p:spPr>
          <a:xfrm>
            <a:off x="7986735" y="1860255"/>
            <a:ext cx="266273" cy="266273"/>
          </a:xfrm>
          <a:prstGeom prst="rect">
            <a:avLst/>
          </a:prstGeom>
        </p:spPr>
      </p:pic>
      <p:sp>
        <p:nvSpPr>
          <p:cNvPr id="13" name="metin-471"/>
          <p:cNvSpPr txBox="1"/>
          <p:nvPr/>
        </p:nvSpPr>
        <p:spPr>
          <a:xfrm>
            <a:off x="8503920" y="1691640"/>
            <a:ext cx="3063240" cy="301752"/>
          </a:xfrm>
          <a:prstGeom prst="rect">
            <a:avLst/>
          </a:prstGeom>
          <a:noFill/>
          <a:ln/>
        </p:spPr>
        <p:txBody>
          <a:bodyPr wrap="square" lIns="0" tIns="0" rIns="0" bIns="0" rtlCol="0" anchor="t"/>
          <a:lstStyle/>
          <a:p>
            <a:pPr indent="0" marL="0">
              <a:buNone/>
            </a:pPr>
            <a:r>
              <a:rPr lang="en-US" sz="1500" b="1" dirty="0">
                <a:solidFill>
                  <a:schemeClr val="tx1"/>
                </a:solidFill>
              </a:rPr>
              <a:t>Expo SDK 58 · React Native 0.88</a:t>
            </a:r>
            <a:endParaRPr lang="en-US" sz="1500" dirty="0"/>
          </a:p>
        </p:txBody>
      </p:sp>
      <p:sp>
        <p:nvSpPr>
          <p:cNvPr id="14" name="metin-472"/>
          <p:cNvSpPr txBox="1"/>
          <p:nvPr/>
        </p:nvSpPr>
        <p:spPr>
          <a:xfrm>
            <a:off x="8503920" y="2002536"/>
            <a:ext cx="3063240" cy="292608"/>
          </a:xfrm>
          <a:prstGeom prst="rect">
            <a:avLst/>
          </a:prstGeom>
          <a:noFill/>
          <a:ln/>
        </p:spPr>
        <p:txBody>
          <a:bodyPr wrap="square" lIns="0" tIns="0" rIns="0" bIns="0" rtlCol="0" anchor="t"/>
          <a:lstStyle/>
          <a:p>
            <a:pPr indent="0" marL="0">
              <a:buNone/>
            </a:pPr>
            <a:r>
              <a:rPr lang="en-US" sz="1200" dirty="0">
                <a:solidFill>
                  <a:schemeClr val="tx2"/>
                </a:solidFill>
              </a:rPr>
              <a:t>Yeni mimari, Hermes JS motoru</a:t>
            </a:r>
            <a:endParaRPr lang="en-US" sz="1200" dirty="0"/>
          </a:p>
        </p:txBody>
      </p:sp>
      <p:sp>
        <p:nvSpPr>
          <p:cNvPr id="15" name="kart-473"/>
          <p:cNvSpPr/>
          <p:nvPr/>
        </p:nvSpPr>
        <p:spPr>
          <a:xfrm>
            <a:off x="7726680" y="2514600"/>
            <a:ext cx="3913632" cy="786384"/>
          </a:xfrm>
          <a:prstGeom prst="roundRect">
            <a:avLst>
              <a:gd name="adj" fmla="val 13953"/>
            </a:avLst>
          </a:prstGeom>
          <a:solidFill>
            <a:schemeClr val="bg2"/>
          </a:solidFill>
          <a:ln/>
        </p:spPr>
      </p:sp>
      <p:sp>
        <p:nvSpPr>
          <p:cNvPr id="16" name="ikon-zemin-474"/>
          <p:cNvSpPr/>
          <p:nvPr/>
        </p:nvSpPr>
        <p:spPr>
          <a:xfrm>
            <a:off x="7882128" y="2670048"/>
            <a:ext cx="475488" cy="475488"/>
          </a:xfrm>
          <a:prstGeom prst="ellipse">
            <a:avLst/>
          </a:prstGeom>
          <a:solidFill>
            <a:schemeClr val="accent2"/>
          </a:solidFill>
          <a:ln/>
        </p:spPr>
      </p:sp>
      <p:pic>
        <p:nvPicPr>
          <p:cNvPr id="17" name="ikon-475" descr="preencoded.png">    </p:cNvPr>
          <p:cNvPicPr>
            <a:picLocks noChangeAspect="1"/>
          </p:cNvPicPr>
          <p:nvPr/>
        </p:nvPicPr>
        <p:blipFill>
          <a:blip r:embed="rId5"/>
          <a:stretch>
            <a:fillRect/>
          </a:stretch>
        </p:blipFill>
        <p:spPr>
          <a:xfrm>
            <a:off x="7986735" y="2774655"/>
            <a:ext cx="266273" cy="266273"/>
          </a:xfrm>
          <a:prstGeom prst="rect">
            <a:avLst/>
          </a:prstGeom>
        </p:spPr>
      </p:pic>
      <p:sp>
        <p:nvSpPr>
          <p:cNvPr id="18" name="metin-476"/>
          <p:cNvSpPr txBox="1"/>
          <p:nvPr/>
        </p:nvSpPr>
        <p:spPr>
          <a:xfrm>
            <a:off x="8503920" y="2606040"/>
            <a:ext cx="3063240" cy="301752"/>
          </a:xfrm>
          <a:prstGeom prst="rect">
            <a:avLst/>
          </a:prstGeom>
          <a:noFill/>
          <a:ln/>
        </p:spPr>
        <p:txBody>
          <a:bodyPr wrap="square" lIns="0" tIns="0" rIns="0" bIns="0" rtlCol="0" anchor="t"/>
          <a:lstStyle/>
          <a:p>
            <a:pPr indent="0" marL="0">
              <a:buNone/>
            </a:pPr>
            <a:r>
              <a:rPr lang="en-US" sz="1500" b="1" dirty="0">
                <a:solidFill>
                  <a:schemeClr val="tx1"/>
                </a:solidFill>
              </a:rPr>
              <a:t>Zustand global durum</a:t>
            </a:r>
            <a:endParaRPr lang="en-US" sz="1500" dirty="0"/>
          </a:p>
        </p:txBody>
      </p:sp>
      <p:sp>
        <p:nvSpPr>
          <p:cNvPr id="19" name="metin-477"/>
          <p:cNvSpPr txBox="1"/>
          <p:nvPr/>
        </p:nvSpPr>
        <p:spPr>
          <a:xfrm>
            <a:off x="8503920" y="2916936"/>
            <a:ext cx="3063240" cy="292608"/>
          </a:xfrm>
          <a:prstGeom prst="rect">
            <a:avLst/>
          </a:prstGeom>
          <a:noFill/>
          <a:ln/>
        </p:spPr>
        <p:txBody>
          <a:bodyPr wrap="square" lIns="0" tIns="0" rIns="0" bIns="0" rtlCol="0" anchor="t"/>
          <a:lstStyle/>
          <a:p>
            <a:pPr indent="0" marL="0">
              <a:buNone/>
            </a:pPr>
            <a:r>
              <a:rPr lang="en-US" sz="1200" dirty="0">
                <a:solidFill>
                  <a:schemeClr val="tx2"/>
                </a:solidFill>
              </a:rPr>
              <a:t>Tek store; beş sekme aynı veriyi kullanır</a:t>
            </a:r>
            <a:endParaRPr lang="en-US" sz="1200" dirty="0"/>
          </a:p>
        </p:txBody>
      </p:sp>
      <p:sp>
        <p:nvSpPr>
          <p:cNvPr id="20" name="kart-478"/>
          <p:cNvSpPr/>
          <p:nvPr/>
        </p:nvSpPr>
        <p:spPr>
          <a:xfrm>
            <a:off x="7726680" y="3429000"/>
            <a:ext cx="3913632" cy="786384"/>
          </a:xfrm>
          <a:prstGeom prst="roundRect">
            <a:avLst>
              <a:gd name="adj" fmla="val 13953"/>
            </a:avLst>
          </a:prstGeom>
          <a:solidFill>
            <a:schemeClr val="bg2"/>
          </a:solidFill>
          <a:ln/>
        </p:spPr>
      </p:sp>
      <p:sp>
        <p:nvSpPr>
          <p:cNvPr id="21" name="ikon-zemin-479"/>
          <p:cNvSpPr/>
          <p:nvPr/>
        </p:nvSpPr>
        <p:spPr>
          <a:xfrm>
            <a:off x="7882128" y="3584448"/>
            <a:ext cx="475488" cy="475488"/>
          </a:xfrm>
          <a:prstGeom prst="ellipse">
            <a:avLst/>
          </a:prstGeom>
          <a:solidFill>
            <a:schemeClr val="accent2"/>
          </a:solidFill>
          <a:ln/>
        </p:spPr>
      </p:sp>
      <p:pic>
        <p:nvPicPr>
          <p:cNvPr id="22" name="ikon-480" descr="preencoded.png">    </p:cNvPr>
          <p:cNvPicPr>
            <a:picLocks noChangeAspect="1"/>
          </p:cNvPicPr>
          <p:nvPr/>
        </p:nvPicPr>
        <p:blipFill>
          <a:blip r:embed="rId6"/>
          <a:stretch>
            <a:fillRect/>
          </a:stretch>
        </p:blipFill>
        <p:spPr>
          <a:xfrm>
            <a:off x="7986735" y="3689055"/>
            <a:ext cx="266273" cy="266273"/>
          </a:xfrm>
          <a:prstGeom prst="rect">
            <a:avLst/>
          </a:prstGeom>
        </p:spPr>
      </p:pic>
      <p:sp>
        <p:nvSpPr>
          <p:cNvPr id="23" name="metin-481"/>
          <p:cNvSpPr txBox="1"/>
          <p:nvPr/>
        </p:nvSpPr>
        <p:spPr>
          <a:xfrm>
            <a:off x="8503920" y="3520440"/>
            <a:ext cx="3063240" cy="301752"/>
          </a:xfrm>
          <a:prstGeom prst="rect">
            <a:avLst/>
          </a:prstGeom>
          <a:noFill/>
          <a:ln/>
        </p:spPr>
        <p:txBody>
          <a:bodyPr wrap="square" lIns="0" tIns="0" rIns="0" bIns="0" rtlCol="0" anchor="t"/>
          <a:lstStyle/>
          <a:p>
            <a:pPr indent="0" marL="0">
              <a:buNone/>
            </a:pPr>
            <a:r>
              <a:rPr lang="en-US" sz="1500" b="1" dirty="0">
                <a:solidFill>
                  <a:schemeClr val="tx1"/>
                </a:solidFill>
              </a:rPr>
              <a:t>15 sn canlı yenileme</a:t>
            </a:r>
            <a:endParaRPr lang="en-US" sz="1500" dirty="0"/>
          </a:p>
        </p:txBody>
      </p:sp>
      <p:sp>
        <p:nvSpPr>
          <p:cNvPr id="24" name="metin-482"/>
          <p:cNvSpPr txBox="1"/>
          <p:nvPr/>
        </p:nvSpPr>
        <p:spPr>
          <a:xfrm>
            <a:off x="8503920" y="3831336"/>
            <a:ext cx="3063240" cy="292608"/>
          </a:xfrm>
          <a:prstGeom prst="rect">
            <a:avLst/>
          </a:prstGeom>
          <a:noFill/>
          <a:ln/>
        </p:spPr>
        <p:txBody>
          <a:bodyPr wrap="square" lIns="0" tIns="0" rIns="0" bIns="0" rtlCol="0" anchor="t"/>
          <a:lstStyle/>
          <a:p>
            <a:pPr indent="0" marL="0">
              <a:buNone/>
            </a:pPr>
            <a:r>
              <a:rPr lang="en-US" sz="1200" dirty="0">
                <a:solidFill>
                  <a:schemeClr val="tx2"/>
                </a:solidFill>
              </a:rPr>
              <a:t>Arka planda durur; aşağı çekince yenilenir</a:t>
            </a:r>
            <a:endParaRPr lang="en-US" sz="1200" dirty="0"/>
          </a:p>
        </p:txBody>
      </p:sp>
      <p:sp>
        <p:nvSpPr>
          <p:cNvPr id="25" name="kart-483"/>
          <p:cNvSpPr/>
          <p:nvPr/>
        </p:nvSpPr>
        <p:spPr>
          <a:xfrm>
            <a:off x="7726680" y="4343400"/>
            <a:ext cx="3913632" cy="786384"/>
          </a:xfrm>
          <a:prstGeom prst="roundRect">
            <a:avLst>
              <a:gd name="adj" fmla="val 13953"/>
            </a:avLst>
          </a:prstGeom>
          <a:solidFill>
            <a:schemeClr val="bg2"/>
          </a:solidFill>
          <a:ln/>
        </p:spPr>
      </p:sp>
      <p:sp>
        <p:nvSpPr>
          <p:cNvPr id="26" name="ikon-zemin-484"/>
          <p:cNvSpPr/>
          <p:nvPr/>
        </p:nvSpPr>
        <p:spPr>
          <a:xfrm>
            <a:off x="7882128" y="4498848"/>
            <a:ext cx="475488" cy="475488"/>
          </a:xfrm>
          <a:prstGeom prst="ellipse">
            <a:avLst/>
          </a:prstGeom>
          <a:solidFill>
            <a:schemeClr val="accent2"/>
          </a:solidFill>
          <a:ln/>
        </p:spPr>
      </p:sp>
      <p:pic>
        <p:nvPicPr>
          <p:cNvPr id="27" name="ikon-485" descr="preencoded.png">    </p:cNvPr>
          <p:cNvPicPr>
            <a:picLocks noChangeAspect="1"/>
          </p:cNvPicPr>
          <p:nvPr/>
        </p:nvPicPr>
        <p:blipFill>
          <a:blip r:embed="rId7"/>
          <a:stretch>
            <a:fillRect/>
          </a:stretch>
        </p:blipFill>
        <p:spPr>
          <a:xfrm>
            <a:off x="7986735" y="4603455"/>
            <a:ext cx="266273" cy="266273"/>
          </a:xfrm>
          <a:prstGeom prst="rect">
            <a:avLst/>
          </a:prstGeom>
        </p:spPr>
      </p:pic>
      <p:sp>
        <p:nvSpPr>
          <p:cNvPr id="28" name="metin-486"/>
          <p:cNvSpPr txBox="1"/>
          <p:nvPr/>
        </p:nvSpPr>
        <p:spPr>
          <a:xfrm>
            <a:off x="8503920" y="4434840"/>
            <a:ext cx="3063240" cy="301752"/>
          </a:xfrm>
          <a:prstGeom prst="rect">
            <a:avLst/>
          </a:prstGeom>
          <a:noFill/>
          <a:ln/>
        </p:spPr>
        <p:txBody>
          <a:bodyPr wrap="square" lIns="0" tIns="0" rIns="0" bIns="0" rtlCol="0" anchor="t"/>
          <a:lstStyle/>
          <a:p>
            <a:pPr indent="0" marL="0">
              <a:buNone/>
            </a:pPr>
            <a:r>
              <a:rPr lang="en-US" sz="1500" b="1" dirty="0">
                <a:solidFill>
                  <a:schemeClr val="tx1"/>
                </a:solidFill>
              </a:rPr>
              <a:t>Ayarlanabilir sunucu</a:t>
            </a:r>
            <a:endParaRPr lang="en-US" sz="1500" dirty="0"/>
          </a:p>
        </p:txBody>
      </p:sp>
      <p:sp>
        <p:nvSpPr>
          <p:cNvPr id="29" name="metin-487"/>
          <p:cNvSpPr txBox="1"/>
          <p:nvPr/>
        </p:nvSpPr>
        <p:spPr>
          <a:xfrm>
            <a:off x="8503920" y="4745736"/>
            <a:ext cx="3063240" cy="292608"/>
          </a:xfrm>
          <a:prstGeom prst="rect">
            <a:avLst/>
          </a:prstGeom>
          <a:noFill/>
          <a:ln/>
        </p:spPr>
        <p:txBody>
          <a:bodyPr wrap="square" lIns="0" tIns="0" rIns="0" bIns="0" rtlCol="0" anchor="t"/>
          <a:lstStyle/>
          <a:p>
            <a:pPr indent="0" marL="0">
              <a:buNone/>
            </a:pPr>
            <a:r>
              <a:rPr lang="en-US" sz="1200" dirty="0">
                <a:solidFill>
                  <a:schemeClr val="tx2"/>
                </a:solidFill>
              </a:rPr>
              <a:t>IP adresi cihazda saklanır (AsyncStorage)</a:t>
            </a:r>
            <a:endParaRPr lang="en-US" sz="1200" dirty="0"/>
          </a:p>
        </p:txBody>
      </p:sp>
      <p:sp>
        <p:nvSpPr>
          <p:cNvPr id="30" name="kart-488"/>
          <p:cNvSpPr/>
          <p:nvPr/>
        </p:nvSpPr>
        <p:spPr>
          <a:xfrm>
            <a:off x="7726680" y="5257800"/>
            <a:ext cx="3913632" cy="786384"/>
          </a:xfrm>
          <a:prstGeom prst="roundRect">
            <a:avLst>
              <a:gd name="adj" fmla="val 13953"/>
            </a:avLst>
          </a:prstGeom>
          <a:solidFill>
            <a:schemeClr val="bg2"/>
          </a:solidFill>
          <a:ln/>
        </p:spPr>
      </p:sp>
      <p:sp>
        <p:nvSpPr>
          <p:cNvPr id="31" name="ikon-zemin-489"/>
          <p:cNvSpPr/>
          <p:nvPr/>
        </p:nvSpPr>
        <p:spPr>
          <a:xfrm>
            <a:off x="7882128" y="5413248"/>
            <a:ext cx="475488" cy="475488"/>
          </a:xfrm>
          <a:prstGeom prst="ellipse">
            <a:avLst/>
          </a:prstGeom>
          <a:solidFill>
            <a:schemeClr val="accent2"/>
          </a:solidFill>
          <a:ln/>
        </p:spPr>
      </p:sp>
      <p:pic>
        <p:nvPicPr>
          <p:cNvPr id="32" name="ikon-490" descr="preencoded.png">    </p:cNvPr>
          <p:cNvPicPr>
            <a:picLocks noChangeAspect="1"/>
          </p:cNvPicPr>
          <p:nvPr/>
        </p:nvPicPr>
        <p:blipFill>
          <a:blip r:embed="rId8"/>
          <a:stretch>
            <a:fillRect/>
          </a:stretch>
        </p:blipFill>
        <p:spPr>
          <a:xfrm>
            <a:off x="7986735" y="5517855"/>
            <a:ext cx="266273" cy="266273"/>
          </a:xfrm>
          <a:prstGeom prst="rect">
            <a:avLst/>
          </a:prstGeom>
        </p:spPr>
      </p:pic>
      <p:sp>
        <p:nvSpPr>
          <p:cNvPr id="33" name="metin-491"/>
          <p:cNvSpPr txBox="1"/>
          <p:nvPr/>
        </p:nvSpPr>
        <p:spPr>
          <a:xfrm>
            <a:off x="8503920" y="5349240"/>
            <a:ext cx="3063240" cy="301752"/>
          </a:xfrm>
          <a:prstGeom prst="rect">
            <a:avLst/>
          </a:prstGeom>
          <a:noFill/>
          <a:ln/>
        </p:spPr>
        <p:txBody>
          <a:bodyPr wrap="square" lIns="0" tIns="0" rIns="0" bIns="0" rtlCol="0" anchor="t"/>
          <a:lstStyle/>
          <a:p>
            <a:pPr indent="0" marL="0">
              <a:buNone/>
            </a:pPr>
            <a:r>
              <a:rPr lang="en-US" sz="1500" b="1" dirty="0">
                <a:solidFill>
                  <a:schemeClr val="tx1"/>
                </a:solidFill>
              </a:rPr>
              <a:t>APK · 43,6 MB</a:t>
            </a:r>
            <a:endParaRPr lang="en-US" sz="1500" dirty="0"/>
          </a:p>
        </p:txBody>
      </p:sp>
      <p:sp>
        <p:nvSpPr>
          <p:cNvPr id="34" name="metin-492"/>
          <p:cNvSpPr txBox="1"/>
          <p:nvPr/>
        </p:nvSpPr>
        <p:spPr>
          <a:xfrm>
            <a:off x="8503920" y="5660136"/>
            <a:ext cx="3063240" cy="292608"/>
          </a:xfrm>
          <a:prstGeom prst="rect">
            <a:avLst/>
          </a:prstGeom>
          <a:noFill/>
          <a:ln/>
        </p:spPr>
        <p:txBody>
          <a:bodyPr wrap="square" lIns="0" tIns="0" rIns="0" bIns="0" rtlCol="0" anchor="t"/>
          <a:lstStyle/>
          <a:p>
            <a:pPr indent="0" marL="0">
              <a:buNone/>
            </a:pPr>
            <a:r>
              <a:rPr lang="en-US" sz="1200" dirty="0">
                <a:solidFill>
                  <a:schemeClr val="tx2"/>
                </a:solidFill>
              </a:rPr>
              <a:t>Android 7.0+ (minSdk 24) · arm64 / armv7</a:t>
            </a:r>
            <a:endParaRPr lang="en-US" sz="12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B6B6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8229600" cy="274320"/>
          </a:xfrm>
          <a:prstGeom prst="rect">
            <a:avLst/>
          </a:prstGeom>
          <a:noFill/>
          <a:ln/>
        </p:spPr>
        <p:txBody>
          <a:bodyPr wrap="square" lIns="0" tIns="0" rIns="0" bIns="0" rtlCol="0" anchor="t"/>
          <a:lstStyle/>
          <a:p>
            <a:pPr indent="0" marL="0">
              <a:buNone/>
            </a:pPr>
            <a:r>
              <a:rPr lang="en-US" sz="1200" b="1" spc="150" kern="0" dirty="0">
                <a:solidFill>
                  <a:schemeClr val="accent2"/>
                </a:solidFill>
              </a:rPr>
              <a:t>REST API</a:t>
            </a:r>
            <a:endParaRPr lang="en-US" sz="1200" dirty="0"/>
          </a:p>
        </p:txBody>
      </p:sp>
      <p:sp>
        <p:nvSpPr>
          <p:cNvPr id="3" name="Text 0"/>
          <p:cNvSpPr/>
          <p:nvPr>
            <p:ph idx="101" type="title" hasCustomPrompt="1"/>
          </p:nvPr>
        </p:nvSpPr>
        <p:spPr>
          <a:xfrm>
            <a:off x="548640" y="621792"/>
            <a:ext cx="11091672" cy="731520"/>
          </a:xfrm>
          <a:prstGeom prst="rect">
            <a:avLst/>
          </a:prstGeom>
          <a:noFill/>
          <a:ln/>
        </p:spPr>
        <p:txBody>
          <a:bodyPr wrap="square" lIns="0" tIns="0" rIns="0" bIns="0" rtlCol="0" anchor="t"/>
          <a:lstStyle/>
          <a:p>
            <a:pPr algn="l" indent="0" marL="0">
              <a:buNone/>
            </a:pPr>
            <a:r>
              <a:rPr lang="en-US" sz="3000" b="1" dirty="0">
                <a:solidFill>
                  <a:schemeClr val="tx1"/>
                </a:solidFill>
              </a:rPr>
              <a:t>İstemciler durumu okur, komut gönderir; hesap sunucuda</a:t>
            </a:r>
            <a:endParaRPr lang="en-US" sz="3000" dirty="0"/>
          </a:p>
        </p:txBody>
      </p:sp>
      <p:graphicFrame>
        <p:nvGraphicFramePr>
          <p:cNvPr id="16" name="api-tablosu"/>
          <p:cNvGraphicFramePr>
            <a:graphicFrameLocks noGrp="1"/>
          </p:cNvGraphicFramePr>
          <p:nvPr>
            <p:extLst>
              <p:ext uri="{D42A27DB-BD31-4B8C-83A1-F6EECF244321}">
                <p14:modId xmlns:p14="http://schemas.microsoft.com/office/powerpoint/2010/main" val="1579011935"/>
              </p:ext>
            </p:extLst>
          </p:nvPr>
        </p:nvGraphicFramePr>
        <p:xfrm>
          <a:off x="548640" y="1600200"/>
          <a:ext cx="7772400" cy="914400"/>
        </p:xfrm>
        <a:graphic>
          <a:graphicData uri="http://schemas.openxmlformats.org/drawingml/2006/table">
            <a:tbl>
              <a:tblPr/>
              <a:tblGrid>
                <a:gridCol w="777240"/>
                <a:gridCol w="2331720"/>
                <a:gridCol w="3657600"/>
                <a:gridCol w="1005840"/>
              </a:tblGrid>
              <a:tr h="411480">
                <a:tc>
                  <a:txBody>
                    <a:bodyPr/>
                    <a:lstStyle/>
                    <a:p>
                      <a:pPr indent="0" marL="0">
                        <a:buNone/>
                      </a:pPr>
                      <a:r>
                        <a:rPr lang="en-US" sz="1300" b="1" dirty="0">
                          <a:solidFill>
                            <a:srgbClr val="FFFFFF"/>
                          </a:solidFill>
                        </a:rPr>
                        <a:t>Yöntem</a:t>
                      </a:r>
                      <a:endParaRPr lang="en-US" sz="1300" dirty="0"/>
                    </a:p>
                  </a:txBody>
                  <a:tcPr marL="91440" marR="91440" marT="0" marB="0" anchor="ctr">
                    <a:lnL w="0" cap="flat" cmpd="sng" algn="ctr">
                      <a:noFill/>
                    </a:lnL>
                    <a:lnR w="0" cap="flat" cmpd="sng" algn="ctr">
                      <a:noFill/>
                    </a:lnR>
                    <a:lnT w="0" cap="flat" cmpd="sng" algn="ctr">
                      <a:noFill/>
                    </a:lnT>
                    <a:lnB w="0" cap="flat" cmpd="sng" algn="ctr">
                      <a:noFill/>
                    </a:lnB>
                    <a:solidFill>
                      <a:srgbClr val="16211D"/>
                    </a:solidFill>
                  </a:tcPr>
                </a:tc>
                <a:tc>
                  <a:txBody>
                    <a:bodyPr/>
                    <a:lstStyle/>
                    <a:p>
                      <a:pPr indent="0" marL="0">
                        <a:buNone/>
                      </a:pPr>
                      <a:r>
                        <a:rPr lang="en-US" sz="1300" b="1" dirty="0">
                          <a:solidFill>
                            <a:srgbClr val="FFFFFF"/>
                          </a:solidFill>
                        </a:rPr>
                        <a:t>Uç nokta</a:t>
                      </a:r>
                      <a:endParaRPr lang="en-US" sz="1300" dirty="0"/>
                    </a:p>
                  </a:txBody>
                  <a:tcPr marL="91440" marR="91440" marT="0" marB="0" anchor="ctr">
                    <a:lnL w="0" cap="flat" cmpd="sng" algn="ctr">
                      <a:noFill/>
                    </a:lnL>
                    <a:lnR w="0" cap="flat" cmpd="sng" algn="ctr">
                      <a:noFill/>
                    </a:lnR>
                    <a:lnT w="0" cap="flat" cmpd="sng" algn="ctr">
                      <a:noFill/>
                    </a:lnT>
                    <a:lnB w="0" cap="flat" cmpd="sng" algn="ctr">
                      <a:noFill/>
                    </a:lnB>
                    <a:solidFill>
                      <a:srgbClr val="16211D"/>
                    </a:solidFill>
                  </a:tcPr>
                </a:tc>
                <a:tc>
                  <a:txBody>
                    <a:bodyPr/>
                    <a:lstStyle/>
                    <a:p>
                      <a:pPr indent="0" marL="0">
                        <a:buNone/>
                      </a:pPr>
                      <a:r>
                        <a:rPr lang="en-US" sz="1300" b="1" dirty="0">
                          <a:solidFill>
                            <a:srgbClr val="FFFFFF"/>
                          </a:solidFill>
                        </a:rPr>
                        <a:t>Görev</a:t>
                      </a:r>
                      <a:endParaRPr lang="en-US" sz="1300" dirty="0"/>
                    </a:p>
                  </a:txBody>
                  <a:tcPr marL="91440" marR="91440" marT="0" marB="0" anchor="ctr">
                    <a:lnL w="0" cap="flat" cmpd="sng" algn="ctr">
                      <a:noFill/>
                    </a:lnL>
                    <a:lnR w="0" cap="flat" cmpd="sng" algn="ctr">
                      <a:noFill/>
                    </a:lnR>
                    <a:lnT w="0" cap="flat" cmpd="sng" algn="ctr">
                      <a:noFill/>
                    </a:lnT>
                    <a:lnB w="0" cap="flat" cmpd="sng" algn="ctr">
                      <a:noFill/>
                    </a:lnB>
                    <a:solidFill>
                      <a:srgbClr val="16211D"/>
                    </a:solidFill>
                  </a:tcPr>
                </a:tc>
                <a:tc>
                  <a:txBody>
                    <a:bodyPr/>
                    <a:lstStyle/>
                    <a:p>
                      <a:pPr indent="0" marL="0">
                        <a:buNone/>
                      </a:pPr>
                      <a:r>
                        <a:rPr lang="en-US" sz="1300" b="1" dirty="0">
                          <a:solidFill>
                            <a:srgbClr val="FFFFFF"/>
                          </a:solidFill>
                        </a:rPr>
                        <a:t>Kalıcılık</a:t>
                      </a:r>
                      <a:endParaRPr lang="en-US" sz="1300" dirty="0"/>
                    </a:p>
                  </a:txBody>
                  <a:tcPr marL="91440" marR="91440" marT="0" marB="0" anchor="ctr">
                    <a:lnL w="0" cap="flat" cmpd="sng" algn="ctr">
                      <a:noFill/>
                    </a:lnL>
                    <a:lnR w="0" cap="flat" cmpd="sng" algn="ctr">
                      <a:noFill/>
                    </a:lnR>
                    <a:lnT w="0" cap="flat" cmpd="sng" algn="ctr">
                      <a:noFill/>
                    </a:lnT>
                    <a:lnB w="0" cap="flat" cmpd="sng" algn="ctr">
                      <a:noFill/>
                    </a:lnB>
                    <a:solidFill>
                      <a:srgbClr val="16211D"/>
                    </a:solidFill>
                  </a:tcPr>
                </a:tc>
              </a:tr>
              <a:tr h="411480">
                <a:tc>
                  <a:txBody>
                    <a:bodyPr/>
                    <a:lstStyle/>
                    <a:p>
                      <a:pPr indent="0" marL="0">
                        <a:buNone/>
                      </a:pPr>
                      <a:r>
                        <a:rPr lang="en-US" sz="1300" b="1" dirty="0">
                          <a:solidFill>
                            <a:srgbClr val="2F80C8"/>
                          </a:solidFill>
                        </a:rPr>
                        <a:t>GET</a:t>
                      </a:r>
                      <a:endParaRPr lang="en-US" sz="1300" dirty="0"/>
                    </a:p>
                  </a:txBody>
                  <a:tcPr marL="91440" marR="91440" marT="0" marB="0" anchor="ctr">
                    <a:lnL w="0" cap="flat" cmpd="sng" algn="ctr">
                      <a:noFill/>
                    </a:lnL>
                    <a:lnR w="0" cap="flat" cmpd="sng" algn="ctr">
                      <a:noFill/>
                    </a:lnR>
                    <a:lnT w="0" cap="flat" cmpd="sng" algn="ctr">
                      <a:noFill/>
                    </a:lnT>
                    <a:lnB w="0" cap="flat" cmpd="sng" algn="ctr">
                      <a:noFill/>
                    </a:lnB>
                    <a:solidFill>
                      <a:srgbClr val="EEF4F1"/>
                    </a:solidFill>
                  </a:tcPr>
                </a:tc>
                <a:tc>
                  <a:txBody>
                    <a:bodyPr/>
                    <a:lstStyle/>
                    <a:p>
                      <a:pPr indent="0" marL="0">
                        <a:buNone/>
                      </a:pPr>
                      <a:r>
                        <a:rPr lang="en-US" sz="1200" dirty="0">
                          <a:solidFill>
                            <a:srgbClr val="16211D"/>
                          </a:solidFill>
                          <a:latin typeface="Courier New" pitchFamily="34" charset="0"/>
                          <a:ea typeface="Courier New" pitchFamily="34" charset="-122"/>
                          <a:cs typeface="Courier New" pitchFamily="34" charset="-120"/>
                        </a:rPr>
                        <a:t>/api/live-data</a:t>
                      </a:r>
                      <a:endParaRPr lang="en-US" sz="1200" dirty="0">
                        <a:latin typeface="Courier New" charset="0"/>
                        <a:ea typeface="Courier New" charset="0"/>
                        <a:cs typeface="Courier New"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EEF4F1"/>
                    </a:solidFill>
                  </a:tcPr>
                </a:tc>
                <a:tc>
                  <a:txBody>
                    <a:bodyPr/>
                    <a:lstStyle/>
                    <a:p>
                      <a:pPr indent="0" marL="0">
                        <a:buNone/>
                      </a:pPr>
                      <a:r>
                        <a:rPr lang="en-US" sz="1300" dirty="0">
                          <a:solidFill>
                            <a:srgbClr val="16211D"/>
                          </a:solidFill>
                        </a:rPr>
                        <a:t>Tüm durumu tek çağrıda döndürür</a:t>
                      </a:r>
                      <a:endParaRPr lang="en-US" sz="1300" dirty="0"/>
                    </a:p>
                  </a:txBody>
                  <a:tcPr marL="91440" marR="91440" marT="0" marB="0" anchor="ctr">
                    <a:lnL w="0" cap="flat" cmpd="sng" algn="ctr">
                      <a:noFill/>
                    </a:lnL>
                    <a:lnR w="0" cap="flat" cmpd="sng" algn="ctr">
                      <a:noFill/>
                    </a:lnR>
                    <a:lnT w="0" cap="flat" cmpd="sng" algn="ctr">
                      <a:noFill/>
                    </a:lnT>
                    <a:lnB w="0" cap="flat" cmpd="sng" algn="ctr">
                      <a:noFill/>
                    </a:lnB>
                    <a:solidFill>
                      <a:srgbClr val="EEF4F1"/>
                    </a:solidFill>
                  </a:tcPr>
                </a:tc>
                <a:tc>
                  <a:txBody>
                    <a:bodyPr/>
                    <a:lstStyle/>
                    <a:p>
                      <a:pPr indent="0" marL="0">
                        <a:buNone/>
                      </a:pPr>
                      <a:r>
                        <a:rPr lang="en-US" sz="1300" dirty="0">
                          <a:solidFill>
                            <a:srgbClr val="16211D"/>
                          </a:solidFill>
                        </a:rPr>
                        <a:t>okuma</a:t>
                      </a:r>
                      <a:endParaRPr lang="en-US" sz="1300" dirty="0"/>
                    </a:p>
                  </a:txBody>
                  <a:tcPr marL="91440" marR="91440" marT="0" marB="0" anchor="ctr">
                    <a:lnL w="0" cap="flat" cmpd="sng" algn="ctr">
                      <a:noFill/>
                    </a:lnL>
                    <a:lnR w="0" cap="flat" cmpd="sng" algn="ctr">
                      <a:noFill/>
                    </a:lnR>
                    <a:lnT w="0" cap="flat" cmpd="sng" algn="ctr">
                      <a:noFill/>
                    </a:lnT>
                    <a:lnB w="0" cap="flat" cmpd="sng" algn="ctr">
                      <a:noFill/>
                    </a:lnB>
                    <a:solidFill>
                      <a:srgbClr val="EEF4F1"/>
                    </a:solidFill>
                  </a:tcPr>
                </a:tc>
              </a:tr>
              <a:tr h="411480">
                <a:tc>
                  <a:txBody>
                    <a:bodyPr/>
                    <a:lstStyle/>
                    <a:p>
                      <a:pPr indent="0" marL="0">
                        <a:buNone/>
                      </a:pPr>
                      <a:r>
                        <a:rPr lang="en-US" sz="1300" b="1" dirty="0">
                          <a:solidFill>
                            <a:srgbClr val="0A7A5C"/>
                          </a:solidFill>
                        </a:rPr>
                        <a:t>POST</a:t>
                      </a:r>
                      <a:endParaRPr lang="en-US" sz="1300" dirty="0"/>
                    </a:p>
                  </a:txBody>
                  <a:tcPr marL="91440" marR="9144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200" dirty="0">
                          <a:solidFill>
                            <a:srgbClr val="16211D"/>
                          </a:solidFill>
                          <a:latin typeface="Courier New" pitchFamily="34" charset="0"/>
                          <a:ea typeface="Courier New" pitchFamily="34" charset="-122"/>
                          <a:cs typeface="Courier New" pitchFamily="34" charset="-120"/>
                        </a:rPr>
                        <a:t>/api/set-state</a:t>
                      </a:r>
                      <a:endParaRPr lang="en-US" sz="1200" dirty="0">
                        <a:latin typeface="Courier New" charset="0"/>
                        <a:ea typeface="Courier New" charset="0"/>
                        <a:cs typeface="Courier New"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dirty="0">
                          <a:solidFill>
                            <a:srgbClr val="16211D"/>
                          </a:solidFill>
                        </a:rPr>
                        <a:t>Simülasyon zamanı, şehir, aktif tarla</a:t>
                      </a:r>
                      <a:endParaRPr lang="en-US" sz="1300" dirty="0"/>
                    </a:p>
                  </a:txBody>
                  <a:tcPr marL="91440" marR="9144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dirty="0">
                          <a:solidFill>
                            <a:srgbClr val="16211D"/>
                          </a:solidFill>
                        </a:rPr>
                        <a:t>bellek</a:t>
                      </a:r>
                      <a:endParaRPr lang="en-US" sz="1300" dirty="0"/>
                    </a:p>
                  </a:txBody>
                  <a:tcPr marL="91440" marR="91440" marT="0" marB="0" anchor="ctr">
                    <a:lnL w="0" cap="flat" cmpd="sng" algn="ctr">
                      <a:noFill/>
                    </a:lnL>
                    <a:lnR w="0" cap="flat" cmpd="sng" algn="ctr">
                      <a:noFill/>
                    </a:lnR>
                    <a:lnT w="0" cap="flat" cmpd="sng" algn="ctr">
                      <a:noFill/>
                    </a:lnT>
                    <a:lnB w="0" cap="flat" cmpd="sng" algn="ctr">
                      <a:noFill/>
                    </a:lnB>
                    <a:solidFill>
                      <a:srgbClr val="FFFFFF"/>
                    </a:solidFill>
                  </a:tcPr>
                </a:tc>
              </a:tr>
              <a:tr h="411480">
                <a:tc>
                  <a:txBody>
                    <a:bodyPr/>
                    <a:lstStyle/>
                    <a:p>
                      <a:pPr indent="0" marL="0">
                        <a:buNone/>
                      </a:pPr>
                      <a:r>
                        <a:rPr lang="en-US" sz="1300" b="1" dirty="0">
                          <a:solidFill>
                            <a:srgbClr val="0A7A5C"/>
                          </a:solidFill>
                        </a:rPr>
                        <a:t>POST</a:t>
                      </a:r>
                      <a:endParaRPr lang="en-US" sz="1300" dirty="0"/>
                    </a:p>
                  </a:txBody>
                  <a:tcPr marL="91440" marR="91440" marT="0" marB="0" anchor="ctr">
                    <a:lnL w="0" cap="flat" cmpd="sng" algn="ctr">
                      <a:noFill/>
                    </a:lnL>
                    <a:lnR w="0" cap="flat" cmpd="sng" algn="ctr">
                      <a:noFill/>
                    </a:lnR>
                    <a:lnT w="0" cap="flat" cmpd="sng" algn="ctr">
                      <a:noFill/>
                    </a:lnT>
                    <a:lnB w="0" cap="flat" cmpd="sng" algn="ctr">
                      <a:noFill/>
                    </a:lnB>
                    <a:solidFill>
                      <a:srgbClr val="EEF4F1"/>
                    </a:solidFill>
                  </a:tcPr>
                </a:tc>
                <a:tc>
                  <a:txBody>
                    <a:bodyPr/>
                    <a:lstStyle/>
                    <a:p>
                      <a:pPr indent="0" marL="0">
                        <a:buNone/>
                      </a:pPr>
                      <a:r>
                        <a:rPr lang="en-US" sz="1200" dirty="0">
                          <a:solidFill>
                            <a:srgbClr val="16211D"/>
                          </a:solidFill>
                          <a:latin typeface="Courier New" pitchFamily="34" charset="0"/>
                          <a:ea typeface="Courier New" pitchFamily="34" charset="-122"/>
                          <a:cs typeface="Courier New" pitchFamily="34" charset="-120"/>
                        </a:rPr>
                        <a:t>/api/set-pump</a:t>
                      </a:r>
                      <a:endParaRPr lang="en-US" sz="1200" dirty="0">
                        <a:latin typeface="Courier New" charset="0"/>
                        <a:ea typeface="Courier New" charset="0"/>
                        <a:cs typeface="Courier New"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EEF4F1"/>
                    </a:solidFill>
                  </a:tcPr>
                </a:tc>
                <a:tc>
                  <a:txBody>
                    <a:bodyPr/>
                    <a:lstStyle/>
                    <a:p>
                      <a:pPr indent="0" marL="0">
                        <a:buNone/>
                      </a:pPr>
                      <a:r>
                        <a:rPr lang="en-US" sz="1300" dirty="0">
                          <a:solidFill>
                            <a:srgbClr val="16211D"/>
                          </a:solidFill>
                        </a:rPr>
                        <a:t>Pompa modu: auto / on / off</a:t>
                      </a:r>
                      <a:endParaRPr lang="en-US" sz="1300" dirty="0"/>
                    </a:p>
                  </a:txBody>
                  <a:tcPr marL="91440" marR="91440" marT="0" marB="0" anchor="ctr">
                    <a:lnL w="0" cap="flat" cmpd="sng" algn="ctr">
                      <a:noFill/>
                    </a:lnL>
                    <a:lnR w="0" cap="flat" cmpd="sng" algn="ctr">
                      <a:noFill/>
                    </a:lnR>
                    <a:lnT w="0" cap="flat" cmpd="sng" algn="ctr">
                      <a:noFill/>
                    </a:lnT>
                    <a:lnB w="0" cap="flat" cmpd="sng" algn="ctr">
                      <a:noFill/>
                    </a:lnB>
                    <a:solidFill>
                      <a:srgbClr val="EEF4F1"/>
                    </a:solidFill>
                  </a:tcPr>
                </a:tc>
                <a:tc>
                  <a:txBody>
                    <a:bodyPr/>
                    <a:lstStyle/>
                    <a:p>
                      <a:pPr indent="0" marL="0">
                        <a:buNone/>
                      </a:pPr>
                      <a:r>
                        <a:rPr lang="en-US" sz="1300" dirty="0">
                          <a:solidFill>
                            <a:srgbClr val="16211D"/>
                          </a:solidFill>
                        </a:rPr>
                        <a:t>bellek</a:t>
                      </a:r>
                      <a:endParaRPr lang="en-US" sz="1300" dirty="0"/>
                    </a:p>
                  </a:txBody>
                  <a:tcPr marL="91440" marR="91440" marT="0" marB="0" anchor="ctr">
                    <a:lnL w="0" cap="flat" cmpd="sng" algn="ctr">
                      <a:noFill/>
                    </a:lnL>
                    <a:lnR w="0" cap="flat" cmpd="sng" algn="ctr">
                      <a:noFill/>
                    </a:lnR>
                    <a:lnT w="0" cap="flat" cmpd="sng" algn="ctr">
                      <a:noFill/>
                    </a:lnT>
                    <a:lnB w="0" cap="flat" cmpd="sng" algn="ctr">
                      <a:noFill/>
                    </a:lnB>
                    <a:solidFill>
                      <a:srgbClr val="EEF4F1"/>
                    </a:solidFill>
                  </a:tcPr>
                </a:tc>
              </a:tr>
              <a:tr h="411480">
                <a:tc>
                  <a:txBody>
                    <a:bodyPr/>
                    <a:lstStyle/>
                    <a:p>
                      <a:pPr indent="0" marL="0">
                        <a:buNone/>
                      </a:pPr>
                      <a:r>
                        <a:rPr lang="en-US" sz="1300" b="1" dirty="0">
                          <a:solidFill>
                            <a:srgbClr val="0A7A5C"/>
                          </a:solidFill>
                        </a:rPr>
                        <a:t>POST</a:t>
                      </a:r>
                      <a:endParaRPr lang="en-US" sz="1300" dirty="0"/>
                    </a:p>
                  </a:txBody>
                  <a:tcPr marL="91440" marR="9144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200" dirty="0">
                          <a:solidFill>
                            <a:srgbClr val="16211D"/>
                          </a:solidFill>
                          <a:latin typeface="Courier New" pitchFamily="34" charset="0"/>
                          <a:ea typeface="Courier New" pitchFamily="34" charset="-122"/>
                          <a:cs typeface="Courier New" pitchFamily="34" charset="-120"/>
                        </a:rPr>
                        <a:t>/api/add-event</a:t>
                      </a:r>
                      <a:endParaRPr lang="en-US" sz="1200" dirty="0">
                        <a:latin typeface="Courier New" charset="0"/>
                        <a:ea typeface="Courier New" charset="0"/>
                        <a:cs typeface="Courier New"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dirty="0">
                          <a:solidFill>
                            <a:srgbClr val="16211D"/>
                          </a:solidFill>
                        </a:rPr>
                        <a:t>Ajandaya olay ekler (tarla + tarih)</a:t>
                      </a:r>
                      <a:endParaRPr lang="en-US" sz="1300" dirty="0"/>
                    </a:p>
                  </a:txBody>
                  <a:tcPr marL="91440" marR="9144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dirty="0">
                          <a:solidFill>
                            <a:srgbClr val="16211D"/>
                          </a:solidFill>
                        </a:rPr>
                        <a:t>db.json</a:t>
                      </a:r>
                      <a:endParaRPr lang="en-US" sz="1300" dirty="0"/>
                    </a:p>
                  </a:txBody>
                  <a:tcPr marL="91440" marR="91440" marT="0" marB="0" anchor="ctr">
                    <a:lnL w="0" cap="flat" cmpd="sng" algn="ctr">
                      <a:noFill/>
                    </a:lnL>
                    <a:lnR w="0" cap="flat" cmpd="sng" algn="ctr">
                      <a:noFill/>
                    </a:lnR>
                    <a:lnT w="0" cap="flat" cmpd="sng" algn="ctr">
                      <a:noFill/>
                    </a:lnT>
                    <a:lnB w="0" cap="flat" cmpd="sng" algn="ctr">
                      <a:noFill/>
                    </a:lnB>
                    <a:solidFill>
                      <a:srgbClr val="FFFFFF"/>
                    </a:solidFill>
                  </a:tcPr>
                </a:tc>
              </a:tr>
              <a:tr h="411480">
                <a:tc>
                  <a:txBody>
                    <a:bodyPr/>
                    <a:lstStyle/>
                    <a:p>
                      <a:pPr indent="0" marL="0">
                        <a:buNone/>
                      </a:pPr>
                      <a:r>
                        <a:rPr lang="en-US" sz="1300" b="1" dirty="0">
                          <a:solidFill>
                            <a:srgbClr val="0A7A5C"/>
                          </a:solidFill>
                        </a:rPr>
                        <a:t>POST</a:t>
                      </a:r>
                      <a:endParaRPr lang="en-US" sz="1300" dirty="0"/>
                    </a:p>
                  </a:txBody>
                  <a:tcPr marL="91440" marR="91440" marT="0" marB="0" anchor="ctr">
                    <a:lnL w="0" cap="flat" cmpd="sng" algn="ctr">
                      <a:noFill/>
                    </a:lnL>
                    <a:lnR w="0" cap="flat" cmpd="sng" algn="ctr">
                      <a:noFill/>
                    </a:lnR>
                    <a:lnT w="0" cap="flat" cmpd="sng" algn="ctr">
                      <a:noFill/>
                    </a:lnT>
                    <a:lnB w="0" cap="flat" cmpd="sng" algn="ctr">
                      <a:noFill/>
                    </a:lnB>
                    <a:solidFill>
                      <a:srgbClr val="EEF4F1"/>
                    </a:solidFill>
                  </a:tcPr>
                </a:tc>
                <a:tc>
                  <a:txBody>
                    <a:bodyPr/>
                    <a:lstStyle/>
                    <a:p>
                      <a:pPr indent="0" marL="0">
                        <a:buNone/>
                      </a:pPr>
                      <a:r>
                        <a:rPr lang="en-US" sz="1200" dirty="0">
                          <a:solidFill>
                            <a:srgbClr val="16211D"/>
                          </a:solidFill>
                          <a:latin typeface="Courier New" pitchFamily="34" charset="0"/>
                          <a:ea typeface="Courier New" pitchFamily="34" charset="-122"/>
                          <a:cs typeface="Courier New" pitchFamily="34" charset="-120"/>
                        </a:rPr>
                        <a:t>/api/remove-event</a:t>
                      </a:r>
                      <a:endParaRPr lang="en-US" sz="1200" dirty="0">
                        <a:latin typeface="Courier New" charset="0"/>
                        <a:ea typeface="Courier New" charset="0"/>
                        <a:cs typeface="Courier New"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EEF4F1"/>
                    </a:solidFill>
                  </a:tcPr>
                </a:tc>
                <a:tc>
                  <a:txBody>
                    <a:bodyPr/>
                    <a:lstStyle/>
                    <a:p>
                      <a:pPr indent="0" marL="0">
                        <a:buNone/>
                      </a:pPr>
                      <a:r>
                        <a:rPr lang="en-US" sz="1300" dirty="0">
                          <a:solidFill>
                            <a:srgbClr val="16211D"/>
                          </a:solidFill>
                        </a:rPr>
                        <a:t>Ajandadan olay siler</a:t>
                      </a:r>
                      <a:endParaRPr lang="en-US" sz="1300" dirty="0"/>
                    </a:p>
                  </a:txBody>
                  <a:tcPr marL="91440" marR="91440" marT="0" marB="0" anchor="ctr">
                    <a:lnL w="0" cap="flat" cmpd="sng" algn="ctr">
                      <a:noFill/>
                    </a:lnL>
                    <a:lnR w="0" cap="flat" cmpd="sng" algn="ctr">
                      <a:noFill/>
                    </a:lnR>
                    <a:lnT w="0" cap="flat" cmpd="sng" algn="ctr">
                      <a:noFill/>
                    </a:lnT>
                    <a:lnB w="0" cap="flat" cmpd="sng" algn="ctr">
                      <a:noFill/>
                    </a:lnB>
                    <a:solidFill>
                      <a:srgbClr val="EEF4F1"/>
                    </a:solidFill>
                  </a:tcPr>
                </a:tc>
                <a:tc>
                  <a:txBody>
                    <a:bodyPr/>
                    <a:lstStyle/>
                    <a:p>
                      <a:pPr indent="0" marL="0">
                        <a:buNone/>
                      </a:pPr>
                      <a:r>
                        <a:rPr lang="en-US" sz="1300" dirty="0">
                          <a:solidFill>
                            <a:srgbClr val="16211D"/>
                          </a:solidFill>
                        </a:rPr>
                        <a:t>db.json</a:t>
                      </a:r>
                      <a:endParaRPr lang="en-US" sz="1300" dirty="0"/>
                    </a:p>
                  </a:txBody>
                  <a:tcPr marL="91440" marR="91440" marT="0" marB="0" anchor="ctr">
                    <a:lnL w="0" cap="flat" cmpd="sng" algn="ctr">
                      <a:noFill/>
                    </a:lnL>
                    <a:lnR w="0" cap="flat" cmpd="sng" algn="ctr">
                      <a:noFill/>
                    </a:lnR>
                    <a:lnT w="0" cap="flat" cmpd="sng" algn="ctr">
                      <a:noFill/>
                    </a:lnT>
                    <a:lnB w="0" cap="flat" cmpd="sng" algn="ctr">
                      <a:noFill/>
                    </a:lnB>
                    <a:solidFill>
                      <a:srgbClr val="EEF4F1"/>
                    </a:solidFill>
                  </a:tcPr>
                </a:tc>
              </a:tr>
              <a:tr h="411480">
                <a:tc>
                  <a:txBody>
                    <a:bodyPr/>
                    <a:lstStyle/>
                    <a:p>
                      <a:pPr indent="0" marL="0">
                        <a:buNone/>
                      </a:pPr>
                      <a:r>
                        <a:rPr lang="en-US" sz="1300" b="1" dirty="0">
                          <a:solidFill>
                            <a:srgbClr val="0A7A5C"/>
                          </a:solidFill>
                        </a:rPr>
                        <a:t>POST</a:t>
                      </a:r>
                      <a:endParaRPr lang="en-US" sz="1300" dirty="0"/>
                    </a:p>
                  </a:txBody>
                  <a:tcPr marL="91440" marR="9144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200" dirty="0">
                          <a:solidFill>
                            <a:srgbClr val="16211D"/>
                          </a:solidFill>
                          <a:latin typeface="Courier New" pitchFamily="34" charset="0"/>
                          <a:ea typeface="Courier New" pitchFamily="34" charset="-122"/>
                          <a:cs typeface="Courier New" pitchFamily="34" charset="-120"/>
                        </a:rPr>
                        <a:t>/api/add-acc</a:t>
                      </a:r>
                      <a:endParaRPr lang="en-US" sz="1200" dirty="0">
                        <a:latin typeface="Courier New" charset="0"/>
                        <a:ea typeface="Courier New" charset="0"/>
                        <a:cs typeface="Courier New"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dirty="0">
                          <a:solidFill>
                            <a:srgbClr val="16211D"/>
                          </a:solidFill>
                        </a:rPr>
                        <a:t>Gelir / gider kaydı ekler</a:t>
                      </a:r>
                      <a:endParaRPr lang="en-US" sz="1300" dirty="0"/>
                    </a:p>
                  </a:txBody>
                  <a:tcPr marL="91440" marR="9144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dirty="0">
                          <a:solidFill>
                            <a:srgbClr val="16211D"/>
                          </a:solidFill>
                        </a:rPr>
                        <a:t>db.json</a:t>
                      </a:r>
                      <a:endParaRPr lang="en-US" sz="1300" dirty="0"/>
                    </a:p>
                  </a:txBody>
                  <a:tcPr marL="91440" marR="91440" marT="0" marB="0" anchor="ctr">
                    <a:lnL w="0" cap="flat" cmpd="sng" algn="ctr">
                      <a:noFill/>
                    </a:lnL>
                    <a:lnR w="0" cap="flat" cmpd="sng" algn="ctr">
                      <a:noFill/>
                    </a:lnR>
                    <a:lnT w="0" cap="flat" cmpd="sng" algn="ctr">
                      <a:noFill/>
                    </a:lnT>
                    <a:lnB w="0" cap="flat" cmpd="sng" algn="ctr">
                      <a:noFill/>
                    </a:lnB>
                    <a:solidFill>
                      <a:srgbClr val="FFFFFF"/>
                    </a:solidFill>
                  </a:tcPr>
                </a:tc>
              </a:tr>
              <a:tr h="411480">
                <a:tc>
                  <a:txBody>
                    <a:bodyPr/>
                    <a:lstStyle/>
                    <a:p>
                      <a:pPr indent="0" marL="0">
                        <a:buNone/>
                      </a:pPr>
                      <a:r>
                        <a:rPr lang="en-US" sz="1300" b="1" dirty="0">
                          <a:solidFill>
                            <a:srgbClr val="0A7A5C"/>
                          </a:solidFill>
                        </a:rPr>
                        <a:t>POST</a:t>
                      </a:r>
                      <a:endParaRPr lang="en-US" sz="1300" dirty="0"/>
                    </a:p>
                  </a:txBody>
                  <a:tcPr marL="91440" marR="91440" marT="0" marB="0" anchor="ctr">
                    <a:lnL w="0" cap="flat" cmpd="sng" algn="ctr">
                      <a:noFill/>
                    </a:lnL>
                    <a:lnR w="0" cap="flat" cmpd="sng" algn="ctr">
                      <a:noFill/>
                    </a:lnR>
                    <a:lnT w="0" cap="flat" cmpd="sng" algn="ctr">
                      <a:noFill/>
                    </a:lnT>
                    <a:lnB w="0" cap="flat" cmpd="sng" algn="ctr">
                      <a:noFill/>
                    </a:lnB>
                    <a:solidFill>
                      <a:srgbClr val="EEF4F1"/>
                    </a:solidFill>
                  </a:tcPr>
                </a:tc>
                <a:tc>
                  <a:txBody>
                    <a:bodyPr/>
                    <a:lstStyle/>
                    <a:p>
                      <a:pPr indent="0" marL="0">
                        <a:buNone/>
                      </a:pPr>
                      <a:r>
                        <a:rPr lang="en-US" sz="1200" dirty="0">
                          <a:solidFill>
                            <a:srgbClr val="16211D"/>
                          </a:solidFill>
                          <a:latin typeface="Courier New" pitchFamily="34" charset="0"/>
                          <a:ea typeface="Courier New" pitchFamily="34" charset="-122"/>
                          <a:cs typeface="Courier New" pitchFamily="34" charset="-120"/>
                        </a:rPr>
                        <a:t>/api/remove-acc</a:t>
                      </a:r>
                      <a:endParaRPr lang="en-US" sz="1200" dirty="0">
                        <a:latin typeface="Courier New" charset="0"/>
                        <a:ea typeface="Courier New" charset="0"/>
                        <a:cs typeface="Courier New"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EEF4F1"/>
                    </a:solidFill>
                  </a:tcPr>
                </a:tc>
                <a:tc>
                  <a:txBody>
                    <a:bodyPr/>
                    <a:lstStyle/>
                    <a:p>
                      <a:pPr indent="0" marL="0">
                        <a:buNone/>
                      </a:pPr>
                      <a:r>
                        <a:rPr lang="en-US" sz="1300" dirty="0">
                          <a:solidFill>
                            <a:srgbClr val="16211D"/>
                          </a:solidFill>
                        </a:rPr>
                        <a:t>Kaydı kimliğiyle siler</a:t>
                      </a:r>
                      <a:endParaRPr lang="en-US" sz="1300" dirty="0"/>
                    </a:p>
                  </a:txBody>
                  <a:tcPr marL="91440" marR="91440" marT="0" marB="0" anchor="ctr">
                    <a:lnL w="0" cap="flat" cmpd="sng" algn="ctr">
                      <a:noFill/>
                    </a:lnL>
                    <a:lnR w="0" cap="flat" cmpd="sng" algn="ctr">
                      <a:noFill/>
                    </a:lnR>
                    <a:lnT w="0" cap="flat" cmpd="sng" algn="ctr">
                      <a:noFill/>
                    </a:lnT>
                    <a:lnB w="0" cap="flat" cmpd="sng" algn="ctr">
                      <a:noFill/>
                    </a:lnB>
                    <a:solidFill>
                      <a:srgbClr val="EEF4F1"/>
                    </a:solidFill>
                  </a:tcPr>
                </a:tc>
                <a:tc>
                  <a:txBody>
                    <a:bodyPr/>
                    <a:lstStyle/>
                    <a:p>
                      <a:pPr indent="0" marL="0">
                        <a:buNone/>
                      </a:pPr>
                      <a:r>
                        <a:rPr lang="en-US" sz="1300" dirty="0">
                          <a:solidFill>
                            <a:srgbClr val="16211D"/>
                          </a:solidFill>
                        </a:rPr>
                        <a:t>db.json</a:t>
                      </a:r>
                      <a:endParaRPr lang="en-US" sz="1300" dirty="0"/>
                    </a:p>
                  </a:txBody>
                  <a:tcPr marL="91440" marR="91440" marT="0" marB="0" anchor="ctr">
                    <a:lnL w="0" cap="flat" cmpd="sng" algn="ctr">
                      <a:noFill/>
                    </a:lnL>
                    <a:lnR w="0" cap="flat" cmpd="sng" algn="ctr">
                      <a:noFill/>
                    </a:lnR>
                    <a:lnT w="0" cap="flat" cmpd="sng" algn="ctr">
                      <a:noFill/>
                    </a:lnT>
                    <a:lnB w="0" cap="flat" cmpd="sng" algn="ctr">
                      <a:noFill/>
                    </a:lnB>
                    <a:solidFill>
                      <a:srgbClr val="EEF4F1"/>
                    </a:solidFill>
                  </a:tcPr>
                </a:tc>
              </a:tr>
              <a:tr h="411480">
                <a:tc>
                  <a:txBody>
                    <a:bodyPr/>
                    <a:lstStyle/>
                    <a:p>
                      <a:pPr indent="0" marL="0">
                        <a:buNone/>
                      </a:pPr>
                      <a:r>
                        <a:rPr lang="en-US" sz="1300" b="1" dirty="0">
                          <a:solidFill>
                            <a:srgbClr val="0A7A5C"/>
                          </a:solidFill>
                        </a:rPr>
                        <a:t>POST</a:t>
                      </a:r>
                      <a:endParaRPr lang="en-US" sz="1300" dirty="0"/>
                    </a:p>
                  </a:txBody>
                  <a:tcPr marL="91440" marR="9144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200" dirty="0">
                          <a:solidFill>
                            <a:srgbClr val="16211D"/>
                          </a:solidFill>
                          <a:latin typeface="Courier New" pitchFamily="34" charset="0"/>
                          <a:ea typeface="Courier New" pitchFamily="34" charset="-122"/>
                          <a:cs typeface="Courier New" pitchFamily="34" charset="-120"/>
                        </a:rPr>
                        <a:t>/api/log-electricity</a:t>
                      </a:r>
                      <a:endParaRPr lang="en-US" sz="1200" dirty="0">
                        <a:latin typeface="Courier New" charset="0"/>
                        <a:ea typeface="Courier New" charset="0"/>
                        <a:cs typeface="Courier New"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dirty="0">
                          <a:solidFill>
                            <a:srgbClr val="16211D"/>
                          </a:solidFill>
                        </a:rPr>
                        <a:t>Tarife × 15 kW × 2 sa → otomatik gider</a:t>
                      </a:r>
                      <a:endParaRPr lang="en-US" sz="1300" dirty="0"/>
                    </a:p>
                  </a:txBody>
                  <a:tcPr marL="91440" marR="9144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dirty="0">
                          <a:solidFill>
                            <a:srgbClr val="16211D"/>
                          </a:solidFill>
                        </a:rPr>
                        <a:t>db.json</a:t>
                      </a:r>
                      <a:endParaRPr lang="en-US" sz="1300" dirty="0"/>
                    </a:p>
                  </a:txBody>
                  <a:tcPr marL="91440" marR="91440" marT="0" marB="0"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5" name="metin-493"/>
          <p:cNvSpPr txBox="1"/>
          <p:nvPr/>
        </p:nvSpPr>
        <p:spPr>
          <a:xfrm>
            <a:off x="548640" y="5486400"/>
            <a:ext cx="7772400" cy="548640"/>
          </a:xfrm>
          <a:prstGeom prst="rect">
            <a:avLst/>
          </a:prstGeom>
          <a:noFill/>
          <a:ln/>
        </p:spPr>
        <p:txBody>
          <a:bodyPr wrap="square" lIns="0" tIns="0" rIns="0" bIns="0" rtlCol="0" anchor="t"/>
          <a:lstStyle/>
          <a:p>
            <a:pPr indent="0" marL="0">
              <a:buNone/>
            </a:pPr>
            <a:r>
              <a:rPr lang="en-US" sz="1300" dirty="0">
                <a:solidFill>
                  <a:schemeClr val="tx2"/>
                </a:solidFill>
              </a:rPr>
              <a:t>Pompa modu ve simülasyon durumu bellekte tutulur; olay ve muhasebe kayıtları her yazmada db.json’a kaydedilir.</a:t>
            </a:r>
            <a:endParaRPr lang="en-US" sz="1300" dirty="0"/>
          </a:p>
        </p:txBody>
      </p:sp>
      <p:sp>
        <p:nvSpPr>
          <p:cNvPr id="6" name="kart-494"/>
          <p:cNvSpPr/>
          <p:nvPr/>
        </p:nvSpPr>
        <p:spPr>
          <a:xfrm>
            <a:off x="8595360" y="1600200"/>
            <a:ext cx="3044952" cy="4526280"/>
          </a:xfrm>
          <a:prstGeom prst="roundRect">
            <a:avLst>
              <a:gd name="adj" fmla="val 3604"/>
            </a:avLst>
          </a:prstGeom>
          <a:solidFill>
            <a:schemeClr val="tx1"/>
          </a:solidFill>
          <a:ln/>
        </p:spPr>
      </p:sp>
      <p:sp>
        <p:nvSpPr>
          <p:cNvPr id="7" name="metin-495"/>
          <p:cNvSpPr txBox="1"/>
          <p:nvPr/>
        </p:nvSpPr>
        <p:spPr>
          <a:xfrm>
            <a:off x="8823960" y="1783080"/>
            <a:ext cx="2697480" cy="292608"/>
          </a:xfrm>
          <a:prstGeom prst="rect">
            <a:avLst/>
          </a:prstGeom>
          <a:noFill/>
          <a:ln/>
        </p:spPr>
        <p:txBody>
          <a:bodyPr wrap="square" lIns="0" tIns="0" rIns="0" bIns="0" rtlCol="0" anchor="t"/>
          <a:lstStyle/>
          <a:p>
            <a:pPr indent="0" marL="0">
              <a:buNone/>
            </a:pPr>
            <a:r>
              <a:rPr lang="en-US" sz="1400" b="1" dirty="0">
                <a:solidFill>
                  <a:schemeClr val="accent1"/>
                </a:solidFill>
                <a:latin typeface="Courier New" pitchFamily="34" charset="0"/>
                <a:ea typeface="Courier New" pitchFamily="34" charset="-122"/>
                <a:cs typeface="Courier New" pitchFamily="34" charset="-120"/>
              </a:rPr>
              <a:t>GET /api/live-data</a:t>
            </a:r>
            <a:endParaRPr lang="en-US" sz="1400" dirty="0"/>
          </a:p>
        </p:txBody>
      </p:sp>
      <p:sp>
        <p:nvSpPr>
          <p:cNvPr id="8" name="metin-496"/>
          <p:cNvSpPr txBox="1"/>
          <p:nvPr/>
        </p:nvSpPr>
        <p:spPr>
          <a:xfrm>
            <a:off x="8823960" y="2103120"/>
            <a:ext cx="2697480" cy="274320"/>
          </a:xfrm>
          <a:prstGeom prst="rect">
            <a:avLst/>
          </a:prstGeom>
          <a:noFill/>
          <a:ln/>
        </p:spPr>
        <p:txBody>
          <a:bodyPr wrap="square" lIns="0" tIns="0" rIns="0" bIns="0" rtlCol="0" anchor="t"/>
          <a:lstStyle/>
          <a:p>
            <a:pPr indent="0" marL="0">
              <a:buNone/>
            </a:pPr>
            <a:r>
              <a:rPr lang="en-US" sz="1200" dirty="0">
                <a:solidFill>
                  <a:schemeClr val="bg1"/>
                </a:solidFill>
              </a:rPr>
              <a:t>≈ 6,8 KB JSON · yerel ağda ~25 ms</a:t>
            </a:r>
            <a:endParaRPr lang="en-US" sz="1200" dirty="0"/>
          </a:p>
        </p:txBody>
      </p:sp>
      <p:sp>
        <p:nvSpPr>
          <p:cNvPr id="9" name="metin-497"/>
          <p:cNvSpPr txBox="1"/>
          <p:nvPr/>
        </p:nvSpPr>
        <p:spPr>
          <a:xfrm>
            <a:off x="8823960" y="2514600"/>
            <a:ext cx="2697480" cy="3474720"/>
          </a:xfrm>
          <a:prstGeom prst="rect">
            <a:avLst/>
          </a:prstGeom>
          <a:noFill/>
          <a:ln/>
        </p:spPr>
        <p:txBody>
          <a:bodyPr wrap="square" lIns="0" tIns="0" rIns="0" bIns="0" rtlCol="0" anchor="t"/>
          <a:lstStyle/>
          <a:p>
            <a:pPr indent="0" marL="0">
              <a:lnSpc>
                <a:spcPct val="105000"/>
              </a:lnSpc>
              <a:buNone/>
            </a:pPr>
            <a:r>
              <a:rPr lang="en-US" sz="1100" b="1" dirty="0">
                <a:solidFill>
                  <a:schemeClr val="bg1"/>
                </a:solidFill>
                <a:latin typeface="Courier New" pitchFamily="34" charset="0"/>
                <a:ea typeface="Courier New" pitchFamily="34" charset="-122"/>
                <a:cs typeface="Courier New" pitchFamily="34" charset="-120"/>
              </a:rPr>
              <a:t>weather</a:t>
            </a:r>
            <a:endParaRPr lang="en-US" sz="1100" dirty="0"/>
          </a:p>
          <a:p>
            <a:pPr indent="0" marL="0">
              <a:lnSpc>
                <a:spcPct val="105000"/>
              </a:lnSpc>
              <a:buNone/>
            </a:pPr>
            <a:r>
              <a:rPr lang="en-US" sz="1100" dirty="0">
                <a:solidFill>
                  <a:srgbClr val="A9C2B8"/>
                </a:solidFill>
                <a:latin typeface="Courier New" pitchFamily="34" charset="0"/>
                <a:ea typeface="Courier New" pitchFamily="34" charset="-122"/>
                <a:cs typeface="Courier New" pitchFamily="34" charset="-120"/>
              </a:rPr>
              <a:t>  temp · humidity</a:t>
            </a:r>
            <a:endParaRPr lang="en-US" sz="1100" dirty="0"/>
          </a:p>
          <a:p>
            <a:pPr indent="0" marL="0">
              <a:lnSpc>
                <a:spcPct val="105000"/>
              </a:lnSpc>
              <a:buNone/>
            </a:pPr>
            <a:r>
              <a:rPr lang="en-US" sz="1100" dirty="0">
                <a:solidFill>
                  <a:srgbClr val="A9C2B8"/>
                </a:solidFill>
                <a:latin typeface="Courier New" pitchFamily="34" charset="0"/>
                <a:ea typeface="Courier New" pitchFamily="34" charset="-122"/>
                <a:cs typeface="Courier New" pitchFamily="34" charset="-120"/>
              </a:rPr>
              <a:t>  soil_moisture · is_raining</a:t>
            </a:r>
            <a:endParaRPr lang="en-US" sz="1100" dirty="0"/>
          </a:p>
          <a:p>
            <a:pPr indent="0" marL="0">
              <a:lnSpc>
                <a:spcPct val="105000"/>
              </a:lnSpc>
              <a:buNone/>
            </a:pPr>
            <a:r>
              <a:rPr lang="en-US" sz="1100" b="1" dirty="0">
                <a:solidFill>
                  <a:schemeClr val="bg1"/>
                </a:solidFill>
                <a:latin typeface="Courier New" pitchFamily="34" charset="0"/>
                <a:ea typeface="Courier New" pitchFamily="34" charset="-122"/>
                <a:cs typeface="Courier New" pitchFamily="34" charset="-120"/>
              </a:rPr>
              <a:t>energy</a:t>
            </a:r>
            <a:endParaRPr lang="en-US" sz="1100" dirty="0"/>
          </a:p>
          <a:p>
            <a:pPr indent="0" marL="0">
              <a:lnSpc>
                <a:spcPct val="105000"/>
              </a:lnSpc>
              <a:buNone/>
            </a:pPr>
            <a:r>
              <a:rPr lang="en-US" sz="1100" dirty="0">
                <a:solidFill>
                  <a:srgbClr val="A9C2B8"/>
                </a:solidFill>
                <a:latin typeface="Courier New" pitchFamily="34" charset="0"/>
                <a:ea typeface="Courier New" pitchFamily="34" charset="-122"/>
                <a:cs typeface="Courier New" pitchFamily="34" charset="-120"/>
              </a:rPr>
              <a:t>  tariff_name · tariff_cost</a:t>
            </a:r>
            <a:endParaRPr lang="en-US" sz="1100" dirty="0"/>
          </a:p>
          <a:p>
            <a:pPr indent="0" marL="0">
              <a:lnSpc>
                <a:spcPct val="105000"/>
              </a:lnSpc>
              <a:buNone/>
            </a:pPr>
            <a:r>
              <a:rPr lang="en-US" sz="1100" b="1" dirty="0">
                <a:solidFill>
                  <a:schemeClr val="bg1"/>
                </a:solidFill>
                <a:latin typeface="Courier New" pitchFamily="34" charset="0"/>
                <a:ea typeface="Courier New" pitchFamily="34" charset="-122"/>
                <a:cs typeface="Courier New" pitchFamily="34" charset="-120"/>
              </a:rPr>
              <a:t>actuators</a:t>
            </a:r>
            <a:endParaRPr lang="en-US" sz="1100" dirty="0"/>
          </a:p>
          <a:p>
            <a:pPr indent="0" marL="0">
              <a:lnSpc>
                <a:spcPct val="105000"/>
              </a:lnSpc>
              <a:buNone/>
            </a:pPr>
            <a:r>
              <a:rPr lang="en-US" sz="1100" dirty="0">
                <a:solidFill>
                  <a:srgbClr val="A9C2B8"/>
                </a:solidFill>
                <a:latin typeface="Courier New" pitchFamily="34" charset="0"/>
                <a:ea typeface="Courier New" pitchFamily="34" charset="-122"/>
                <a:cs typeface="Courier New" pitchFamily="34" charset="-120"/>
              </a:rPr>
              <a:t>  pump · reason · action_type</a:t>
            </a:r>
            <a:endParaRPr lang="en-US" sz="1100" dirty="0"/>
          </a:p>
          <a:p>
            <a:pPr indent="0" marL="0">
              <a:lnSpc>
                <a:spcPct val="105000"/>
              </a:lnSpc>
              <a:buNone/>
            </a:pPr>
            <a:r>
              <a:rPr lang="en-US" sz="1100" b="1" dirty="0">
                <a:solidFill>
                  <a:schemeClr val="bg1"/>
                </a:solidFill>
                <a:latin typeface="Courier New" pitchFamily="34" charset="0"/>
                <a:ea typeface="Courier New" pitchFamily="34" charset="-122"/>
                <a:cs typeface="Courier New" pitchFamily="34" charset="-120"/>
              </a:rPr>
              <a:t>forecast</a:t>
            </a:r>
            <a:endParaRPr lang="en-US" sz="1100" dirty="0"/>
          </a:p>
          <a:p>
            <a:pPr indent="0" marL="0">
              <a:lnSpc>
                <a:spcPct val="105000"/>
              </a:lnSpc>
              <a:buNone/>
            </a:pPr>
            <a:r>
              <a:rPr lang="en-US" sz="1100" dirty="0">
                <a:solidFill>
                  <a:srgbClr val="A9C2B8"/>
                </a:solidFill>
                <a:latin typeface="Courier New" pitchFamily="34" charset="0"/>
                <a:ea typeface="Courier New" pitchFamily="34" charset="-122"/>
                <a:cs typeface="Courier New" pitchFamily="34" charset="-120"/>
              </a:rPr>
              <a:t>  fertigation_locked</a:t>
            </a:r>
            <a:endParaRPr lang="en-US" sz="1100" dirty="0"/>
          </a:p>
          <a:p>
            <a:pPr indent="0" marL="0">
              <a:lnSpc>
                <a:spcPct val="105000"/>
              </a:lnSpc>
              <a:buNone/>
            </a:pPr>
            <a:r>
              <a:rPr lang="en-US" sz="1100" dirty="0">
                <a:solidFill>
                  <a:srgbClr val="A9C2B8"/>
                </a:solidFill>
                <a:latin typeface="Courier New" pitchFamily="34" charset="0"/>
                <a:ea typeface="Courier New" pitchFamily="34" charset="-122"/>
                <a:cs typeface="Courier New" pitchFamily="34" charset="-120"/>
              </a:rPr>
              <a:t>  mildew_risk</a:t>
            </a:r>
            <a:endParaRPr lang="en-US" sz="1100" dirty="0"/>
          </a:p>
          <a:p>
            <a:pPr indent="0" marL="0">
              <a:lnSpc>
                <a:spcPct val="105000"/>
              </a:lnSpc>
              <a:buNone/>
            </a:pPr>
            <a:r>
              <a:rPr lang="en-US" sz="1100" dirty="0">
                <a:solidFill>
                  <a:srgbClr val="A9C2B8"/>
                </a:solidFill>
                <a:latin typeface="Courier New" pitchFamily="34" charset="0"/>
                <a:ea typeface="Courier New" pitchFamily="34" charset="-122"/>
                <a:cs typeface="Courier New" pitchFamily="34" charset="-120"/>
              </a:rPr>
              <a:t>  evapotranspiration_risk</a:t>
            </a:r>
            <a:endParaRPr lang="en-US" sz="1100" dirty="0"/>
          </a:p>
          <a:p>
            <a:pPr indent="0" marL="0">
              <a:lnSpc>
                <a:spcPct val="105000"/>
              </a:lnSpc>
              <a:buNone/>
            </a:pPr>
            <a:r>
              <a:rPr lang="en-US" sz="1100" b="1" dirty="0">
                <a:solidFill>
                  <a:schemeClr val="bg1"/>
                </a:solidFill>
                <a:latin typeface="Courier New" pitchFamily="34" charset="0"/>
                <a:ea typeface="Courier New" pitchFamily="34" charset="-122"/>
                <a:cs typeface="Courier New" pitchFamily="34" charset="-120"/>
              </a:rPr>
              <a:t>calendar_days[]</a:t>
            </a:r>
            <a:endParaRPr lang="en-US" sz="1100" dirty="0"/>
          </a:p>
          <a:p>
            <a:pPr indent="0" marL="0">
              <a:lnSpc>
                <a:spcPct val="105000"/>
              </a:lnSpc>
              <a:buNone/>
            </a:pPr>
            <a:r>
              <a:rPr lang="en-US" sz="1100" b="1" dirty="0">
                <a:solidFill>
                  <a:schemeClr val="bg1"/>
                </a:solidFill>
                <a:latin typeface="Courier New" pitchFamily="34" charset="0"/>
                <a:ea typeface="Courier New" pitchFamily="34" charset="-122"/>
                <a:cs typeface="Courier New" pitchFamily="34" charset="-120"/>
              </a:rPr>
              <a:t>accounting</a:t>
            </a:r>
            <a:endParaRPr lang="en-US" sz="1100" dirty="0"/>
          </a:p>
          <a:p>
            <a:pPr indent="0" marL="0">
              <a:lnSpc>
                <a:spcPct val="105000"/>
              </a:lnSpc>
              <a:buNone/>
            </a:pPr>
            <a:r>
              <a:rPr lang="en-US" sz="1100" dirty="0">
                <a:solidFill>
                  <a:srgbClr val="A9C2B8"/>
                </a:solidFill>
                <a:latin typeface="Courier New" pitchFamily="34" charset="0"/>
                <a:ea typeface="Courier New" pitchFamily="34" charset="-122"/>
                <a:cs typeface="Courier New" pitchFamily="34" charset="-120"/>
              </a:rPr>
              <a:t>  records[] · per_decare_*</a:t>
            </a:r>
            <a:endParaRPr lang="en-US" sz="11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B6B6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8229600" cy="274320"/>
          </a:xfrm>
          <a:prstGeom prst="rect">
            <a:avLst/>
          </a:prstGeom>
          <a:noFill/>
          <a:ln/>
        </p:spPr>
        <p:txBody>
          <a:bodyPr wrap="square" lIns="0" tIns="0" rIns="0" bIns="0" rtlCol="0" anchor="t"/>
          <a:lstStyle/>
          <a:p>
            <a:pPr indent="0" marL="0">
              <a:buNone/>
            </a:pPr>
            <a:r>
              <a:rPr lang="en-US" sz="1200" b="1" spc="150" kern="0" dirty="0">
                <a:solidFill>
                  <a:schemeClr val="accent2"/>
                </a:solidFill>
              </a:rPr>
              <a:t>DOĞRULAMA</a:t>
            </a:r>
            <a:endParaRPr lang="en-US" sz="1200" dirty="0"/>
          </a:p>
        </p:txBody>
      </p:sp>
      <p:sp>
        <p:nvSpPr>
          <p:cNvPr id="3" name="Text 0"/>
          <p:cNvSpPr/>
          <p:nvPr>
            <p:ph idx="101" type="title" hasCustomPrompt="1"/>
          </p:nvPr>
        </p:nvSpPr>
        <p:spPr>
          <a:xfrm>
            <a:off x="548640" y="621792"/>
            <a:ext cx="11091672" cy="731520"/>
          </a:xfrm>
          <a:prstGeom prst="rect">
            <a:avLst/>
          </a:prstGeom>
          <a:noFill/>
          <a:ln/>
        </p:spPr>
        <p:txBody>
          <a:bodyPr wrap="square" lIns="0" tIns="0" rIns="0" bIns="0" rtlCol="0" anchor="t"/>
          <a:lstStyle/>
          <a:p>
            <a:pPr algn="l" indent="0" marL="0">
              <a:buNone/>
            </a:pPr>
            <a:r>
              <a:rPr lang="en-US" sz="3000" b="1" dirty="0">
                <a:solidFill>
                  <a:schemeClr val="tx1"/>
                </a:solidFill>
              </a:rPr>
              <a:t>Uçtan uca akışlar gerçek backend kopyasıyla test edildi</a:t>
            </a:r>
            <a:endParaRPr lang="en-US" sz="3000" dirty="0"/>
          </a:p>
        </p:txBody>
      </p:sp>
      <p:sp>
        <p:nvSpPr>
          <p:cNvPr id="4" name="kart-498"/>
          <p:cNvSpPr/>
          <p:nvPr/>
        </p:nvSpPr>
        <p:spPr>
          <a:xfrm>
            <a:off x="548640" y="1600200"/>
            <a:ext cx="6492240" cy="548640"/>
          </a:xfrm>
          <a:prstGeom prst="roundRect">
            <a:avLst>
              <a:gd name="adj" fmla="val 20000"/>
            </a:avLst>
          </a:prstGeom>
          <a:solidFill>
            <a:schemeClr val="bg2"/>
          </a:solidFill>
          <a:ln/>
        </p:spPr>
      </p:sp>
      <p:sp>
        <p:nvSpPr>
          <p:cNvPr id="5" name="ikon-zemin-499"/>
          <p:cNvSpPr/>
          <p:nvPr/>
        </p:nvSpPr>
        <p:spPr>
          <a:xfrm>
            <a:off x="658368" y="1682496"/>
            <a:ext cx="384048" cy="384048"/>
          </a:xfrm>
          <a:prstGeom prst="ellipse">
            <a:avLst/>
          </a:prstGeom>
          <a:solidFill>
            <a:schemeClr val="accent2"/>
          </a:solidFill>
          <a:ln/>
        </p:spPr>
      </p:sp>
      <p:pic>
        <p:nvPicPr>
          <p:cNvPr id="6" name="ikon-500" descr="preencoded.png">    </p:cNvPr>
          <p:cNvPicPr>
            <a:picLocks noChangeAspect="1"/>
          </p:cNvPicPr>
          <p:nvPr/>
        </p:nvPicPr>
        <p:blipFill>
          <a:blip r:embed="rId1"/>
          <a:stretch>
            <a:fillRect/>
          </a:stretch>
        </p:blipFill>
        <p:spPr>
          <a:xfrm>
            <a:off x="742859" y="1766987"/>
            <a:ext cx="215067" cy="215067"/>
          </a:xfrm>
          <a:prstGeom prst="rect">
            <a:avLst/>
          </a:prstGeom>
        </p:spPr>
      </p:pic>
      <p:sp>
        <p:nvSpPr>
          <p:cNvPr id="7" name="metin-501"/>
          <p:cNvSpPr txBox="1"/>
          <p:nvPr/>
        </p:nvSpPr>
        <p:spPr>
          <a:xfrm>
            <a:off x="1188720" y="1600200"/>
            <a:ext cx="5760720" cy="548640"/>
          </a:xfrm>
          <a:prstGeom prst="rect">
            <a:avLst/>
          </a:prstGeom>
          <a:noFill/>
          <a:ln/>
        </p:spPr>
        <p:txBody>
          <a:bodyPr wrap="square" lIns="0" tIns="0" rIns="0" bIns="0" rtlCol="0" anchor="ctr"/>
          <a:lstStyle/>
          <a:p>
            <a:pPr indent="0" marL="0">
              <a:buNone/>
            </a:pPr>
            <a:r>
              <a:rPr lang="en-US" sz="1400" dirty="0">
                <a:solidFill>
                  <a:schemeClr val="tx1"/>
                </a:solidFill>
              </a:rPr>
              <a:t>Canlı veri beş mobil ekranda doğru gösteriliyor</a:t>
            </a:r>
            <a:endParaRPr lang="en-US" sz="1400" dirty="0"/>
          </a:p>
        </p:txBody>
      </p:sp>
      <p:sp>
        <p:nvSpPr>
          <p:cNvPr id="8" name="kart-502"/>
          <p:cNvSpPr/>
          <p:nvPr/>
        </p:nvSpPr>
        <p:spPr>
          <a:xfrm>
            <a:off x="548640" y="2258568"/>
            <a:ext cx="6492240" cy="548640"/>
          </a:xfrm>
          <a:prstGeom prst="roundRect">
            <a:avLst>
              <a:gd name="adj" fmla="val 20000"/>
            </a:avLst>
          </a:prstGeom>
          <a:solidFill>
            <a:schemeClr val="bg2"/>
          </a:solidFill>
          <a:ln/>
        </p:spPr>
      </p:sp>
      <p:sp>
        <p:nvSpPr>
          <p:cNvPr id="9" name="ikon-zemin-503"/>
          <p:cNvSpPr/>
          <p:nvPr/>
        </p:nvSpPr>
        <p:spPr>
          <a:xfrm>
            <a:off x="658368" y="2340864"/>
            <a:ext cx="384048" cy="384048"/>
          </a:xfrm>
          <a:prstGeom prst="ellipse">
            <a:avLst/>
          </a:prstGeom>
          <a:solidFill>
            <a:schemeClr val="accent2"/>
          </a:solidFill>
          <a:ln/>
        </p:spPr>
      </p:sp>
      <p:pic>
        <p:nvPicPr>
          <p:cNvPr id="10" name="ikon-504" descr="preencoded.png">    </p:cNvPr>
          <p:cNvPicPr>
            <a:picLocks noChangeAspect="1"/>
          </p:cNvPicPr>
          <p:nvPr/>
        </p:nvPicPr>
        <p:blipFill>
          <a:blip r:embed="rId2"/>
          <a:stretch>
            <a:fillRect/>
          </a:stretch>
        </p:blipFill>
        <p:spPr>
          <a:xfrm>
            <a:off x="742859" y="2425355"/>
            <a:ext cx="215067" cy="215067"/>
          </a:xfrm>
          <a:prstGeom prst="rect">
            <a:avLst/>
          </a:prstGeom>
        </p:spPr>
      </p:pic>
      <p:sp>
        <p:nvSpPr>
          <p:cNvPr id="11" name="metin-505"/>
          <p:cNvSpPr txBox="1"/>
          <p:nvPr/>
        </p:nvSpPr>
        <p:spPr>
          <a:xfrm>
            <a:off x="1188720" y="2258568"/>
            <a:ext cx="5760720" cy="548640"/>
          </a:xfrm>
          <a:prstGeom prst="rect">
            <a:avLst/>
          </a:prstGeom>
          <a:noFill/>
          <a:ln/>
        </p:spPr>
        <p:txBody>
          <a:bodyPr wrap="square" lIns="0" tIns="0" rIns="0" bIns="0" rtlCol="0" anchor="ctr"/>
          <a:lstStyle/>
          <a:p>
            <a:pPr indent="0" marL="0">
              <a:buNone/>
            </a:pPr>
            <a:r>
              <a:rPr lang="en-US" sz="1400" dirty="0">
                <a:solidFill>
                  <a:schemeClr val="tx1"/>
                </a:solidFill>
              </a:rPr>
              <a:t>Pompa “Açık” → karar manual_override, gerekçe arayüzde</a:t>
            </a:r>
            <a:endParaRPr lang="en-US" sz="1400" dirty="0"/>
          </a:p>
        </p:txBody>
      </p:sp>
      <p:sp>
        <p:nvSpPr>
          <p:cNvPr id="12" name="kart-506"/>
          <p:cNvSpPr/>
          <p:nvPr/>
        </p:nvSpPr>
        <p:spPr>
          <a:xfrm>
            <a:off x="548640" y="2916936"/>
            <a:ext cx="6492240" cy="548640"/>
          </a:xfrm>
          <a:prstGeom prst="roundRect">
            <a:avLst>
              <a:gd name="adj" fmla="val 20000"/>
            </a:avLst>
          </a:prstGeom>
          <a:solidFill>
            <a:schemeClr val="bg2"/>
          </a:solidFill>
          <a:ln/>
        </p:spPr>
      </p:sp>
      <p:sp>
        <p:nvSpPr>
          <p:cNvPr id="13" name="ikon-zemin-507"/>
          <p:cNvSpPr/>
          <p:nvPr/>
        </p:nvSpPr>
        <p:spPr>
          <a:xfrm>
            <a:off x="658368" y="2999232"/>
            <a:ext cx="384048" cy="384048"/>
          </a:xfrm>
          <a:prstGeom prst="ellipse">
            <a:avLst/>
          </a:prstGeom>
          <a:solidFill>
            <a:schemeClr val="accent2"/>
          </a:solidFill>
          <a:ln/>
        </p:spPr>
      </p:sp>
      <p:pic>
        <p:nvPicPr>
          <p:cNvPr id="14" name="ikon-508" descr="preencoded.png">    </p:cNvPr>
          <p:cNvPicPr>
            <a:picLocks noChangeAspect="1"/>
          </p:cNvPicPr>
          <p:nvPr/>
        </p:nvPicPr>
        <p:blipFill>
          <a:blip r:embed="rId3"/>
          <a:stretch>
            <a:fillRect/>
          </a:stretch>
        </p:blipFill>
        <p:spPr>
          <a:xfrm>
            <a:off x="742859" y="3083723"/>
            <a:ext cx="215067" cy="215067"/>
          </a:xfrm>
          <a:prstGeom prst="rect">
            <a:avLst/>
          </a:prstGeom>
        </p:spPr>
      </p:pic>
      <p:sp>
        <p:nvSpPr>
          <p:cNvPr id="15" name="metin-509"/>
          <p:cNvSpPr txBox="1"/>
          <p:nvPr/>
        </p:nvSpPr>
        <p:spPr>
          <a:xfrm>
            <a:off x="1188720" y="2916936"/>
            <a:ext cx="5760720" cy="548640"/>
          </a:xfrm>
          <a:prstGeom prst="rect">
            <a:avLst/>
          </a:prstGeom>
          <a:noFill/>
          <a:ln/>
        </p:spPr>
        <p:txBody>
          <a:bodyPr wrap="square" lIns="0" tIns="0" rIns="0" bIns="0" rtlCol="0" anchor="ctr"/>
          <a:lstStyle/>
          <a:p>
            <a:pPr indent="0" marL="0">
              <a:buNone/>
            </a:pPr>
            <a:r>
              <a:rPr lang="en-US" sz="1400" dirty="0">
                <a:solidFill>
                  <a:schemeClr val="tx1"/>
                </a:solidFill>
              </a:rPr>
              <a:t>Ajandaya olay ekleme → takvim ve yaklaşan olaylar güncellendi</a:t>
            </a:r>
            <a:endParaRPr lang="en-US" sz="1400" dirty="0"/>
          </a:p>
        </p:txBody>
      </p:sp>
      <p:sp>
        <p:nvSpPr>
          <p:cNvPr id="16" name="kart-510"/>
          <p:cNvSpPr/>
          <p:nvPr/>
        </p:nvSpPr>
        <p:spPr>
          <a:xfrm>
            <a:off x="548640" y="3575304"/>
            <a:ext cx="6492240" cy="548640"/>
          </a:xfrm>
          <a:prstGeom prst="roundRect">
            <a:avLst>
              <a:gd name="adj" fmla="val 20000"/>
            </a:avLst>
          </a:prstGeom>
          <a:solidFill>
            <a:schemeClr val="bg2"/>
          </a:solidFill>
          <a:ln/>
        </p:spPr>
      </p:sp>
      <p:sp>
        <p:nvSpPr>
          <p:cNvPr id="17" name="ikon-zemin-511"/>
          <p:cNvSpPr/>
          <p:nvPr/>
        </p:nvSpPr>
        <p:spPr>
          <a:xfrm>
            <a:off x="658368" y="3657600"/>
            <a:ext cx="384048" cy="384048"/>
          </a:xfrm>
          <a:prstGeom prst="ellipse">
            <a:avLst/>
          </a:prstGeom>
          <a:solidFill>
            <a:schemeClr val="accent2"/>
          </a:solidFill>
          <a:ln/>
        </p:spPr>
      </p:sp>
      <p:pic>
        <p:nvPicPr>
          <p:cNvPr id="18" name="ikon-512" descr="preencoded.png">    </p:cNvPr>
          <p:cNvPicPr>
            <a:picLocks noChangeAspect="1"/>
          </p:cNvPicPr>
          <p:nvPr/>
        </p:nvPicPr>
        <p:blipFill>
          <a:blip r:embed="rId4"/>
          <a:stretch>
            <a:fillRect/>
          </a:stretch>
        </p:blipFill>
        <p:spPr>
          <a:xfrm>
            <a:off x="742859" y="3742091"/>
            <a:ext cx="215067" cy="215067"/>
          </a:xfrm>
          <a:prstGeom prst="rect">
            <a:avLst/>
          </a:prstGeom>
        </p:spPr>
      </p:pic>
      <p:sp>
        <p:nvSpPr>
          <p:cNvPr id="19" name="metin-513"/>
          <p:cNvSpPr txBox="1"/>
          <p:nvPr/>
        </p:nvSpPr>
        <p:spPr>
          <a:xfrm>
            <a:off x="1188720" y="3575304"/>
            <a:ext cx="5760720" cy="548640"/>
          </a:xfrm>
          <a:prstGeom prst="rect">
            <a:avLst/>
          </a:prstGeom>
          <a:noFill/>
          <a:ln/>
        </p:spPr>
        <p:txBody>
          <a:bodyPr wrap="square" lIns="0" tIns="0" rIns="0" bIns="0" rtlCol="0" anchor="ctr"/>
          <a:lstStyle/>
          <a:p>
            <a:pPr indent="0" marL="0">
              <a:buNone/>
            </a:pPr>
            <a:r>
              <a:rPr lang="en-US" sz="1400" dirty="0">
                <a:solidFill>
                  <a:schemeClr val="tx1"/>
                </a:solidFill>
              </a:rPr>
              <a:t>2.500 ₺ gübre gideri → toplam 16.820 → 19.320 ₺, grafik güncellendi</a:t>
            </a:r>
            <a:endParaRPr lang="en-US" sz="1400" dirty="0"/>
          </a:p>
        </p:txBody>
      </p:sp>
      <p:sp>
        <p:nvSpPr>
          <p:cNvPr id="20" name="kart-514"/>
          <p:cNvSpPr/>
          <p:nvPr/>
        </p:nvSpPr>
        <p:spPr>
          <a:xfrm>
            <a:off x="548640" y="4233672"/>
            <a:ext cx="6492240" cy="548640"/>
          </a:xfrm>
          <a:prstGeom prst="roundRect">
            <a:avLst>
              <a:gd name="adj" fmla="val 20000"/>
            </a:avLst>
          </a:prstGeom>
          <a:solidFill>
            <a:schemeClr val="bg2"/>
          </a:solidFill>
          <a:ln/>
        </p:spPr>
      </p:sp>
      <p:sp>
        <p:nvSpPr>
          <p:cNvPr id="21" name="ikon-zemin-515"/>
          <p:cNvSpPr/>
          <p:nvPr/>
        </p:nvSpPr>
        <p:spPr>
          <a:xfrm>
            <a:off x="658368" y="4315968"/>
            <a:ext cx="384048" cy="384048"/>
          </a:xfrm>
          <a:prstGeom prst="ellipse">
            <a:avLst/>
          </a:prstGeom>
          <a:solidFill>
            <a:schemeClr val="accent2"/>
          </a:solidFill>
          <a:ln/>
        </p:spPr>
      </p:sp>
      <p:pic>
        <p:nvPicPr>
          <p:cNvPr id="22" name="ikon-516" descr="preencoded.png">    </p:cNvPr>
          <p:cNvPicPr>
            <a:picLocks noChangeAspect="1"/>
          </p:cNvPicPr>
          <p:nvPr/>
        </p:nvPicPr>
        <p:blipFill>
          <a:blip r:embed="rId5"/>
          <a:stretch>
            <a:fillRect/>
          </a:stretch>
        </p:blipFill>
        <p:spPr>
          <a:xfrm>
            <a:off x="742859" y="4400459"/>
            <a:ext cx="215067" cy="215067"/>
          </a:xfrm>
          <a:prstGeom prst="rect">
            <a:avLst/>
          </a:prstGeom>
        </p:spPr>
      </p:pic>
      <p:sp>
        <p:nvSpPr>
          <p:cNvPr id="23" name="metin-517"/>
          <p:cNvSpPr txBox="1"/>
          <p:nvPr/>
        </p:nvSpPr>
        <p:spPr>
          <a:xfrm>
            <a:off x="1188720" y="4233672"/>
            <a:ext cx="5760720" cy="548640"/>
          </a:xfrm>
          <a:prstGeom prst="rect">
            <a:avLst/>
          </a:prstGeom>
          <a:noFill/>
          <a:ln/>
        </p:spPr>
        <p:txBody>
          <a:bodyPr wrap="square" lIns="0" tIns="0" rIns="0" bIns="0" rtlCol="0" anchor="ctr"/>
          <a:lstStyle/>
          <a:p>
            <a:pPr indent="0" marL="0">
              <a:buNone/>
            </a:pPr>
            <a:r>
              <a:rPr lang="en-US" sz="1400" dirty="0">
                <a:solidFill>
                  <a:schemeClr val="tx1"/>
                </a:solidFill>
              </a:rPr>
              <a:t>Öneriler: hava verisine göre risk rozetleri ve açılır rehber</a:t>
            </a:r>
            <a:endParaRPr lang="en-US" sz="1400" dirty="0"/>
          </a:p>
        </p:txBody>
      </p:sp>
      <p:sp>
        <p:nvSpPr>
          <p:cNvPr id="24" name="kart-518"/>
          <p:cNvSpPr/>
          <p:nvPr/>
        </p:nvSpPr>
        <p:spPr>
          <a:xfrm>
            <a:off x="548640" y="4892040"/>
            <a:ext cx="6492240" cy="548640"/>
          </a:xfrm>
          <a:prstGeom prst="roundRect">
            <a:avLst>
              <a:gd name="adj" fmla="val 20000"/>
            </a:avLst>
          </a:prstGeom>
          <a:solidFill>
            <a:schemeClr val="bg2"/>
          </a:solidFill>
          <a:ln/>
        </p:spPr>
      </p:sp>
      <p:sp>
        <p:nvSpPr>
          <p:cNvPr id="25" name="ikon-zemin-519"/>
          <p:cNvSpPr/>
          <p:nvPr/>
        </p:nvSpPr>
        <p:spPr>
          <a:xfrm>
            <a:off x="658368" y="4974336"/>
            <a:ext cx="384048" cy="384048"/>
          </a:xfrm>
          <a:prstGeom prst="ellipse">
            <a:avLst/>
          </a:prstGeom>
          <a:solidFill>
            <a:schemeClr val="accent2"/>
          </a:solidFill>
          <a:ln/>
        </p:spPr>
      </p:sp>
      <p:pic>
        <p:nvPicPr>
          <p:cNvPr id="26" name="ikon-520" descr="preencoded.png">    </p:cNvPr>
          <p:cNvPicPr>
            <a:picLocks noChangeAspect="1"/>
          </p:cNvPicPr>
          <p:nvPr/>
        </p:nvPicPr>
        <p:blipFill>
          <a:blip r:embed="rId6"/>
          <a:stretch>
            <a:fillRect/>
          </a:stretch>
        </p:blipFill>
        <p:spPr>
          <a:xfrm>
            <a:off x="742859" y="5058827"/>
            <a:ext cx="215067" cy="215067"/>
          </a:xfrm>
          <a:prstGeom prst="rect">
            <a:avLst/>
          </a:prstGeom>
        </p:spPr>
      </p:pic>
      <p:sp>
        <p:nvSpPr>
          <p:cNvPr id="27" name="metin-521"/>
          <p:cNvSpPr txBox="1"/>
          <p:nvPr/>
        </p:nvSpPr>
        <p:spPr>
          <a:xfrm>
            <a:off x="1188720" y="4892040"/>
            <a:ext cx="5760720" cy="548640"/>
          </a:xfrm>
          <a:prstGeom prst="rect">
            <a:avLst/>
          </a:prstGeom>
          <a:noFill/>
          <a:ln/>
        </p:spPr>
        <p:txBody>
          <a:bodyPr wrap="square" lIns="0" tIns="0" rIns="0" bIns="0" rtlCol="0" anchor="ctr"/>
          <a:lstStyle/>
          <a:p>
            <a:pPr indent="0" marL="0">
              <a:buNone/>
            </a:pPr>
            <a:r>
              <a:rPr lang="en-US" sz="1400" dirty="0">
                <a:solidFill>
                  <a:schemeClr val="tx1"/>
                </a:solidFill>
              </a:rPr>
              <a:t>APK: paket adı, izinler, imza ve işlemci mimarileri doğrulandı</a:t>
            </a:r>
            <a:endParaRPr lang="en-US" sz="1400" dirty="0"/>
          </a:p>
        </p:txBody>
      </p:sp>
      <p:sp>
        <p:nvSpPr>
          <p:cNvPr id="28" name="kart-522"/>
          <p:cNvSpPr/>
          <p:nvPr/>
        </p:nvSpPr>
        <p:spPr>
          <a:xfrm>
            <a:off x="548640" y="5596128"/>
            <a:ext cx="6492240" cy="548640"/>
          </a:xfrm>
          <a:prstGeom prst="roundRect">
            <a:avLst>
              <a:gd name="adj" fmla="val 20000"/>
            </a:avLst>
          </a:prstGeom>
          <a:solidFill>
            <a:srgbClr val="FCEFD6"/>
          </a:solidFill>
          <a:ln/>
        </p:spPr>
      </p:sp>
      <p:sp>
        <p:nvSpPr>
          <p:cNvPr id="29" name="ikon-zemin-523"/>
          <p:cNvSpPr/>
          <p:nvPr/>
        </p:nvSpPr>
        <p:spPr>
          <a:xfrm>
            <a:off x="658368" y="5678424"/>
            <a:ext cx="384048" cy="384048"/>
          </a:xfrm>
          <a:prstGeom prst="ellipse">
            <a:avLst/>
          </a:prstGeom>
          <a:solidFill>
            <a:schemeClr val="accent3"/>
          </a:solidFill>
          <a:ln/>
        </p:spPr>
      </p:sp>
      <p:pic>
        <p:nvPicPr>
          <p:cNvPr id="30" name="ikon-524" descr="preencoded.png">    </p:cNvPr>
          <p:cNvPicPr>
            <a:picLocks noChangeAspect="1"/>
          </p:cNvPicPr>
          <p:nvPr/>
        </p:nvPicPr>
        <p:blipFill>
          <a:blip r:embed="rId7"/>
          <a:stretch>
            <a:fillRect/>
          </a:stretch>
        </p:blipFill>
        <p:spPr>
          <a:xfrm>
            <a:off x="742859" y="5762915"/>
            <a:ext cx="215067" cy="215067"/>
          </a:xfrm>
          <a:prstGeom prst="rect">
            <a:avLst/>
          </a:prstGeom>
        </p:spPr>
      </p:pic>
      <p:sp>
        <p:nvSpPr>
          <p:cNvPr id="31" name="metin-525"/>
          <p:cNvSpPr txBox="1"/>
          <p:nvPr/>
        </p:nvSpPr>
        <p:spPr>
          <a:xfrm>
            <a:off x="1188720" y="5596128"/>
            <a:ext cx="5760720" cy="548640"/>
          </a:xfrm>
          <a:prstGeom prst="rect">
            <a:avLst/>
          </a:prstGeom>
          <a:noFill/>
          <a:ln/>
        </p:spPr>
        <p:txBody>
          <a:bodyPr wrap="square" lIns="0" tIns="0" rIns="0" bIns="0" rtlCol="0" anchor="ctr"/>
          <a:lstStyle/>
          <a:p>
            <a:pPr indent="0" marL="0">
              <a:buNone/>
            </a:pPr>
            <a:r>
              <a:rPr lang="en-US" sz="1400" b="1" dirty="0">
                <a:solidFill>
                  <a:schemeClr val="tx1"/>
                </a:solidFill>
              </a:rPr>
              <a:t>Henüz yok: </a:t>
            </a:r>
            <a:pPr indent="0" marL="0">
              <a:buNone/>
            </a:pPr>
            <a:r>
              <a:rPr lang="en-US" sz="1400" dirty="0">
                <a:solidFill>
                  <a:schemeClr val="tx1"/>
                </a:solidFill>
              </a:rPr>
              <a:t>gerçek cihazda saha testi, otomatik birim testleri, yük testi</a:t>
            </a:r>
            <a:endParaRPr lang="en-US" sz="1400" dirty="0"/>
          </a:p>
        </p:txBody>
      </p:sp>
      <p:sp>
        <p:nvSpPr>
          <p:cNvPr id="32" name="kart-526"/>
          <p:cNvSpPr/>
          <p:nvPr/>
        </p:nvSpPr>
        <p:spPr>
          <a:xfrm>
            <a:off x="7406640" y="1600200"/>
            <a:ext cx="2002536" cy="2103120"/>
          </a:xfrm>
          <a:prstGeom prst="roundRect">
            <a:avLst>
              <a:gd name="adj" fmla="val 5479"/>
            </a:avLst>
          </a:prstGeom>
          <a:solidFill>
            <a:srgbClr val="D7F5EA"/>
          </a:solidFill>
          <a:ln/>
        </p:spPr>
      </p:sp>
      <p:sp>
        <p:nvSpPr>
          <p:cNvPr id="33" name="metin-527"/>
          <p:cNvSpPr txBox="1"/>
          <p:nvPr/>
        </p:nvSpPr>
        <p:spPr>
          <a:xfrm>
            <a:off x="7589520" y="2103120"/>
            <a:ext cx="1691640" cy="548640"/>
          </a:xfrm>
          <a:prstGeom prst="rect">
            <a:avLst/>
          </a:prstGeom>
          <a:noFill/>
          <a:ln/>
        </p:spPr>
        <p:txBody>
          <a:bodyPr wrap="square" lIns="0" tIns="0" rIns="0" bIns="0" rtlCol="0" anchor="t"/>
          <a:lstStyle/>
          <a:p>
            <a:pPr indent="0" marL="0">
              <a:buNone/>
            </a:pPr>
            <a:r>
              <a:rPr lang="en-US" sz="2600" b="1" dirty="0">
                <a:solidFill>
                  <a:schemeClr val="accent2"/>
                </a:solidFill>
              </a:rPr>
              <a:t>43,6 MB</a:t>
            </a:r>
            <a:endParaRPr lang="en-US" sz="2600" dirty="0"/>
          </a:p>
        </p:txBody>
      </p:sp>
      <p:sp>
        <p:nvSpPr>
          <p:cNvPr id="34" name="metin-528"/>
          <p:cNvSpPr txBox="1"/>
          <p:nvPr/>
        </p:nvSpPr>
        <p:spPr>
          <a:xfrm>
            <a:off x="7589520" y="2697480"/>
            <a:ext cx="1691640" cy="640080"/>
          </a:xfrm>
          <a:prstGeom prst="rect">
            <a:avLst/>
          </a:prstGeom>
          <a:noFill/>
          <a:ln/>
        </p:spPr>
        <p:txBody>
          <a:bodyPr wrap="square" lIns="0" tIns="0" rIns="0" bIns="0" rtlCol="0" anchor="t"/>
          <a:lstStyle/>
          <a:p>
            <a:pPr indent="0" marL="0">
              <a:buNone/>
            </a:pPr>
            <a:r>
              <a:rPr lang="en-US" sz="1300" dirty="0">
                <a:solidFill>
                  <a:schemeClr val="tx1"/>
                </a:solidFill>
              </a:rPr>
              <a:t>imzalı release APK</a:t>
            </a:r>
            <a:endParaRPr lang="en-US" sz="1300" dirty="0"/>
          </a:p>
        </p:txBody>
      </p:sp>
      <p:sp>
        <p:nvSpPr>
          <p:cNvPr id="35" name="kart-529"/>
          <p:cNvSpPr/>
          <p:nvPr/>
        </p:nvSpPr>
        <p:spPr>
          <a:xfrm>
            <a:off x="9637776" y="1600200"/>
            <a:ext cx="2002536" cy="2103120"/>
          </a:xfrm>
          <a:prstGeom prst="roundRect">
            <a:avLst>
              <a:gd name="adj" fmla="val 5479"/>
            </a:avLst>
          </a:prstGeom>
          <a:solidFill>
            <a:srgbClr val="D7F5EA"/>
          </a:solidFill>
          <a:ln/>
        </p:spPr>
      </p:sp>
      <p:sp>
        <p:nvSpPr>
          <p:cNvPr id="36" name="metin-530"/>
          <p:cNvSpPr txBox="1"/>
          <p:nvPr/>
        </p:nvSpPr>
        <p:spPr>
          <a:xfrm>
            <a:off x="9820656" y="2103120"/>
            <a:ext cx="1691640" cy="548640"/>
          </a:xfrm>
          <a:prstGeom prst="rect">
            <a:avLst/>
          </a:prstGeom>
          <a:noFill/>
          <a:ln/>
        </p:spPr>
        <p:txBody>
          <a:bodyPr wrap="square" lIns="0" tIns="0" rIns="0" bIns="0" rtlCol="0" anchor="t"/>
          <a:lstStyle/>
          <a:p>
            <a:pPr indent="0" marL="0">
              <a:buNone/>
            </a:pPr>
            <a:r>
              <a:rPr lang="en-US" sz="2600" b="1" dirty="0">
                <a:solidFill>
                  <a:schemeClr val="accent2"/>
                </a:solidFill>
              </a:rPr>
              <a:t>24 → 36</a:t>
            </a:r>
            <a:endParaRPr lang="en-US" sz="2600" dirty="0"/>
          </a:p>
        </p:txBody>
      </p:sp>
      <p:sp>
        <p:nvSpPr>
          <p:cNvPr id="37" name="metin-531"/>
          <p:cNvSpPr txBox="1"/>
          <p:nvPr/>
        </p:nvSpPr>
        <p:spPr>
          <a:xfrm>
            <a:off x="9820656" y="2697480"/>
            <a:ext cx="1691640" cy="640080"/>
          </a:xfrm>
          <a:prstGeom prst="rect">
            <a:avLst/>
          </a:prstGeom>
          <a:noFill/>
          <a:ln/>
        </p:spPr>
        <p:txBody>
          <a:bodyPr wrap="square" lIns="0" tIns="0" rIns="0" bIns="0" rtlCol="0" anchor="t"/>
          <a:lstStyle/>
          <a:p>
            <a:pPr indent="0" marL="0">
              <a:buNone/>
            </a:pPr>
            <a:r>
              <a:rPr lang="en-US" sz="1300" dirty="0">
                <a:solidFill>
                  <a:schemeClr val="tx1"/>
                </a:solidFill>
              </a:rPr>
              <a:t>minSdk → targetSdk</a:t>
            </a:r>
            <a:endParaRPr lang="en-US" sz="1300" dirty="0"/>
          </a:p>
        </p:txBody>
      </p:sp>
      <p:sp>
        <p:nvSpPr>
          <p:cNvPr id="38" name="kart-532"/>
          <p:cNvSpPr/>
          <p:nvPr/>
        </p:nvSpPr>
        <p:spPr>
          <a:xfrm>
            <a:off x="7406640" y="3904488"/>
            <a:ext cx="2002536" cy="2103120"/>
          </a:xfrm>
          <a:prstGeom prst="roundRect">
            <a:avLst>
              <a:gd name="adj" fmla="val 5479"/>
            </a:avLst>
          </a:prstGeom>
          <a:solidFill>
            <a:srgbClr val="D7F5EA"/>
          </a:solidFill>
          <a:ln/>
        </p:spPr>
      </p:sp>
      <p:sp>
        <p:nvSpPr>
          <p:cNvPr id="39" name="metin-533"/>
          <p:cNvSpPr txBox="1"/>
          <p:nvPr/>
        </p:nvSpPr>
        <p:spPr>
          <a:xfrm>
            <a:off x="7589520" y="4407408"/>
            <a:ext cx="1691640" cy="548640"/>
          </a:xfrm>
          <a:prstGeom prst="rect">
            <a:avLst/>
          </a:prstGeom>
          <a:noFill/>
          <a:ln/>
        </p:spPr>
        <p:txBody>
          <a:bodyPr wrap="square" lIns="0" tIns="0" rIns="0" bIns="0" rtlCol="0" anchor="t"/>
          <a:lstStyle/>
          <a:p>
            <a:pPr indent="0" marL="0">
              <a:buNone/>
            </a:pPr>
            <a:r>
              <a:rPr lang="en-US" sz="2600" b="1" dirty="0">
                <a:solidFill>
                  <a:schemeClr val="accent2"/>
                </a:solidFill>
              </a:rPr>
              <a:t>2 ABI</a:t>
            </a:r>
            <a:endParaRPr lang="en-US" sz="2600" dirty="0"/>
          </a:p>
        </p:txBody>
      </p:sp>
      <p:sp>
        <p:nvSpPr>
          <p:cNvPr id="40" name="metin-534"/>
          <p:cNvSpPr txBox="1"/>
          <p:nvPr/>
        </p:nvSpPr>
        <p:spPr>
          <a:xfrm>
            <a:off x="7589520" y="5001768"/>
            <a:ext cx="1691640" cy="640080"/>
          </a:xfrm>
          <a:prstGeom prst="rect">
            <a:avLst/>
          </a:prstGeom>
          <a:noFill/>
          <a:ln/>
        </p:spPr>
        <p:txBody>
          <a:bodyPr wrap="square" lIns="0" tIns="0" rIns="0" bIns="0" rtlCol="0" anchor="t"/>
          <a:lstStyle/>
          <a:p>
            <a:pPr indent="0" marL="0">
              <a:buNone/>
            </a:pPr>
            <a:r>
              <a:rPr lang="en-US" sz="1300" dirty="0">
                <a:solidFill>
                  <a:schemeClr val="tx1"/>
                </a:solidFill>
              </a:rPr>
              <a:t>arm64-v8a · armeabi-v7a</a:t>
            </a:r>
            <a:endParaRPr lang="en-US" sz="1300" dirty="0"/>
          </a:p>
        </p:txBody>
      </p:sp>
      <p:sp>
        <p:nvSpPr>
          <p:cNvPr id="41" name="kart-535"/>
          <p:cNvSpPr/>
          <p:nvPr/>
        </p:nvSpPr>
        <p:spPr>
          <a:xfrm>
            <a:off x="9637776" y="3904488"/>
            <a:ext cx="2002536" cy="2103120"/>
          </a:xfrm>
          <a:prstGeom prst="roundRect">
            <a:avLst>
              <a:gd name="adj" fmla="val 5479"/>
            </a:avLst>
          </a:prstGeom>
          <a:solidFill>
            <a:srgbClr val="D7F5EA"/>
          </a:solidFill>
          <a:ln/>
        </p:spPr>
      </p:sp>
      <p:sp>
        <p:nvSpPr>
          <p:cNvPr id="42" name="metin-536"/>
          <p:cNvSpPr txBox="1"/>
          <p:nvPr/>
        </p:nvSpPr>
        <p:spPr>
          <a:xfrm>
            <a:off x="9820656" y="4407408"/>
            <a:ext cx="1691640" cy="548640"/>
          </a:xfrm>
          <a:prstGeom prst="rect">
            <a:avLst/>
          </a:prstGeom>
          <a:noFill/>
          <a:ln/>
        </p:spPr>
        <p:txBody>
          <a:bodyPr wrap="square" lIns="0" tIns="0" rIns="0" bIns="0" rtlCol="0" anchor="t"/>
          <a:lstStyle/>
          <a:p>
            <a:pPr indent="0" marL="0">
              <a:buNone/>
            </a:pPr>
            <a:r>
              <a:rPr lang="en-US" sz="2600" b="1" dirty="0">
                <a:solidFill>
                  <a:schemeClr val="accent2"/>
                </a:solidFill>
              </a:rPr>
              <a:t>5 dk 33 sn</a:t>
            </a:r>
            <a:endParaRPr lang="en-US" sz="2600" dirty="0"/>
          </a:p>
        </p:txBody>
      </p:sp>
      <p:sp>
        <p:nvSpPr>
          <p:cNvPr id="43" name="metin-537"/>
          <p:cNvSpPr txBox="1"/>
          <p:nvPr/>
        </p:nvSpPr>
        <p:spPr>
          <a:xfrm>
            <a:off x="9820656" y="5001768"/>
            <a:ext cx="1691640" cy="640080"/>
          </a:xfrm>
          <a:prstGeom prst="rect">
            <a:avLst/>
          </a:prstGeom>
          <a:noFill/>
          <a:ln/>
        </p:spPr>
        <p:txBody>
          <a:bodyPr wrap="square" lIns="0" tIns="0" rIns="0" bIns="0" rtlCol="0" anchor="t"/>
          <a:lstStyle/>
          <a:p>
            <a:pPr indent="0" marL="0">
              <a:buNone/>
            </a:pPr>
            <a:r>
              <a:rPr lang="en-US" sz="1300" dirty="0">
                <a:solidFill>
                  <a:schemeClr val="tx1"/>
                </a:solidFill>
              </a:rPr>
              <a:t>yerel Gradle release derlemesi</a:t>
            </a:r>
            <a:endParaRPr lang="en-US" sz="13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B6B6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8229600" cy="274320"/>
          </a:xfrm>
          <a:prstGeom prst="rect">
            <a:avLst/>
          </a:prstGeom>
          <a:noFill/>
          <a:ln/>
        </p:spPr>
        <p:txBody>
          <a:bodyPr wrap="square" lIns="0" tIns="0" rIns="0" bIns="0" rtlCol="0" anchor="t"/>
          <a:lstStyle/>
          <a:p>
            <a:pPr indent="0" marL="0">
              <a:buNone/>
            </a:pPr>
            <a:r>
              <a:rPr lang="en-US" sz="1200" b="1" spc="150" kern="0" dirty="0">
                <a:solidFill>
                  <a:schemeClr val="accent2"/>
                </a:solidFill>
              </a:rPr>
              <a:t>YOL HARİTASI</a:t>
            </a:r>
            <a:endParaRPr lang="en-US" sz="1200" dirty="0"/>
          </a:p>
        </p:txBody>
      </p:sp>
      <p:sp>
        <p:nvSpPr>
          <p:cNvPr id="3" name="Text 0"/>
          <p:cNvSpPr/>
          <p:nvPr>
            <p:ph idx="101" type="title" hasCustomPrompt="1"/>
          </p:nvPr>
        </p:nvSpPr>
        <p:spPr>
          <a:xfrm>
            <a:off x="548640" y="621792"/>
            <a:ext cx="11091672" cy="731520"/>
          </a:xfrm>
          <a:prstGeom prst="rect">
            <a:avLst/>
          </a:prstGeom>
          <a:noFill/>
          <a:ln/>
        </p:spPr>
        <p:txBody>
          <a:bodyPr wrap="square" lIns="0" tIns="0" rIns="0" bIns="0" rtlCol="0" anchor="t"/>
          <a:lstStyle/>
          <a:p>
            <a:pPr algn="l" indent="0" marL="0">
              <a:buNone/>
            </a:pPr>
            <a:r>
              <a:rPr lang="en-US" sz="3000" b="1" dirty="0">
                <a:solidFill>
                  <a:schemeClr val="tx1"/>
                </a:solidFill>
              </a:rPr>
              <a:t>Sınırlamaları biliyoruz; yol haritası bunlardan çıkıyor</a:t>
            </a:r>
            <a:endParaRPr lang="en-US" sz="3000" dirty="0"/>
          </a:p>
        </p:txBody>
      </p:sp>
      <p:sp>
        <p:nvSpPr>
          <p:cNvPr id="4" name="metin-538"/>
          <p:cNvSpPr txBox="1"/>
          <p:nvPr/>
        </p:nvSpPr>
        <p:spPr>
          <a:xfrm>
            <a:off x="548640" y="1536192"/>
            <a:ext cx="5394960" cy="274320"/>
          </a:xfrm>
          <a:prstGeom prst="rect">
            <a:avLst/>
          </a:prstGeom>
          <a:noFill/>
          <a:ln/>
        </p:spPr>
        <p:txBody>
          <a:bodyPr wrap="square" lIns="0" tIns="0" rIns="0" bIns="0" rtlCol="0" anchor="t"/>
          <a:lstStyle/>
          <a:p>
            <a:pPr indent="0" marL="0">
              <a:buNone/>
            </a:pPr>
            <a:r>
              <a:rPr lang="en-US" sz="1100" b="1" spc="100" kern="0" dirty="0">
                <a:solidFill>
                  <a:schemeClr val="tx2"/>
                </a:solidFill>
              </a:rPr>
              <a:t>ŞU AN</a:t>
            </a:r>
            <a:endParaRPr lang="en-US" sz="1100" dirty="0"/>
          </a:p>
        </p:txBody>
      </p:sp>
      <p:sp>
        <p:nvSpPr>
          <p:cNvPr id="5" name="metin-539"/>
          <p:cNvSpPr txBox="1"/>
          <p:nvPr/>
        </p:nvSpPr>
        <p:spPr>
          <a:xfrm>
            <a:off x="6400800" y="1536192"/>
            <a:ext cx="5239512" cy="274320"/>
          </a:xfrm>
          <a:prstGeom prst="rect">
            <a:avLst/>
          </a:prstGeom>
          <a:noFill/>
          <a:ln/>
        </p:spPr>
        <p:txBody>
          <a:bodyPr wrap="square" lIns="0" tIns="0" rIns="0" bIns="0" rtlCol="0" anchor="t"/>
          <a:lstStyle/>
          <a:p>
            <a:pPr indent="0" marL="0">
              <a:buNone/>
            </a:pPr>
            <a:r>
              <a:rPr lang="en-US" sz="1100" b="1" spc="100" kern="0" dirty="0">
                <a:solidFill>
                  <a:schemeClr val="accent2"/>
                </a:solidFill>
              </a:rPr>
              <a:t>SONRAKİ ADIM</a:t>
            </a:r>
            <a:endParaRPr lang="en-US" sz="1100" dirty="0"/>
          </a:p>
        </p:txBody>
      </p:sp>
      <p:sp>
        <p:nvSpPr>
          <p:cNvPr id="6" name="kart-540"/>
          <p:cNvSpPr/>
          <p:nvPr/>
        </p:nvSpPr>
        <p:spPr>
          <a:xfrm>
            <a:off x="548640" y="1847088"/>
            <a:ext cx="5394960" cy="621792"/>
          </a:xfrm>
          <a:prstGeom prst="roundRect">
            <a:avLst>
              <a:gd name="adj" fmla="val 17647"/>
            </a:avLst>
          </a:prstGeom>
          <a:solidFill>
            <a:schemeClr val="bg2"/>
          </a:solidFill>
          <a:ln/>
        </p:spPr>
      </p:sp>
      <p:sp>
        <p:nvSpPr>
          <p:cNvPr id="7" name="metin-541"/>
          <p:cNvSpPr txBox="1"/>
          <p:nvPr/>
        </p:nvSpPr>
        <p:spPr>
          <a:xfrm>
            <a:off x="731520" y="1847088"/>
            <a:ext cx="5074920" cy="621792"/>
          </a:xfrm>
          <a:prstGeom prst="rect">
            <a:avLst/>
          </a:prstGeom>
          <a:noFill/>
          <a:ln/>
        </p:spPr>
        <p:txBody>
          <a:bodyPr wrap="square" lIns="0" tIns="0" rIns="0" bIns="0" rtlCol="0" anchor="ctr"/>
          <a:lstStyle/>
          <a:p>
            <a:pPr indent="0" marL="0">
              <a:buNone/>
            </a:pPr>
            <a:r>
              <a:rPr lang="en-US" sz="1400" dirty="0">
                <a:solidFill>
                  <a:schemeClr val="tx1"/>
                </a:solidFill>
              </a:rPr>
              <a:t>Toprak nemi hava verisinden türetilen kaba bir vekil</a:t>
            </a:r>
            <a:endParaRPr lang="en-US" sz="1400" dirty="0"/>
          </a:p>
        </p:txBody>
      </p:sp>
      <p:pic>
        <p:nvPicPr>
          <p:cNvPr id="8" name="ok-ikon-542" descr="preencoded.png">    </p:cNvPr>
          <p:cNvPicPr>
            <a:picLocks noChangeAspect="1"/>
          </p:cNvPicPr>
          <p:nvPr/>
        </p:nvPicPr>
        <p:blipFill>
          <a:blip r:embed="rId1"/>
          <a:stretch>
            <a:fillRect/>
          </a:stretch>
        </p:blipFill>
        <p:spPr>
          <a:xfrm>
            <a:off x="6035040" y="2002536"/>
            <a:ext cx="310896" cy="310896"/>
          </a:xfrm>
          <a:prstGeom prst="rect">
            <a:avLst/>
          </a:prstGeom>
        </p:spPr>
      </p:pic>
      <p:sp>
        <p:nvSpPr>
          <p:cNvPr id="9" name="kart-543"/>
          <p:cNvSpPr/>
          <p:nvPr/>
        </p:nvSpPr>
        <p:spPr>
          <a:xfrm>
            <a:off x="6400800" y="1847088"/>
            <a:ext cx="5239512" cy="621792"/>
          </a:xfrm>
          <a:prstGeom prst="roundRect">
            <a:avLst>
              <a:gd name="adj" fmla="val 17647"/>
            </a:avLst>
          </a:prstGeom>
          <a:solidFill>
            <a:srgbClr val="D7F5EA"/>
          </a:solidFill>
          <a:ln/>
        </p:spPr>
      </p:sp>
      <p:sp>
        <p:nvSpPr>
          <p:cNvPr id="10" name="metin-544"/>
          <p:cNvSpPr txBox="1"/>
          <p:nvPr/>
        </p:nvSpPr>
        <p:spPr>
          <a:xfrm>
            <a:off x="6583680" y="1847088"/>
            <a:ext cx="4937760" cy="621792"/>
          </a:xfrm>
          <a:prstGeom prst="rect">
            <a:avLst/>
          </a:prstGeom>
          <a:noFill/>
          <a:ln/>
        </p:spPr>
        <p:txBody>
          <a:bodyPr wrap="square" lIns="0" tIns="0" rIns="0" bIns="0" rtlCol="0" anchor="ctr"/>
          <a:lstStyle/>
          <a:p>
            <a:pPr indent="0" marL="0">
              <a:buNone/>
            </a:pPr>
            <a:r>
              <a:rPr lang="en-US" sz="1400" b="1" dirty="0">
                <a:solidFill>
                  <a:schemeClr val="tx1"/>
                </a:solidFill>
              </a:rPr>
              <a:t>Kapasitif nem sensörü + ESP32 / LoRa ile tarladan gerçek ölçüm</a:t>
            </a:r>
            <a:endParaRPr lang="en-US" sz="1400" dirty="0"/>
          </a:p>
        </p:txBody>
      </p:sp>
      <p:sp>
        <p:nvSpPr>
          <p:cNvPr id="11" name="kart-545"/>
          <p:cNvSpPr/>
          <p:nvPr/>
        </p:nvSpPr>
        <p:spPr>
          <a:xfrm>
            <a:off x="548640" y="2569464"/>
            <a:ext cx="5394960" cy="621792"/>
          </a:xfrm>
          <a:prstGeom prst="roundRect">
            <a:avLst>
              <a:gd name="adj" fmla="val 17647"/>
            </a:avLst>
          </a:prstGeom>
          <a:solidFill>
            <a:schemeClr val="bg2"/>
          </a:solidFill>
          <a:ln/>
        </p:spPr>
      </p:sp>
      <p:sp>
        <p:nvSpPr>
          <p:cNvPr id="12" name="metin-546"/>
          <p:cNvSpPr txBox="1"/>
          <p:nvPr/>
        </p:nvSpPr>
        <p:spPr>
          <a:xfrm>
            <a:off x="731520" y="2569464"/>
            <a:ext cx="5074920" cy="621792"/>
          </a:xfrm>
          <a:prstGeom prst="rect">
            <a:avLst/>
          </a:prstGeom>
          <a:noFill/>
          <a:ln/>
        </p:spPr>
        <p:txBody>
          <a:bodyPr wrap="square" lIns="0" tIns="0" rIns="0" bIns="0" rtlCol="0" anchor="ctr"/>
          <a:lstStyle/>
          <a:p>
            <a:pPr indent="0" marL="0">
              <a:buNone/>
            </a:pPr>
            <a:r>
              <a:rPr lang="en-US" sz="1400" dirty="0">
                <a:solidFill>
                  <a:schemeClr val="tx1"/>
                </a:solidFill>
              </a:rPr>
              <a:t>ET kararı sabit eşik: T &gt; 25°C, 10:00–17:00</a:t>
            </a:r>
            <a:endParaRPr lang="en-US" sz="1400" dirty="0"/>
          </a:p>
        </p:txBody>
      </p:sp>
      <p:pic>
        <p:nvPicPr>
          <p:cNvPr id="13" name="ok-ikon-547" descr="preencoded.png">    </p:cNvPr>
          <p:cNvPicPr>
            <a:picLocks noChangeAspect="1"/>
          </p:cNvPicPr>
          <p:nvPr/>
        </p:nvPicPr>
        <p:blipFill>
          <a:blip r:embed="rId2"/>
          <a:stretch>
            <a:fillRect/>
          </a:stretch>
        </p:blipFill>
        <p:spPr>
          <a:xfrm>
            <a:off x="6035040" y="2724912"/>
            <a:ext cx="310896" cy="310896"/>
          </a:xfrm>
          <a:prstGeom prst="rect">
            <a:avLst/>
          </a:prstGeom>
        </p:spPr>
      </p:pic>
      <p:sp>
        <p:nvSpPr>
          <p:cNvPr id="14" name="kart-548"/>
          <p:cNvSpPr/>
          <p:nvPr/>
        </p:nvSpPr>
        <p:spPr>
          <a:xfrm>
            <a:off x="6400800" y="2569464"/>
            <a:ext cx="5239512" cy="621792"/>
          </a:xfrm>
          <a:prstGeom prst="roundRect">
            <a:avLst>
              <a:gd name="adj" fmla="val 17647"/>
            </a:avLst>
          </a:prstGeom>
          <a:solidFill>
            <a:srgbClr val="D7F5EA"/>
          </a:solidFill>
          <a:ln/>
        </p:spPr>
      </p:sp>
      <p:sp>
        <p:nvSpPr>
          <p:cNvPr id="15" name="metin-549"/>
          <p:cNvSpPr txBox="1"/>
          <p:nvPr/>
        </p:nvSpPr>
        <p:spPr>
          <a:xfrm>
            <a:off x="6583680" y="2569464"/>
            <a:ext cx="4937760" cy="621792"/>
          </a:xfrm>
          <a:prstGeom prst="rect">
            <a:avLst/>
          </a:prstGeom>
          <a:noFill/>
          <a:ln/>
        </p:spPr>
        <p:txBody>
          <a:bodyPr wrap="square" lIns="0" tIns="0" rIns="0" bIns="0" rtlCol="0" anchor="ctr"/>
          <a:lstStyle/>
          <a:p>
            <a:pPr indent="0" marL="0">
              <a:buNone/>
            </a:pPr>
            <a:r>
              <a:rPr lang="en-US" sz="1400" b="1" dirty="0">
                <a:solidFill>
                  <a:schemeClr val="tx1"/>
                </a:solidFill>
              </a:rPr>
              <a:t>FAO-56 Penman–Monteith ET₀ (Open-Meteo) ile günlük su bütçesi</a:t>
            </a:r>
            <a:endParaRPr lang="en-US" sz="1400" dirty="0"/>
          </a:p>
        </p:txBody>
      </p:sp>
      <p:sp>
        <p:nvSpPr>
          <p:cNvPr id="16" name="kart-550"/>
          <p:cNvSpPr/>
          <p:nvPr/>
        </p:nvSpPr>
        <p:spPr>
          <a:xfrm>
            <a:off x="548640" y="3291840"/>
            <a:ext cx="5394960" cy="621792"/>
          </a:xfrm>
          <a:prstGeom prst="roundRect">
            <a:avLst>
              <a:gd name="adj" fmla="val 17647"/>
            </a:avLst>
          </a:prstGeom>
          <a:solidFill>
            <a:schemeClr val="bg2"/>
          </a:solidFill>
          <a:ln/>
        </p:spPr>
      </p:sp>
      <p:sp>
        <p:nvSpPr>
          <p:cNvPr id="17" name="metin-551"/>
          <p:cNvSpPr txBox="1"/>
          <p:nvPr/>
        </p:nvSpPr>
        <p:spPr>
          <a:xfrm>
            <a:off x="731520" y="3291840"/>
            <a:ext cx="5074920" cy="621792"/>
          </a:xfrm>
          <a:prstGeom prst="rect">
            <a:avLst/>
          </a:prstGeom>
          <a:noFill/>
          <a:ln/>
        </p:spPr>
        <p:txBody>
          <a:bodyPr wrap="square" lIns="0" tIns="0" rIns="0" bIns="0" rtlCol="0" anchor="ctr"/>
          <a:lstStyle/>
          <a:p>
            <a:pPr indent="0" marL="0">
              <a:buNone/>
            </a:pPr>
            <a:r>
              <a:rPr lang="en-US" sz="1400" dirty="0">
                <a:solidFill>
                  <a:schemeClr val="tx1"/>
                </a:solidFill>
              </a:rPr>
              <a:t>Manuel “Kapalı” don korumasını da geçersiz kılabiliyor</a:t>
            </a:r>
            <a:endParaRPr lang="en-US" sz="1400" dirty="0"/>
          </a:p>
        </p:txBody>
      </p:sp>
      <p:pic>
        <p:nvPicPr>
          <p:cNvPr id="18" name="ok-ikon-552" descr="preencoded.png">    </p:cNvPr>
          <p:cNvPicPr>
            <a:picLocks noChangeAspect="1"/>
          </p:cNvPicPr>
          <p:nvPr/>
        </p:nvPicPr>
        <p:blipFill>
          <a:blip r:embed="rId3"/>
          <a:stretch>
            <a:fillRect/>
          </a:stretch>
        </p:blipFill>
        <p:spPr>
          <a:xfrm>
            <a:off x="6035040" y="3447288"/>
            <a:ext cx="310896" cy="310896"/>
          </a:xfrm>
          <a:prstGeom prst="rect">
            <a:avLst/>
          </a:prstGeom>
        </p:spPr>
      </p:pic>
      <p:sp>
        <p:nvSpPr>
          <p:cNvPr id="19" name="kart-553"/>
          <p:cNvSpPr/>
          <p:nvPr/>
        </p:nvSpPr>
        <p:spPr>
          <a:xfrm>
            <a:off x="6400800" y="3291840"/>
            <a:ext cx="5239512" cy="621792"/>
          </a:xfrm>
          <a:prstGeom prst="roundRect">
            <a:avLst>
              <a:gd name="adj" fmla="val 17647"/>
            </a:avLst>
          </a:prstGeom>
          <a:solidFill>
            <a:srgbClr val="D7F5EA"/>
          </a:solidFill>
          <a:ln/>
        </p:spPr>
      </p:sp>
      <p:sp>
        <p:nvSpPr>
          <p:cNvPr id="20" name="metin-554"/>
          <p:cNvSpPr txBox="1"/>
          <p:nvPr/>
        </p:nvSpPr>
        <p:spPr>
          <a:xfrm>
            <a:off x="6583680" y="3291840"/>
            <a:ext cx="4937760" cy="621792"/>
          </a:xfrm>
          <a:prstGeom prst="rect">
            <a:avLst/>
          </a:prstGeom>
          <a:noFill/>
          <a:ln/>
        </p:spPr>
        <p:txBody>
          <a:bodyPr wrap="square" lIns="0" tIns="0" rIns="0" bIns="0" rtlCol="0" anchor="ctr"/>
          <a:lstStyle/>
          <a:p>
            <a:pPr indent="0" marL="0">
              <a:buNone/>
            </a:pPr>
            <a:r>
              <a:rPr lang="en-US" sz="1400" b="1" dirty="0">
                <a:solidFill>
                  <a:schemeClr val="tx1"/>
                </a:solidFill>
              </a:rPr>
              <a:t>Güvenlik kilidi: don riskinde onay iste ve uyarı gönder</a:t>
            </a:r>
            <a:endParaRPr lang="en-US" sz="1400" dirty="0"/>
          </a:p>
        </p:txBody>
      </p:sp>
      <p:sp>
        <p:nvSpPr>
          <p:cNvPr id="21" name="kart-555"/>
          <p:cNvSpPr/>
          <p:nvPr/>
        </p:nvSpPr>
        <p:spPr>
          <a:xfrm>
            <a:off x="548640" y="4014216"/>
            <a:ext cx="5394960" cy="621792"/>
          </a:xfrm>
          <a:prstGeom prst="roundRect">
            <a:avLst>
              <a:gd name="adj" fmla="val 17647"/>
            </a:avLst>
          </a:prstGeom>
          <a:solidFill>
            <a:schemeClr val="bg2"/>
          </a:solidFill>
          <a:ln/>
        </p:spPr>
      </p:sp>
      <p:sp>
        <p:nvSpPr>
          <p:cNvPr id="22" name="metin-556"/>
          <p:cNvSpPr txBox="1"/>
          <p:nvPr/>
        </p:nvSpPr>
        <p:spPr>
          <a:xfrm>
            <a:off x="731520" y="4014216"/>
            <a:ext cx="5074920" cy="621792"/>
          </a:xfrm>
          <a:prstGeom prst="rect">
            <a:avLst/>
          </a:prstGeom>
          <a:noFill/>
          <a:ln/>
        </p:spPr>
        <p:txBody>
          <a:bodyPr wrap="square" lIns="0" tIns="0" rIns="0" bIns="0" rtlCol="0" anchor="ctr"/>
          <a:lstStyle/>
          <a:p>
            <a:pPr indent="0" marL="0">
              <a:buNone/>
            </a:pPr>
            <a:r>
              <a:rPr lang="en-US" sz="1400" dirty="0">
                <a:solidFill>
                  <a:schemeClr val="tx1"/>
                </a:solidFill>
              </a:rPr>
              <a:t>db.json ve tek global durum (tek kullanıcı)</a:t>
            </a:r>
            <a:endParaRPr lang="en-US" sz="1400" dirty="0"/>
          </a:p>
        </p:txBody>
      </p:sp>
      <p:pic>
        <p:nvPicPr>
          <p:cNvPr id="23" name="ok-ikon-557" descr="preencoded.png">    </p:cNvPr>
          <p:cNvPicPr>
            <a:picLocks noChangeAspect="1"/>
          </p:cNvPicPr>
          <p:nvPr/>
        </p:nvPicPr>
        <p:blipFill>
          <a:blip r:embed="rId4"/>
          <a:stretch>
            <a:fillRect/>
          </a:stretch>
        </p:blipFill>
        <p:spPr>
          <a:xfrm>
            <a:off x="6035040" y="4169664"/>
            <a:ext cx="310896" cy="310896"/>
          </a:xfrm>
          <a:prstGeom prst="rect">
            <a:avLst/>
          </a:prstGeom>
        </p:spPr>
      </p:pic>
      <p:sp>
        <p:nvSpPr>
          <p:cNvPr id="24" name="kart-558"/>
          <p:cNvSpPr/>
          <p:nvPr/>
        </p:nvSpPr>
        <p:spPr>
          <a:xfrm>
            <a:off x="6400800" y="4014216"/>
            <a:ext cx="5239512" cy="621792"/>
          </a:xfrm>
          <a:prstGeom prst="roundRect">
            <a:avLst>
              <a:gd name="adj" fmla="val 17647"/>
            </a:avLst>
          </a:prstGeom>
          <a:solidFill>
            <a:srgbClr val="D7F5EA"/>
          </a:solidFill>
          <a:ln/>
        </p:spPr>
      </p:sp>
      <p:sp>
        <p:nvSpPr>
          <p:cNvPr id="25" name="metin-559"/>
          <p:cNvSpPr txBox="1"/>
          <p:nvPr/>
        </p:nvSpPr>
        <p:spPr>
          <a:xfrm>
            <a:off x="6583680" y="4014216"/>
            <a:ext cx="4937760" cy="621792"/>
          </a:xfrm>
          <a:prstGeom prst="rect">
            <a:avLst/>
          </a:prstGeom>
          <a:noFill/>
          <a:ln/>
        </p:spPr>
        <p:txBody>
          <a:bodyPr wrap="square" lIns="0" tIns="0" rIns="0" bIns="0" rtlCol="0" anchor="ctr"/>
          <a:lstStyle/>
          <a:p>
            <a:pPr indent="0" marL="0">
              <a:buNone/>
            </a:pPr>
            <a:r>
              <a:rPr lang="en-US" sz="1400" b="1" dirty="0">
                <a:solidFill>
                  <a:schemeClr val="tx1"/>
                </a:solidFill>
              </a:rPr>
              <a:t>SQLite / PostgreSQL, kullanıcı hesapları, kimlik doğrulama</a:t>
            </a:r>
            <a:endParaRPr lang="en-US" sz="1400" dirty="0"/>
          </a:p>
        </p:txBody>
      </p:sp>
      <p:sp>
        <p:nvSpPr>
          <p:cNvPr id="26" name="kart-560"/>
          <p:cNvSpPr/>
          <p:nvPr/>
        </p:nvSpPr>
        <p:spPr>
          <a:xfrm>
            <a:off x="548640" y="4736592"/>
            <a:ext cx="5394960" cy="621792"/>
          </a:xfrm>
          <a:prstGeom prst="roundRect">
            <a:avLst>
              <a:gd name="adj" fmla="val 17647"/>
            </a:avLst>
          </a:prstGeom>
          <a:solidFill>
            <a:schemeClr val="bg2"/>
          </a:solidFill>
          <a:ln/>
        </p:spPr>
      </p:sp>
      <p:sp>
        <p:nvSpPr>
          <p:cNvPr id="27" name="metin-561"/>
          <p:cNvSpPr txBox="1"/>
          <p:nvPr/>
        </p:nvSpPr>
        <p:spPr>
          <a:xfrm>
            <a:off x="731520" y="4736592"/>
            <a:ext cx="5074920" cy="621792"/>
          </a:xfrm>
          <a:prstGeom prst="rect">
            <a:avLst/>
          </a:prstGeom>
          <a:noFill/>
          <a:ln/>
        </p:spPr>
        <p:txBody>
          <a:bodyPr wrap="square" lIns="0" tIns="0" rIns="0" bIns="0" rtlCol="0" anchor="ctr"/>
          <a:lstStyle/>
          <a:p>
            <a:pPr indent="0" marL="0">
              <a:buNone/>
            </a:pPr>
            <a:r>
              <a:rPr lang="en-US" sz="1400" dirty="0">
                <a:solidFill>
                  <a:schemeClr val="tx1"/>
                </a:solidFill>
              </a:rPr>
              <a:t>15 sn polling; uygulama kapalıyken uyarı gelmiyor</a:t>
            </a:r>
            <a:endParaRPr lang="en-US" sz="1400" dirty="0"/>
          </a:p>
        </p:txBody>
      </p:sp>
      <p:pic>
        <p:nvPicPr>
          <p:cNvPr id="28" name="ok-ikon-562" descr="preencoded.png">    </p:cNvPr>
          <p:cNvPicPr>
            <a:picLocks noChangeAspect="1"/>
          </p:cNvPicPr>
          <p:nvPr/>
        </p:nvPicPr>
        <p:blipFill>
          <a:blip r:embed="rId5"/>
          <a:stretch>
            <a:fillRect/>
          </a:stretch>
        </p:blipFill>
        <p:spPr>
          <a:xfrm>
            <a:off x="6035040" y="4892040"/>
            <a:ext cx="310896" cy="310896"/>
          </a:xfrm>
          <a:prstGeom prst="rect">
            <a:avLst/>
          </a:prstGeom>
        </p:spPr>
      </p:pic>
      <p:sp>
        <p:nvSpPr>
          <p:cNvPr id="29" name="kart-563"/>
          <p:cNvSpPr/>
          <p:nvPr/>
        </p:nvSpPr>
        <p:spPr>
          <a:xfrm>
            <a:off x="6400800" y="4736592"/>
            <a:ext cx="5239512" cy="621792"/>
          </a:xfrm>
          <a:prstGeom prst="roundRect">
            <a:avLst>
              <a:gd name="adj" fmla="val 17647"/>
            </a:avLst>
          </a:prstGeom>
          <a:solidFill>
            <a:srgbClr val="D7F5EA"/>
          </a:solidFill>
          <a:ln/>
        </p:spPr>
      </p:sp>
      <p:sp>
        <p:nvSpPr>
          <p:cNvPr id="30" name="metin-564"/>
          <p:cNvSpPr txBox="1"/>
          <p:nvPr/>
        </p:nvSpPr>
        <p:spPr>
          <a:xfrm>
            <a:off x="6583680" y="4736592"/>
            <a:ext cx="4937760" cy="621792"/>
          </a:xfrm>
          <a:prstGeom prst="rect">
            <a:avLst/>
          </a:prstGeom>
          <a:noFill/>
          <a:ln/>
        </p:spPr>
        <p:txBody>
          <a:bodyPr wrap="square" lIns="0" tIns="0" rIns="0" bIns="0" rtlCol="0" anchor="ctr"/>
          <a:lstStyle/>
          <a:p>
            <a:pPr indent="0" marL="0">
              <a:buNone/>
            </a:pPr>
            <a:r>
              <a:rPr lang="en-US" sz="1400" b="1" dirty="0">
                <a:solidFill>
                  <a:schemeClr val="tx1"/>
                </a:solidFill>
              </a:rPr>
              <a:t>Don ve sulama olayları için push bildirim (FCM)</a:t>
            </a:r>
            <a:endParaRPr lang="en-US" sz="1400" dirty="0"/>
          </a:p>
        </p:txBody>
      </p:sp>
      <p:sp>
        <p:nvSpPr>
          <p:cNvPr id="31" name="kart-565"/>
          <p:cNvSpPr/>
          <p:nvPr/>
        </p:nvSpPr>
        <p:spPr>
          <a:xfrm>
            <a:off x="548640" y="5458968"/>
            <a:ext cx="5394960" cy="621792"/>
          </a:xfrm>
          <a:prstGeom prst="roundRect">
            <a:avLst>
              <a:gd name="adj" fmla="val 17647"/>
            </a:avLst>
          </a:prstGeom>
          <a:solidFill>
            <a:schemeClr val="bg2"/>
          </a:solidFill>
          <a:ln/>
        </p:spPr>
      </p:sp>
      <p:sp>
        <p:nvSpPr>
          <p:cNvPr id="32" name="metin-566"/>
          <p:cNvSpPr txBox="1"/>
          <p:nvPr/>
        </p:nvSpPr>
        <p:spPr>
          <a:xfrm>
            <a:off x="731520" y="5458968"/>
            <a:ext cx="5074920" cy="621792"/>
          </a:xfrm>
          <a:prstGeom prst="rect">
            <a:avLst/>
          </a:prstGeom>
          <a:noFill/>
          <a:ln/>
        </p:spPr>
        <p:txBody>
          <a:bodyPr wrap="square" lIns="0" tIns="0" rIns="0" bIns="0" rtlCol="0" anchor="ctr"/>
          <a:lstStyle/>
          <a:p>
            <a:pPr indent="0" marL="0">
              <a:buNone/>
            </a:pPr>
            <a:r>
              <a:rPr lang="en-US" sz="1400" dirty="0">
                <a:solidFill>
                  <a:schemeClr val="tx1"/>
                </a:solidFill>
              </a:rPr>
              <a:t>Banka raporu prototipte yalnızca bildirim</a:t>
            </a:r>
            <a:endParaRPr lang="en-US" sz="1400" dirty="0"/>
          </a:p>
        </p:txBody>
      </p:sp>
      <p:pic>
        <p:nvPicPr>
          <p:cNvPr id="33" name="ok-ikon-567" descr="preencoded.png">    </p:cNvPr>
          <p:cNvPicPr>
            <a:picLocks noChangeAspect="1"/>
          </p:cNvPicPr>
          <p:nvPr/>
        </p:nvPicPr>
        <p:blipFill>
          <a:blip r:embed="rId6"/>
          <a:stretch>
            <a:fillRect/>
          </a:stretch>
        </p:blipFill>
        <p:spPr>
          <a:xfrm>
            <a:off x="6035040" y="5614416"/>
            <a:ext cx="310896" cy="310896"/>
          </a:xfrm>
          <a:prstGeom prst="rect">
            <a:avLst/>
          </a:prstGeom>
        </p:spPr>
      </p:pic>
      <p:sp>
        <p:nvSpPr>
          <p:cNvPr id="34" name="kart-568"/>
          <p:cNvSpPr/>
          <p:nvPr/>
        </p:nvSpPr>
        <p:spPr>
          <a:xfrm>
            <a:off x="6400800" y="5458968"/>
            <a:ext cx="5239512" cy="621792"/>
          </a:xfrm>
          <a:prstGeom prst="roundRect">
            <a:avLst>
              <a:gd name="adj" fmla="val 17647"/>
            </a:avLst>
          </a:prstGeom>
          <a:solidFill>
            <a:srgbClr val="D7F5EA"/>
          </a:solidFill>
          <a:ln/>
        </p:spPr>
      </p:sp>
      <p:sp>
        <p:nvSpPr>
          <p:cNvPr id="35" name="metin-569"/>
          <p:cNvSpPr txBox="1"/>
          <p:nvPr/>
        </p:nvSpPr>
        <p:spPr>
          <a:xfrm>
            <a:off x="6583680" y="5458968"/>
            <a:ext cx="4937760" cy="621792"/>
          </a:xfrm>
          <a:prstGeom prst="rect">
            <a:avLst/>
          </a:prstGeom>
          <a:noFill/>
          <a:ln/>
        </p:spPr>
        <p:txBody>
          <a:bodyPr wrap="square" lIns="0" tIns="0" rIns="0" bIns="0" rtlCol="0" anchor="ctr"/>
          <a:lstStyle/>
          <a:p>
            <a:pPr indent="0" marL="0">
              <a:buNone/>
            </a:pPr>
            <a:r>
              <a:rPr lang="en-US" sz="1400" b="1" dirty="0">
                <a:solidFill>
                  <a:schemeClr val="tx1"/>
                </a:solidFill>
              </a:rPr>
              <a:t>PDF rapor üretimi ve paylaşma</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B6B6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731520" y="1371600"/>
            <a:ext cx="10698480" cy="1737360"/>
          </a:xfrm>
          <a:prstGeom prst="rect">
            <a:avLst/>
          </a:prstGeom>
          <a:noFill/>
          <a:ln/>
        </p:spPr>
        <p:txBody>
          <a:bodyPr wrap="square" lIns="0" tIns="0" rIns="0" bIns="0" rtlCol="0" anchor="b"/>
          <a:lstStyle/>
          <a:p>
            <a:pPr algn="l" indent="0" marL="0">
              <a:buNone/>
            </a:pPr>
            <a:r>
              <a:rPr lang="en-US" sz="4400" b="1" dirty="0">
                <a:solidFill>
                  <a:schemeClr val="bg1"/>
                </a:solidFill>
              </a:rPr>
              <a:t>Doğru saatte su, ucuz saatte enerji, yağmurdan önce gübre yok</a:t>
            </a:r>
            <a:endParaRPr lang="en-US" sz="4400" dirty="0"/>
          </a:p>
        </p:txBody>
      </p:sp>
      <p:sp>
        <p:nvSpPr>
          <p:cNvPr id="3" name="Text 0"/>
          <p:cNvSpPr/>
          <p:nvPr>
            <p:ph idx="101" type="body" hasCustomPrompt="1"/>
          </p:nvPr>
        </p:nvSpPr>
        <p:spPr>
          <a:xfrm>
            <a:off x="731520" y="3337560"/>
            <a:ext cx="10058400" cy="822960"/>
          </a:xfrm>
          <a:prstGeom prst="rect">
            <a:avLst/>
          </a:prstGeom>
          <a:noFill/>
          <a:ln/>
        </p:spPr>
        <p:txBody>
          <a:bodyPr wrap="square" lIns="0" tIns="0" rIns="0" bIns="0" rtlCol="0" anchor="t"/>
          <a:lstStyle/>
          <a:p>
            <a:pPr algn="l" indent="0" marL="0">
              <a:buNone/>
            </a:pPr>
            <a:r>
              <a:rPr lang="en-US" sz="2200" dirty="0">
                <a:solidFill>
                  <a:srgbClr val="A9C2B8"/>
                </a:solidFill>
              </a:rPr>
              <a:t>AgroGuard AI · web paneli + Android uygulaması · Teşekkürler, sorularınızı bekliyoruz</a:t>
            </a:r>
            <a:endParaRPr lang="en-US" sz="2200" dirty="0"/>
          </a:p>
        </p:txBody>
      </p:sp>
      <p:sp>
        <p:nvSpPr>
          <p:cNvPr id="4" name="ikon-zemin-570"/>
          <p:cNvSpPr/>
          <p:nvPr/>
        </p:nvSpPr>
        <p:spPr>
          <a:xfrm>
            <a:off x="731520" y="4572000"/>
            <a:ext cx="640080" cy="640080"/>
          </a:xfrm>
          <a:prstGeom prst="ellipse">
            <a:avLst/>
          </a:prstGeom>
          <a:solidFill>
            <a:schemeClr val="accent4"/>
          </a:solidFill>
          <a:ln/>
        </p:spPr>
      </p:sp>
      <p:pic>
        <p:nvPicPr>
          <p:cNvPr id="5" name="ikon-571" descr="preencoded.png">    </p:cNvPr>
          <p:cNvPicPr>
            <a:picLocks noChangeAspect="1"/>
          </p:cNvPicPr>
          <p:nvPr/>
        </p:nvPicPr>
        <p:blipFill>
          <a:blip r:embed="rId1"/>
          <a:stretch>
            <a:fillRect/>
          </a:stretch>
        </p:blipFill>
        <p:spPr>
          <a:xfrm>
            <a:off x="872338" y="4712818"/>
            <a:ext cx="358445" cy="358445"/>
          </a:xfrm>
          <a:prstGeom prst="rect">
            <a:avLst/>
          </a:prstGeom>
        </p:spPr>
      </p:pic>
      <p:sp>
        <p:nvSpPr>
          <p:cNvPr id="6" name="metin-572"/>
          <p:cNvSpPr txBox="1"/>
          <p:nvPr/>
        </p:nvSpPr>
        <p:spPr>
          <a:xfrm>
            <a:off x="1508760" y="4553712"/>
            <a:ext cx="1828800" cy="347472"/>
          </a:xfrm>
          <a:prstGeom prst="rect">
            <a:avLst/>
          </a:prstGeom>
          <a:noFill/>
          <a:ln/>
        </p:spPr>
        <p:txBody>
          <a:bodyPr wrap="square" lIns="0" tIns="0" rIns="0" bIns="0" rtlCol="0" anchor="t"/>
          <a:lstStyle/>
          <a:p>
            <a:pPr indent="0" marL="0">
              <a:buNone/>
            </a:pPr>
            <a:r>
              <a:rPr lang="en-US" sz="1800" b="1" dirty="0">
                <a:solidFill>
                  <a:schemeClr val="bg1"/>
                </a:solidFill>
              </a:rPr>
              <a:t>Su</a:t>
            </a:r>
            <a:endParaRPr lang="en-US" sz="1800" dirty="0"/>
          </a:p>
        </p:txBody>
      </p:sp>
      <p:sp>
        <p:nvSpPr>
          <p:cNvPr id="7" name="metin-573"/>
          <p:cNvSpPr txBox="1"/>
          <p:nvPr/>
        </p:nvSpPr>
        <p:spPr>
          <a:xfrm>
            <a:off x="1508760" y="4901184"/>
            <a:ext cx="1874520" cy="320040"/>
          </a:xfrm>
          <a:prstGeom prst="rect">
            <a:avLst/>
          </a:prstGeom>
          <a:noFill/>
          <a:ln/>
        </p:spPr>
        <p:txBody>
          <a:bodyPr wrap="square" lIns="0" tIns="0" rIns="0" bIns="0" rtlCol="0" anchor="t"/>
          <a:lstStyle/>
          <a:p>
            <a:pPr indent="0" marL="0">
              <a:buNone/>
            </a:pPr>
            <a:r>
              <a:rPr lang="en-US" sz="1300" dirty="0">
                <a:solidFill>
                  <a:srgbClr val="A9C2B8"/>
                </a:solidFill>
              </a:rPr>
              <a:t>Eşik ve ET kuralı</a:t>
            </a:r>
            <a:endParaRPr lang="en-US" sz="1300" dirty="0"/>
          </a:p>
        </p:txBody>
      </p:sp>
      <p:sp>
        <p:nvSpPr>
          <p:cNvPr id="8" name="ikon-zemin-574"/>
          <p:cNvSpPr/>
          <p:nvPr/>
        </p:nvSpPr>
        <p:spPr>
          <a:xfrm>
            <a:off x="3474720" y="4572000"/>
            <a:ext cx="640080" cy="640080"/>
          </a:xfrm>
          <a:prstGeom prst="ellipse">
            <a:avLst/>
          </a:prstGeom>
          <a:solidFill>
            <a:schemeClr val="accent3"/>
          </a:solidFill>
          <a:ln/>
        </p:spPr>
      </p:sp>
      <p:pic>
        <p:nvPicPr>
          <p:cNvPr id="9" name="ikon-575" descr="preencoded.png">    </p:cNvPr>
          <p:cNvPicPr>
            <a:picLocks noChangeAspect="1"/>
          </p:cNvPicPr>
          <p:nvPr/>
        </p:nvPicPr>
        <p:blipFill>
          <a:blip r:embed="rId2"/>
          <a:stretch>
            <a:fillRect/>
          </a:stretch>
        </p:blipFill>
        <p:spPr>
          <a:xfrm>
            <a:off x="3615538" y="4712818"/>
            <a:ext cx="358445" cy="358445"/>
          </a:xfrm>
          <a:prstGeom prst="rect">
            <a:avLst/>
          </a:prstGeom>
        </p:spPr>
      </p:pic>
      <p:sp>
        <p:nvSpPr>
          <p:cNvPr id="10" name="metin-576"/>
          <p:cNvSpPr txBox="1"/>
          <p:nvPr/>
        </p:nvSpPr>
        <p:spPr>
          <a:xfrm>
            <a:off x="4251960" y="4553712"/>
            <a:ext cx="1828800" cy="347472"/>
          </a:xfrm>
          <a:prstGeom prst="rect">
            <a:avLst/>
          </a:prstGeom>
          <a:noFill/>
          <a:ln/>
        </p:spPr>
        <p:txBody>
          <a:bodyPr wrap="square" lIns="0" tIns="0" rIns="0" bIns="0" rtlCol="0" anchor="t"/>
          <a:lstStyle/>
          <a:p>
            <a:pPr indent="0" marL="0">
              <a:buNone/>
            </a:pPr>
            <a:r>
              <a:rPr lang="en-US" sz="1800" b="1" dirty="0">
                <a:solidFill>
                  <a:schemeClr val="bg1"/>
                </a:solidFill>
              </a:rPr>
              <a:t>Enerji</a:t>
            </a:r>
            <a:endParaRPr lang="en-US" sz="1800" dirty="0"/>
          </a:p>
        </p:txBody>
      </p:sp>
      <p:sp>
        <p:nvSpPr>
          <p:cNvPr id="11" name="metin-577"/>
          <p:cNvSpPr txBox="1"/>
          <p:nvPr/>
        </p:nvSpPr>
        <p:spPr>
          <a:xfrm>
            <a:off x="4251960" y="4901184"/>
            <a:ext cx="1874520" cy="320040"/>
          </a:xfrm>
          <a:prstGeom prst="rect">
            <a:avLst/>
          </a:prstGeom>
          <a:noFill/>
          <a:ln/>
        </p:spPr>
        <p:txBody>
          <a:bodyPr wrap="square" lIns="0" tIns="0" rIns="0" bIns="0" rtlCol="0" anchor="t"/>
          <a:lstStyle/>
          <a:p>
            <a:pPr indent="0" marL="0">
              <a:buNone/>
            </a:pPr>
            <a:r>
              <a:rPr lang="en-US" sz="1300" dirty="0">
                <a:solidFill>
                  <a:srgbClr val="A9C2B8"/>
                </a:solidFill>
              </a:rPr>
              <a:t>Puant → gece: −%62,5</a:t>
            </a:r>
            <a:endParaRPr lang="en-US" sz="1300" dirty="0"/>
          </a:p>
        </p:txBody>
      </p:sp>
      <p:sp>
        <p:nvSpPr>
          <p:cNvPr id="12" name="ikon-zemin-578"/>
          <p:cNvSpPr/>
          <p:nvPr/>
        </p:nvSpPr>
        <p:spPr>
          <a:xfrm>
            <a:off x="6217920" y="4572000"/>
            <a:ext cx="640080" cy="640080"/>
          </a:xfrm>
          <a:prstGeom prst="ellipse">
            <a:avLst/>
          </a:prstGeom>
          <a:solidFill>
            <a:schemeClr val="accent6"/>
          </a:solidFill>
          <a:ln/>
        </p:spPr>
      </p:sp>
      <p:pic>
        <p:nvPicPr>
          <p:cNvPr id="13" name="ikon-579" descr="preencoded.png">    </p:cNvPr>
          <p:cNvPicPr>
            <a:picLocks noChangeAspect="1"/>
          </p:cNvPicPr>
          <p:nvPr/>
        </p:nvPicPr>
        <p:blipFill>
          <a:blip r:embed="rId3"/>
          <a:stretch>
            <a:fillRect/>
          </a:stretch>
        </p:blipFill>
        <p:spPr>
          <a:xfrm>
            <a:off x="6358738" y="4712818"/>
            <a:ext cx="358445" cy="358445"/>
          </a:xfrm>
          <a:prstGeom prst="rect">
            <a:avLst/>
          </a:prstGeom>
        </p:spPr>
      </p:pic>
      <p:sp>
        <p:nvSpPr>
          <p:cNvPr id="14" name="metin-580"/>
          <p:cNvSpPr txBox="1"/>
          <p:nvPr/>
        </p:nvSpPr>
        <p:spPr>
          <a:xfrm>
            <a:off x="6995160" y="4553712"/>
            <a:ext cx="1828800" cy="347472"/>
          </a:xfrm>
          <a:prstGeom prst="rect">
            <a:avLst/>
          </a:prstGeom>
          <a:noFill/>
          <a:ln/>
        </p:spPr>
        <p:txBody>
          <a:bodyPr wrap="square" lIns="0" tIns="0" rIns="0" bIns="0" rtlCol="0" anchor="t"/>
          <a:lstStyle/>
          <a:p>
            <a:pPr indent="0" marL="0">
              <a:buNone/>
            </a:pPr>
            <a:r>
              <a:rPr lang="en-US" sz="1800" b="1" dirty="0">
                <a:solidFill>
                  <a:schemeClr val="bg1"/>
                </a:solidFill>
              </a:rPr>
              <a:t>Toprak</a:t>
            </a:r>
            <a:endParaRPr lang="en-US" sz="1800" dirty="0"/>
          </a:p>
        </p:txBody>
      </p:sp>
      <p:sp>
        <p:nvSpPr>
          <p:cNvPr id="15" name="metin-581"/>
          <p:cNvSpPr txBox="1"/>
          <p:nvPr/>
        </p:nvSpPr>
        <p:spPr>
          <a:xfrm>
            <a:off x="6995160" y="4901184"/>
            <a:ext cx="1874520" cy="320040"/>
          </a:xfrm>
          <a:prstGeom prst="rect">
            <a:avLst/>
          </a:prstGeom>
          <a:noFill/>
          <a:ln/>
        </p:spPr>
        <p:txBody>
          <a:bodyPr wrap="square" lIns="0" tIns="0" rIns="0" bIns="0" rtlCol="0" anchor="t"/>
          <a:lstStyle/>
          <a:p>
            <a:pPr indent="0" marL="0">
              <a:buNone/>
            </a:pPr>
            <a:r>
              <a:rPr lang="en-US" sz="1300" dirty="0">
                <a:solidFill>
                  <a:srgbClr val="A9C2B8"/>
                </a:solidFill>
              </a:rPr>
              <a:t>Yağış öncesi gübre kilidi</a:t>
            </a:r>
            <a:endParaRPr lang="en-US" sz="1300" dirty="0"/>
          </a:p>
        </p:txBody>
      </p:sp>
      <p:sp>
        <p:nvSpPr>
          <p:cNvPr id="16" name="ikon-zemin-582"/>
          <p:cNvSpPr/>
          <p:nvPr/>
        </p:nvSpPr>
        <p:spPr>
          <a:xfrm>
            <a:off x="8961120" y="4572000"/>
            <a:ext cx="640080" cy="640080"/>
          </a:xfrm>
          <a:prstGeom prst="ellipse">
            <a:avLst/>
          </a:prstGeom>
          <a:solidFill>
            <a:schemeClr val="accent2"/>
          </a:solidFill>
          <a:ln/>
        </p:spPr>
      </p:sp>
      <p:pic>
        <p:nvPicPr>
          <p:cNvPr id="17" name="ikon-583" descr="preencoded.png">    </p:cNvPr>
          <p:cNvPicPr>
            <a:picLocks noChangeAspect="1"/>
          </p:cNvPicPr>
          <p:nvPr/>
        </p:nvPicPr>
        <p:blipFill>
          <a:blip r:embed="rId4"/>
          <a:stretch>
            <a:fillRect/>
          </a:stretch>
        </p:blipFill>
        <p:spPr>
          <a:xfrm>
            <a:off x="9101938" y="4712818"/>
            <a:ext cx="358445" cy="358445"/>
          </a:xfrm>
          <a:prstGeom prst="rect">
            <a:avLst/>
          </a:prstGeom>
        </p:spPr>
      </p:pic>
      <p:sp>
        <p:nvSpPr>
          <p:cNvPr id="18" name="metin-584"/>
          <p:cNvSpPr txBox="1"/>
          <p:nvPr/>
        </p:nvSpPr>
        <p:spPr>
          <a:xfrm>
            <a:off x="9738360" y="4553712"/>
            <a:ext cx="1828800" cy="347472"/>
          </a:xfrm>
          <a:prstGeom prst="rect">
            <a:avLst/>
          </a:prstGeom>
          <a:noFill/>
          <a:ln/>
        </p:spPr>
        <p:txBody>
          <a:bodyPr wrap="square" lIns="0" tIns="0" rIns="0" bIns="0" rtlCol="0" anchor="t"/>
          <a:lstStyle/>
          <a:p>
            <a:pPr indent="0" marL="0">
              <a:buNone/>
            </a:pPr>
            <a:r>
              <a:rPr lang="en-US" sz="1800" b="1" dirty="0">
                <a:solidFill>
                  <a:schemeClr val="bg1"/>
                </a:solidFill>
              </a:rPr>
              <a:t>Çiftçi</a:t>
            </a:r>
            <a:endParaRPr lang="en-US" sz="1800" dirty="0"/>
          </a:p>
        </p:txBody>
      </p:sp>
      <p:sp>
        <p:nvSpPr>
          <p:cNvPr id="19" name="metin-585"/>
          <p:cNvSpPr txBox="1"/>
          <p:nvPr/>
        </p:nvSpPr>
        <p:spPr>
          <a:xfrm>
            <a:off x="9738360" y="4901184"/>
            <a:ext cx="1874520" cy="320040"/>
          </a:xfrm>
          <a:prstGeom prst="rect">
            <a:avLst/>
          </a:prstGeom>
          <a:noFill/>
          <a:ln/>
        </p:spPr>
        <p:txBody>
          <a:bodyPr wrap="square" lIns="0" tIns="0" rIns="0" bIns="0" rtlCol="0" anchor="t"/>
          <a:lstStyle/>
          <a:p>
            <a:pPr indent="0" marL="0">
              <a:buNone/>
            </a:pPr>
            <a:r>
              <a:rPr lang="en-US" sz="1300" dirty="0">
                <a:solidFill>
                  <a:srgbClr val="A9C2B8"/>
                </a:solidFill>
              </a:rPr>
              <a:t>Dönüm başı maliyet, ROI</a:t>
            </a:r>
            <a:endParaRPr lang="en-US" sz="1300" dirty="0"/>
          </a:p>
        </p:txBody>
      </p:sp>
    </p:spTree>
  </p:cSld>
  <p:clrMapOvr>
    <a:masterClrMapping/>
  </p:clrMapOvr>
</p:sld>
</file>

<file path=ppt/theme/theme1.xml><?xml version="1.0" encoding="utf-8"?>
<a:theme xmlns:a="http://schemas.openxmlformats.org/drawingml/2006/main" name="AgroGuard">
  <a:themeElements>
    <a:clrScheme name="AgroGuard">
      <a:dk1>
        <a:srgbClr val="16211D"/>
      </a:dk1>
      <a:lt1>
        <a:srgbClr val="FFFFFF"/>
      </a:lt1>
      <a:dk2>
        <a:srgbClr val="5B6B65"/>
      </a:dk2>
      <a:lt2>
        <a:srgbClr val="EEF4F1"/>
      </a:lt2>
      <a:accent1>
        <a:srgbClr val="20C997"/>
      </a:accent1>
      <a:accent2>
        <a:srgbClr val="0A7A5C"/>
      </a:accent2>
      <a:accent3>
        <a:srgbClr val="E89B1C"/>
      </a:accent3>
      <a:accent4>
        <a:srgbClr val="2F80C8"/>
      </a:accent4>
      <a:accent5>
        <a:srgbClr val="D9483B"/>
      </a:accent5>
      <a:accent6>
        <a:srgbClr val="8A6A4A"/>
      </a:accent6>
      <a:hlink>
        <a:srgbClr val="2F80C8"/>
      </a:hlink>
      <a:folHlink>
        <a:srgbClr val="7A5CC7"/>
      </a:folHlink>
    </a:clrScheme>
    <a:fontScheme name="AgroGuard">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AgroGuard AI — Teknik Sunum</dc:title>
  <dc:subject>Otonom tarla yönetimi: web paneli ve Android uygulaması</dc:subject>
  <dc:creator>AgroGuard AI</dc:creator>
  <cp:lastModifiedBy>AgroGuard AI</cp:lastModifiedBy>
  <cp:revision>1</cp:revision>
  <dcterms:created xsi:type="dcterms:W3CDTF">2026-10-30T21:41:43Z</dcterms:created>
  <dcterms:modified xsi:type="dcterms:W3CDTF">2026-10-30T21:41:43Z</dcterms:modified>
</cp:coreProperties>
</file>